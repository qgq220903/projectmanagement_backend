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abin Bold" charset="1" panose="00000800000000000000"/>
      <p:regular r:id="rId23"/>
    </p:embeddedFont>
    <p:embeddedFont>
      <p:font typeface="Cabin"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034C4"/>
        </a:solidFill>
      </p:bgPr>
    </p:bg>
    <p:spTree>
      <p:nvGrpSpPr>
        <p:cNvPr id="1" name=""/>
        <p:cNvGrpSpPr/>
        <p:nvPr/>
      </p:nvGrpSpPr>
      <p:grpSpPr>
        <a:xfrm>
          <a:off x="0" y="0"/>
          <a:ext cx="0" cy="0"/>
          <a:chOff x="0" y="0"/>
          <a:chExt cx="0" cy="0"/>
        </a:xfrm>
      </p:grpSpPr>
      <p:grpSp>
        <p:nvGrpSpPr>
          <p:cNvPr name="Group 2" id="2"/>
          <p:cNvGrpSpPr/>
          <p:nvPr/>
        </p:nvGrpSpPr>
        <p:grpSpPr>
          <a:xfrm rot="0">
            <a:off x="0" y="7612069"/>
            <a:ext cx="18288000" cy="2674931"/>
            <a:chOff x="0" y="0"/>
            <a:chExt cx="4816593" cy="704508"/>
          </a:xfrm>
        </p:grpSpPr>
        <p:sp>
          <p:nvSpPr>
            <p:cNvPr name="Freeform 3" id="3"/>
            <p:cNvSpPr/>
            <p:nvPr/>
          </p:nvSpPr>
          <p:spPr>
            <a:xfrm flipH="false" flipV="false" rot="0">
              <a:off x="0" y="0"/>
              <a:ext cx="4816592" cy="704508"/>
            </a:xfrm>
            <a:custGeom>
              <a:avLst/>
              <a:gdLst/>
              <a:ahLst/>
              <a:cxnLst/>
              <a:rect r="r" b="b" t="t" l="l"/>
              <a:pathLst>
                <a:path h="704508" w="4816592">
                  <a:moveTo>
                    <a:pt x="0" y="0"/>
                  </a:moveTo>
                  <a:lnTo>
                    <a:pt x="4816592" y="0"/>
                  </a:lnTo>
                  <a:lnTo>
                    <a:pt x="4816592" y="704508"/>
                  </a:lnTo>
                  <a:lnTo>
                    <a:pt x="0" y="704508"/>
                  </a:lnTo>
                  <a:close/>
                </a:path>
              </a:pathLst>
            </a:custGeom>
            <a:solidFill>
              <a:srgbClr val="FFFFFF"/>
            </a:solidFill>
          </p:spPr>
        </p:sp>
        <p:sp>
          <p:nvSpPr>
            <p:cNvPr name="TextBox 4" id="4"/>
            <p:cNvSpPr txBox="true"/>
            <p:nvPr/>
          </p:nvSpPr>
          <p:spPr>
            <a:xfrm>
              <a:off x="0" y="-38100"/>
              <a:ext cx="4816593" cy="742608"/>
            </a:xfrm>
            <a:prstGeom prst="rect">
              <a:avLst/>
            </a:prstGeom>
          </p:spPr>
          <p:txBody>
            <a:bodyPr anchor="ctr" rtlCol="false" tIns="50800" lIns="50800" bIns="50800" rIns="50800"/>
            <a:lstStyle/>
            <a:p>
              <a:pPr algn="ctr">
                <a:lnSpc>
                  <a:spcPts val="2100"/>
                </a:lnSpc>
              </a:pPr>
            </a:p>
          </p:txBody>
        </p:sp>
      </p:grpSp>
      <p:sp>
        <p:nvSpPr>
          <p:cNvPr name="Freeform 5" id="5"/>
          <p:cNvSpPr/>
          <p:nvPr/>
        </p:nvSpPr>
        <p:spPr>
          <a:xfrm flipH="false" flipV="false" rot="0">
            <a:off x="1557806" y="831895"/>
            <a:ext cx="5503176" cy="8623210"/>
          </a:xfrm>
          <a:custGeom>
            <a:avLst/>
            <a:gdLst/>
            <a:ahLst/>
            <a:cxnLst/>
            <a:rect r="r" b="b" t="t" l="l"/>
            <a:pathLst>
              <a:path h="8623210" w="5503176">
                <a:moveTo>
                  <a:pt x="0" y="0"/>
                </a:moveTo>
                <a:lnTo>
                  <a:pt x="5503176" y="0"/>
                </a:lnTo>
                <a:lnTo>
                  <a:pt x="5503176" y="8623210"/>
                </a:lnTo>
                <a:lnTo>
                  <a:pt x="0" y="86232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067594" y="2654739"/>
            <a:ext cx="11191706" cy="3387871"/>
          </a:xfrm>
          <a:prstGeom prst="rect">
            <a:avLst/>
          </a:prstGeom>
        </p:spPr>
        <p:txBody>
          <a:bodyPr anchor="t" rtlCol="false" tIns="0" lIns="0" bIns="0" rIns="0">
            <a:spAutoFit/>
          </a:bodyPr>
          <a:lstStyle/>
          <a:p>
            <a:pPr algn="ctr">
              <a:lnSpc>
                <a:spcPts val="7679"/>
              </a:lnSpc>
            </a:pPr>
            <a:r>
              <a:rPr lang="en-US" sz="5524" b="true">
                <a:solidFill>
                  <a:srgbClr val="FFFFFF"/>
                </a:solidFill>
                <a:latin typeface="Cabin Bold"/>
                <a:ea typeface="Cabin Bold"/>
                <a:cs typeface="Cabin Bold"/>
                <a:sym typeface="Cabin Bold"/>
              </a:rPr>
              <a:t>PEOPLE ARE MORE MOTIVATED AS THEY GET CLOSER TO A GOAL</a:t>
            </a:r>
          </a:p>
          <a:p>
            <a:pPr algn="ctr">
              <a:lnSpc>
                <a:spcPts val="5838"/>
              </a:lnSpc>
            </a:pPr>
            <a:r>
              <a:rPr lang="en-US" b="true" sz="4200">
                <a:solidFill>
                  <a:srgbClr val="FFFFFF"/>
                </a:solidFill>
                <a:latin typeface="Cabin Bold"/>
                <a:ea typeface="Cabin Bold"/>
                <a:cs typeface="Cabin Bold"/>
                <a:sym typeface="Cabin Bold"/>
              </a:rPr>
              <a:t>(MỌI NGƯỜI CÓ ĐỘNG LỰC HƠN KHI HỌ ĐẾN GẦN MỘT MỤC TIÊU)</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5654040"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Tình huống thực tế</a:t>
            </a:r>
          </a:p>
        </p:txBody>
      </p:sp>
      <p:sp>
        <p:nvSpPr>
          <p:cNvPr name="TextBox 3" id="3"/>
          <p:cNvSpPr txBox="true"/>
          <p:nvPr/>
        </p:nvSpPr>
        <p:spPr>
          <a:xfrm rot="0">
            <a:off x="1028700" y="2374844"/>
            <a:ext cx="16230600" cy="3580765"/>
          </a:xfrm>
          <a:prstGeom prst="rect">
            <a:avLst/>
          </a:prstGeom>
        </p:spPr>
        <p:txBody>
          <a:bodyPr anchor="t" rtlCol="false" tIns="0" lIns="0" bIns="0" rIns="0">
            <a:spAutoFit/>
          </a:bodyPr>
          <a:lstStyle/>
          <a:p>
            <a:pPr algn="l">
              <a:lnSpc>
                <a:spcPts val="4759"/>
              </a:lnSpc>
            </a:pPr>
            <a:r>
              <a:rPr lang="en-US" sz="3399">
                <a:solidFill>
                  <a:srgbClr val="FFFFFF"/>
                </a:solidFill>
                <a:latin typeface="Cabin"/>
                <a:ea typeface="Cabin"/>
                <a:cs typeface="Cabin"/>
                <a:sym typeface="Cabin"/>
              </a:rPr>
              <a:t>Bạn được phát một thẻ khách hàng thân thiết tại quán cà phê địa phương của mình. Mỗi lần mua một cốc cà phê, bạn sẽ nhận được một con dấu trên thẻ. Khi thẻ được điền đầy, bạn sẽ nhận được một cốc cà phê miễn phí. Dưới đây là hai kịch bản khác nhau:</a:t>
            </a:r>
          </a:p>
          <a:p>
            <a:pPr algn="l" marL="734059" indent="-367030" lvl="1">
              <a:lnSpc>
                <a:spcPts val="4759"/>
              </a:lnSpc>
              <a:buFont typeface="Arial"/>
              <a:buChar char="•"/>
            </a:pPr>
            <a:r>
              <a:rPr lang="en-US" sz="3399">
                <a:solidFill>
                  <a:srgbClr val="FFFFFF"/>
                </a:solidFill>
                <a:latin typeface="Cabin"/>
                <a:ea typeface="Cabin"/>
                <a:cs typeface="Cabin"/>
                <a:sym typeface="Cabin"/>
              </a:rPr>
              <a:t>Thẻ A: Có 10 ô dành cho con dấu, và khi bạn nhận thẻ, tất cả các ô đều trống.</a:t>
            </a:r>
          </a:p>
          <a:p>
            <a:pPr algn="l" marL="734059" indent="-367030" lvl="1">
              <a:lnSpc>
                <a:spcPts val="4759"/>
              </a:lnSpc>
              <a:buFont typeface="Arial"/>
              <a:buChar char="•"/>
            </a:pPr>
            <a:r>
              <a:rPr lang="en-US" sz="3399">
                <a:solidFill>
                  <a:srgbClr val="FFFFFF"/>
                </a:solidFill>
                <a:latin typeface="Cabin"/>
                <a:ea typeface="Cabin"/>
                <a:cs typeface="Cabin"/>
                <a:sym typeface="Cabin"/>
              </a:rPr>
              <a:t>Thẻ B: Có 12 ô dành cho con dấu, nhưng khi nhận thẻ, hai ô đầu tiên đã được đóng dấu sẵn.</a:t>
            </a:r>
          </a:p>
        </p:txBody>
      </p:sp>
      <p:sp>
        <p:nvSpPr>
          <p:cNvPr name="TextBox 4" id="4"/>
          <p:cNvSpPr txBox="true"/>
          <p:nvPr/>
        </p:nvSpPr>
        <p:spPr>
          <a:xfrm rot="0">
            <a:off x="1028700" y="6273292"/>
            <a:ext cx="16230600" cy="2985008"/>
          </a:xfrm>
          <a:prstGeom prst="rect">
            <a:avLst/>
          </a:prstGeom>
        </p:spPr>
        <p:txBody>
          <a:bodyPr anchor="t" rtlCol="false" tIns="0" lIns="0" bIns="0" rIns="0">
            <a:spAutoFit/>
          </a:bodyPr>
          <a:lstStyle/>
          <a:p>
            <a:pPr algn="l">
              <a:lnSpc>
                <a:spcPts val="4725"/>
              </a:lnSpc>
              <a:spcBef>
                <a:spcPct val="0"/>
              </a:spcBef>
            </a:pPr>
            <a:r>
              <a:rPr lang="en-US" sz="3399">
                <a:solidFill>
                  <a:srgbClr val="FFFFFF"/>
                </a:solidFill>
                <a:latin typeface="Cabin"/>
                <a:ea typeface="Cabin"/>
                <a:cs typeface="Cabin"/>
                <a:sym typeface="Cabin"/>
              </a:rPr>
              <a:t>Câu hỏi:</a:t>
            </a:r>
          </a:p>
          <a:p>
            <a:pPr algn="l">
              <a:lnSpc>
                <a:spcPts val="4725"/>
              </a:lnSpc>
              <a:spcBef>
                <a:spcPct val="0"/>
              </a:spcBef>
            </a:pPr>
            <a:r>
              <a:rPr lang="en-US" sz="3399">
                <a:solidFill>
                  <a:srgbClr val="FFFFFF"/>
                </a:solidFill>
                <a:latin typeface="Cabin"/>
                <a:ea typeface="Cabin"/>
                <a:cs typeface="Cabin"/>
                <a:sym typeface="Cabin"/>
              </a:rPr>
              <a:t>Mất bao lâu để bạn điền đầy thẻ? Kịch bản A hay B sẽ nhanh hơn? Vì dù sao bạn cũng phải mua 10 cốc cà phê trong cả hai trường hợp để nhận được phần thưởng miễn phí. Vậy có sự khác biệt nào không?</a:t>
            </a:r>
          </a:p>
          <a:p>
            <a:pPr algn="l">
              <a:lnSpc>
                <a:spcPts val="4725"/>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3054668"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Câu trả lời</a:t>
            </a:r>
          </a:p>
        </p:txBody>
      </p:sp>
      <p:sp>
        <p:nvSpPr>
          <p:cNvPr name="TextBox 3" id="3"/>
          <p:cNvSpPr txBox="true"/>
          <p:nvPr/>
        </p:nvSpPr>
        <p:spPr>
          <a:xfrm rot="0">
            <a:off x="1028700" y="3617658"/>
            <a:ext cx="16230600" cy="2985008"/>
          </a:xfrm>
          <a:prstGeom prst="rect">
            <a:avLst/>
          </a:prstGeom>
        </p:spPr>
        <p:txBody>
          <a:bodyPr anchor="t" rtlCol="false" tIns="0" lIns="0" bIns="0" rIns="0">
            <a:spAutoFit/>
          </a:bodyPr>
          <a:lstStyle/>
          <a:p>
            <a:pPr algn="l">
              <a:lnSpc>
                <a:spcPts val="4725"/>
              </a:lnSpc>
              <a:spcBef>
                <a:spcPct val="0"/>
              </a:spcBef>
            </a:pPr>
            <a:r>
              <a:rPr lang="en-US" sz="3399">
                <a:solidFill>
                  <a:srgbClr val="FFFFFF"/>
                </a:solidFill>
                <a:latin typeface="Cabin"/>
                <a:ea typeface="Cabin"/>
                <a:cs typeface="Cabin"/>
                <a:sym typeface="Cabin"/>
              </a:rPr>
              <a:t>Có, bạn sẽ điền đầy thẻ B nhanh hơn so với thẻ A. Lý do là bởi một hiện tượng tâm lý gọi là hiệu ứng mục tiêu tăng tốc (goal-gradient effect).</a:t>
            </a:r>
          </a:p>
          <a:p>
            <a:pPr algn="l">
              <a:lnSpc>
                <a:spcPts val="4725"/>
              </a:lnSpc>
              <a:spcBef>
                <a:spcPct val="0"/>
              </a:spcBef>
            </a:pPr>
          </a:p>
          <a:p>
            <a:pPr algn="l">
              <a:lnSpc>
                <a:spcPts val="4725"/>
              </a:lnSpc>
              <a:spcBef>
                <a:spcPct val="0"/>
              </a:spcBef>
            </a:pPr>
            <a:r>
              <a:rPr lang="en-US" sz="3399">
                <a:solidFill>
                  <a:srgbClr val="FFFFFF"/>
                </a:solidFill>
                <a:latin typeface="Cabin"/>
                <a:ea typeface="Cabin"/>
                <a:cs typeface="Cabin"/>
                <a:sym typeface="Cabin"/>
              </a:rPr>
              <a:t>Vậy Hiệu ứng mục tiêu tăng tốc (goal-gradient effect) là gì ?</a:t>
            </a:r>
          </a:p>
          <a:p>
            <a:pPr algn="l">
              <a:lnSpc>
                <a:spcPts val="4725"/>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9805988"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Hiệu ứng mục tiêu tăng tốc là gì?</a:t>
            </a:r>
          </a:p>
        </p:txBody>
      </p:sp>
      <p:sp>
        <p:nvSpPr>
          <p:cNvPr name="TextBox 3" id="3"/>
          <p:cNvSpPr txBox="true"/>
          <p:nvPr/>
        </p:nvSpPr>
        <p:spPr>
          <a:xfrm rot="0">
            <a:off x="1028700" y="2251025"/>
            <a:ext cx="16230600" cy="2380615"/>
          </a:xfrm>
          <a:prstGeom prst="rect">
            <a:avLst/>
          </a:prstGeom>
        </p:spPr>
        <p:txBody>
          <a:bodyPr anchor="t" rtlCol="false" tIns="0" lIns="0" bIns="0" rIns="0">
            <a:spAutoFit/>
          </a:bodyPr>
          <a:lstStyle/>
          <a:p>
            <a:pPr algn="l">
              <a:lnSpc>
                <a:spcPts val="4759"/>
              </a:lnSpc>
            </a:pPr>
            <a:r>
              <a:rPr lang="en-US" sz="3399">
                <a:solidFill>
                  <a:srgbClr val="FFFFFF"/>
                </a:solidFill>
                <a:latin typeface="Cabin"/>
                <a:ea typeface="Cabin"/>
                <a:cs typeface="Cabin"/>
                <a:sym typeface="Cabin"/>
              </a:rPr>
              <a:t>Hiệu ứng này lần đầu tiên được nghiên cứu vào năm 1934 bởi Clark Hull, khi ông nhận thấy rằng những con chuột chạy trong mê cung để tìm thức ăn sẽ chạy nhanh hơn khi đến gần phần thưởng.</a:t>
            </a:r>
          </a:p>
          <a:p>
            <a:pPr algn="l">
              <a:lnSpc>
                <a:spcPts val="4759"/>
              </a:lnSpc>
            </a:pPr>
          </a:p>
        </p:txBody>
      </p:sp>
      <p:sp>
        <p:nvSpPr>
          <p:cNvPr name="TextBox 4" id="4"/>
          <p:cNvSpPr txBox="true"/>
          <p:nvPr/>
        </p:nvSpPr>
        <p:spPr>
          <a:xfrm rot="0">
            <a:off x="1028700" y="4564965"/>
            <a:ext cx="16230600" cy="5985383"/>
          </a:xfrm>
          <a:prstGeom prst="rect">
            <a:avLst/>
          </a:prstGeom>
        </p:spPr>
        <p:txBody>
          <a:bodyPr anchor="t" rtlCol="false" tIns="0" lIns="0" bIns="0" rIns="0">
            <a:spAutoFit/>
          </a:bodyPr>
          <a:lstStyle/>
          <a:p>
            <a:pPr algn="l">
              <a:lnSpc>
                <a:spcPts val="4725"/>
              </a:lnSpc>
              <a:spcBef>
                <a:spcPct val="0"/>
              </a:spcBef>
            </a:pPr>
            <a:r>
              <a:rPr lang="en-US" sz="3399">
                <a:solidFill>
                  <a:srgbClr val="FFFFFF"/>
                </a:solidFill>
                <a:latin typeface="Cabin"/>
                <a:ea typeface="Cabin"/>
                <a:cs typeface="Cabin"/>
                <a:sym typeface="Cabin"/>
              </a:rPr>
              <a:t>Hiệu ứng này cũng áp dụng cho con người. Trong nghiên cứu của Ran Kivetz (2006), người ta nhận thấy rằng những khách hàng có thẻ khách hàng thân thiết với một số con dấu đã được đóng sẵn (như thẻ B) sẽ có xu hướng mua cà phê thường xuyên hơn để nhanh chóng đạt được phần thưởng.</a:t>
            </a:r>
          </a:p>
          <a:p>
            <a:pPr algn="l">
              <a:lnSpc>
                <a:spcPts val="4725"/>
              </a:lnSpc>
              <a:spcBef>
                <a:spcPct val="0"/>
              </a:spcBef>
            </a:pPr>
          </a:p>
          <a:p>
            <a:pPr algn="l">
              <a:lnSpc>
                <a:spcPts val="4725"/>
              </a:lnSpc>
              <a:spcBef>
                <a:spcPct val="0"/>
              </a:spcBef>
            </a:pPr>
            <a:r>
              <a:rPr lang="en-US" sz="3399">
                <a:solidFill>
                  <a:srgbClr val="FFFFFF"/>
                </a:solidFill>
                <a:latin typeface="Cabin"/>
                <a:ea typeface="Cabin"/>
                <a:cs typeface="Cabin"/>
                <a:sym typeface="Cabin"/>
              </a:rPr>
              <a:t>Ngoài ra, nghiên cứu còn chỉ ra rằng khi người dùng truy cập một trang web để đánh giá bài hát và nhận phần thưởng, họ sẽ truy cập thường xuyên hơn và đánh giá nhiều hơn khi gần đạt mục tiêu.</a:t>
            </a:r>
          </a:p>
          <a:p>
            <a:pPr algn="l">
              <a:lnSpc>
                <a:spcPts val="4725"/>
              </a:lnSpc>
              <a:spcBef>
                <a:spcPct val="0"/>
              </a:spcBef>
            </a:pPr>
          </a:p>
          <a:p>
            <a:pPr algn="l">
              <a:lnSpc>
                <a:spcPts val="4725"/>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1474909"/>
            <a:ext cx="16230600" cy="5116830"/>
          </a:xfrm>
          <a:prstGeom prst="rect">
            <a:avLst/>
          </a:prstGeom>
        </p:spPr>
        <p:txBody>
          <a:bodyPr anchor="t" rtlCol="false" tIns="0" lIns="0" bIns="0" rIns="0">
            <a:spAutoFit/>
          </a:bodyPr>
          <a:lstStyle/>
          <a:p>
            <a:pPr algn="l">
              <a:lnSpc>
                <a:spcPts val="8735"/>
              </a:lnSpc>
            </a:pPr>
            <a:r>
              <a:rPr lang="en-US" b="true" sz="5199">
                <a:solidFill>
                  <a:srgbClr val="FFFFFF"/>
                </a:solidFill>
                <a:latin typeface="Cabin Bold"/>
                <a:ea typeface="Cabin Bold"/>
                <a:cs typeface="Cabin Bold"/>
                <a:sym typeface="Cabin Bold"/>
              </a:rPr>
              <a:t>3 cơ chế tâm lý học tạo nên Goal Gradient Effect</a:t>
            </a:r>
          </a:p>
          <a:p>
            <a:pPr algn="l">
              <a:lnSpc>
                <a:spcPts val="6383"/>
              </a:lnSpc>
            </a:pPr>
            <a:r>
              <a:rPr lang="en-US" sz="3799">
                <a:solidFill>
                  <a:srgbClr val="FFFFFF"/>
                </a:solidFill>
                <a:latin typeface="Cabin"/>
                <a:ea typeface="Cabin"/>
                <a:cs typeface="Cabin"/>
                <a:sym typeface="Cabin"/>
              </a:rPr>
              <a:t>Goal Gradient Effect được hình thành dựa trên 3 yếu tố tâm lý phổ biến của con người như sau:</a:t>
            </a:r>
          </a:p>
          <a:p>
            <a:pPr algn="l" marL="820417" indent="-410209" lvl="1">
              <a:lnSpc>
                <a:spcPts val="6383"/>
              </a:lnSpc>
              <a:buFont typeface="Arial"/>
              <a:buChar char="•"/>
            </a:pPr>
            <a:r>
              <a:rPr lang="en-US" sz="3799">
                <a:solidFill>
                  <a:srgbClr val="FFFFFF"/>
                </a:solidFill>
                <a:latin typeface="Cabin"/>
                <a:ea typeface="Cabin"/>
                <a:cs typeface="Cabin"/>
                <a:sym typeface="Cabin"/>
              </a:rPr>
              <a:t>Tâm lý kỳ vọng và thói quen dự đoán về các phần thưởng</a:t>
            </a:r>
          </a:p>
          <a:p>
            <a:pPr algn="l" marL="820417" indent="-410209" lvl="1">
              <a:lnSpc>
                <a:spcPts val="6383"/>
              </a:lnSpc>
              <a:buFont typeface="Arial"/>
              <a:buChar char="•"/>
            </a:pPr>
            <a:r>
              <a:rPr lang="en-US" sz="3799">
                <a:solidFill>
                  <a:srgbClr val="FFFFFF"/>
                </a:solidFill>
                <a:latin typeface="Cabin"/>
                <a:ea typeface="Cabin"/>
                <a:cs typeface="Cabin"/>
                <a:sym typeface="Cabin"/>
              </a:rPr>
              <a:t>Nhận thức về những việc mình cần làm nhiều hơn những việc đã hoàn thành</a:t>
            </a:r>
          </a:p>
          <a:p>
            <a:pPr algn="l" marL="820417" indent="-410209" lvl="1">
              <a:lnSpc>
                <a:spcPts val="6383"/>
              </a:lnSpc>
              <a:buFont typeface="Arial"/>
              <a:buChar char="•"/>
            </a:pPr>
            <a:r>
              <a:rPr lang="en-US" sz="3799">
                <a:solidFill>
                  <a:srgbClr val="FFFFFF"/>
                </a:solidFill>
                <a:latin typeface="Cabin"/>
                <a:ea typeface="Cabin"/>
                <a:cs typeface="Cabin"/>
                <a:sym typeface="Cabin"/>
              </a:rPr>
              <a:t>Động lực từ sự tiến bộ</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874173" y="933450"/>
            <a:ext cx="16385127" cy="1905038"/>
          </a:xfrm>
          <a:prstGeom prst="rect">
            <a:avLst/>
          </a:prstGeom>
        </p:spPr>
        <p:txBody>
          <a:bodyPr anchor="t" rtlCol="false" tIns="0" lIns="0" bIns="0" rIns="0">
            <a:spAutoFit/>
          </a:bodyPr>
          <a:lstStyle/>
          <a:p>
            <a:pPr algn="l">
              <a:lnSpc>
                <a:spcPts val="7679"/>
              </a:lnSpc>
              <a:spcBef>
                <a:spcPct val="0"/>
              </a:spcBef>
            </a:pPr>
            <a:r>
              <a:rPr lang="en-US" b="true" sz="5524">
                <a:solidFill>
                  <a:srgbClr val="FFFFFF"/>
                </a:solidFill>
                <a:latin typeface="Cabin Bold"/>
                <a:ea typeface="Cabin Bold"/>
                <a:cs typeface="Cabin Bold"/>
                <a:sym typeface="Cabin Bold"/>
              </a:rPr>
              <a:t>Ứng dụng Goal Gradient Effect trong việc thúc đẩy tương tác và giữ chân người dùng</a:t>
            </a:r>
          </a:p>
        </p:txBody>
      </p:sp>
      <p:sp>
        <p:nvSpPr>
          <p:cNvPr name="TextBox 3" id="3"/>
          <p:cNvSpPr txBox="true"/>
          <p:nvPr/>
        </p:nvSpPr>
        <p:spPr>
          <a:xfrm rot="0">
            <a:off x="874173" y="3666445"/>
            <a:ext cx="15373780" cy="3696081"/>
          </a:xfrm>
          <a:prstGeom prst="rect">
            <a:avLst/>
          </a:prstGeom>
        </p:spPr>
        <p:txBody>
          <a:bodyPr anchor="t" rtlCol="false" tIns="0" lIns="0" bIns="0" rIns="0">
            <a:spAutoFit/>
          </a:bodyPr>
          <a:lstStyle/>
          <a:p>
            <a:pPr algn="l">
              <a:lnSpc>
                <a:spcPts val="7481"/>
              </a:lnSpc>
            </a:pPr>
            <a:r>
              <a:rPr lang="en-US" sz="4299">
                <a:solidFill>
                  <a:srgbClr val="FFFFFF"/>
                </a:solidFill>
                <a:latin typeface="Cabin"/>
                <a:ea typeface="Cabin"/>
                <a:cs typeface="Cabin"/>
                <a:sym typeface="Cabin"/>
              </a:rPr>
              <a:t>1. Thiết kế trải nghiệm sản phẩm tối ưu hơn</a:t>
            </a:r>
          </a:p>
          <a:p>
            <a:pPr algn="l">
              <a:lnSpc>
                <a:spcPts val="7481"/>
              </a:lnSpc>
            </a:pPr>
            <a:r>
              <a:rPr lang="en-US" sz="4299">
                <a:solidFill>
                  <a:srgbClr val="FFFFFF"/>
                </a:solidFill>
                <a:latin typeface="Cabin"/>
                <a:ea typeface="Cabin"/>
                <a:cs typeface="Cabin"/>
                <a:sym typeface="Cabin"/>
              </a:rPr>
              <a:t>2. Sử dụng trong các chiến dịch Gamification</a:t>
            </a:r>
          </a:p>
          <a:p>
            <a:pPr algn="l">
              <a:lnSpc>
                <a:spcPts val="7481"/>
              </a:lnSpc>
            </a:pPr>
            <a:r>
              <a:rPr lang="en-US" sz="4299">
                <a:solidFill>
                  <a:srgbClr val="FFFFFF"/>
                </a:solidFill>
                <a:latin typeface="Cabin"/>
                <a:ea typeface="Cabin"/>
                <a:cs typeface="Cabin"/>
                <a:sym typeface="Cabin"/>
              </a:rPr>
              <a:t>3. Sử dụng Testimonials &amp; mô hình teamwork</a:t>
            </a:r>
          </a:p>
          <a:p>
            <a:pPr algn="l">
              <a:lnSpc>
                <a:spcPts val="7481"/>
              </a:lnSpc>
            </a:pPr>
            <a:r>
              <a:rPr lang="en-US" sz="4299">
                <a:solidFill>
                  <a:srgbClr val="FFFFFF"/>
                </a:solidFill>
                <a:latin typeface="Cabin"/>
                <a:ea typeface="Cabin"/>
                <a:cs typeface="Cabin"/>
                <a:sym typeface="Cabin"/>
              </a:rPr>
              <a:t>4. Cá nhân hóa mục tiêu &amp; hành trình của người dùng</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1020064"/>
            <a:ext cx="16230600" cy="8238236"/>
          </a:xfrm>
          <a:prstGeom prst="rect">
            <a:avLst/>
          </a:prstGeom>
        </p:spPr>
        <p:txBody>
          <a:bodyPr anchor="t" rtlCol="false" tIns="0" lIns="0" bIns="0" rIns="0">
            <a:spAutoFit/>
          </a:bodyPr>
          <a:lstStyle/>
          <a:p>
            <a:pPr algn="l">
              <a:lnSpc>
                <a:spcPts val="3891"/>
              </a:lnSpc>
              <a:spcBef>
                <a:spcPct val="0"/>
              </a:spcBef>
            </a:pPr>
            <a:r>
              <a:rPr lang="en-US" sz="2799">
                <a:solidFill>
                  <a:srgbClr val="FFFFFF"/>
                </a:solidFill>
                <a:latin typeface="Cabin"/>
                <a:ea typeface="Cabin"/>
                <a:cs typeface="Cabin"/>
                <a:sym typeface="Cabin"/>
              </a:rPr>
              <a:t>Goal Gradient Effect được ứng dụng rất phổ biến trong việc tăng cường trải nghiệm, giữ chân người dùng và thúc đẩy sự tương tác của họ. Một số những cách sử dụng Goal Gradient Effect để tối ưu trải nghiệm người dùng hiệu quả như:</a:t>
            </a:r>
          </a:p>
          <a:p>
            <a:pPr algn="l" marL="604518" indent="-302259" lvl="1">
              <a:lnSpc>
                <a:spcPts val="3891"/>
              </a:lnSpc>
              <a:buFont typeface="Arial"/>
              <a:buChar char="•"/>
            </a:pPr>
            <a:r>
              <a:rPr lang="en-US" sz="2799">
                <a:solidFill>
                  <a:srgbClr val="FFFFFF"/>
                </a:solidFill>
                <a:latin typeface="Cabin"/>
                <a:ea typeface="Cabin"/>
                <a:cs typeface="Cabin"/>
                <a:sym typeface="Cabin"/>
              </a:rPr>
              <a:t>Sử dụng các thanh tiến trình để khiến khách hàng không cảm thấy chán nản trong quá trình chờ đợi: Các thanh tải thể hiện tốc độ tải, mốc thời gian tải còn lại,... chính là ứng dụng của Goal Gradient Effect, giúp người dùng cảm nhận được sự chờ đợi của họ có tiến triển, qua đó giảm bớt sự chán nản, khó chịu trong quá trình chờ đợi.</a:t>
            </a:r>
          </a:p>
          <a:p>
            <a:pPr algn="l" marL="604518" indent="-302259" lvl="1">
              <a:lnSpc>
                <a:spcPts val="3891"/>
              </a:lnSpc>
              <a:buFont typeface="Arial"/>
              <a:buChar char="•"/>
            </a:pPr>
            <a:r>
              <a:rPr lang="en-US" sz="2799">
                <a:solidFill>
                  <a:srgbClr val="FFFFFF"/>
                </a:solidFill>
                <a:latin typeface="Cabin"/>
                <a:ea typeface="Cabin"/>
                <a:cs typeface="Cabin"/>
                <a:sym typeface="Cabin"/>
              </a:rPr>
              <a:t>Sử dụng các công cụ biểu thị lộ trình để thúc đẩy người dùng hoàn thành khóa học: Đối với các ứng dụng học online, một trong những khó khăn lớn nhất là tạo động lực để giúp người dùng hoàn thành khóa học. Goal Gradient Effect giải quyết tâm lý chán học của người dùng bằng cách biểu thị lộ trình học của họ, thể hiện một số cột mốc thành tựu trong quá trình học, biểu thị tỷ lệ % còn lại của khóa học và không quên những thông báo nhắc nhở họ về các kết quả, thành tích khi hoàn thành hết khóa học. Ngoài ra, thương hiệu có thể treo những phần thưởng cho người dùng khi hoàn thành khóa học để họ có động lực, cảm giác thành tựu trong quá trình học.</a:t>
            </a:r>
          </a:p>
          <a:p>
            <a:pPr algn="l" marL="604518" indent="-302259" lvl="1">
              <a:lnSpc>
                <a:spcPts val="3891"/>
              </a:lnSpc>
              <a:buFont typeface="Arial"/>
              <a:buChar char="•"/>
            </a:pPr>
            <a:r>
              <a:rPr lang="en-US" sz="2799">
                <a:solidFill>
                  <a:srgbClr val="FFFFFF"/>
                </a:solidFill>
                <a:latin typeface="Cabin"/>
                <a:ea typeface="Cabin"/>
                <a:cs typeface="Cabin"/>
                <a:sym typeface="Cabin"/>
              </a:rPr>
              <a:t>Sử dụng các chỉ báo tiến trình để thúc đẩy người dùng hoàn thành đăng ký: Biến các chu trình đăng ký thông tin trên website, ứng dụng của bạn trở nên đỡ nhàm chán, dài dòng hơn bằng cách thể hiện mức độ hoặc % các bước còn lại cần hoàn thành.</a:t>
            </a:r>
          </a:p>
        </p:txBody>
      </p:sp>
      <p:sp>
        <p:nvSpPr>
          <p:cNvPr name="TextBox 3" id="3"/>
          <p:cNvSpPr txBox="true"/>
          <p:nvPr/>
        </p:nvSpPr>
        <p:spPr>
          <a:xfrm rot="0">
            <a:off x="1028700" y="95212"/>
            <a:ext cx="12876729"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1. Thiết kế trải nghiệm sản phẩm tối ưu hơn</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5212"/>
            <a:ext cx="13315236"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2. Sử dụng trong các chiến dịch Gamification</a:t>
            </a:r>
          </a:p>
        </p:txBody>
      </p:sp>
      <p:sp>
        <p:nvSpPr>
          <p:cNvPr name="TextBox 3" id="3"/>
          <p:cNvSpPr txBox="true"/>
          <p:nvPr/>
        </p:nvSpPr>
        <p:spPr>
          <a:xfrm rot="0">
            <a:off x="1028700" y="1428631"/>
            <a:ext cx="16230600" cy="7277100"/>
          </a:xfrm>
          <a:prstGeom prst="rect">
            <a:avLst/>
          </a:prstGeom>
        </p:spPr>
        <p:txBody>
          <a:bodyPr anchor="t" rtlCol="false" tIns="0" lIns="0" bIns="0" rIns="0">
            <a:spAutoFit/>
          </a:bodyPr>
          <a:lstStyle/>
          <a:p>
            <a:pPr algn="l">
              <a:lnSpc>
                <a:spcPts val="4499"/>
              </a:lnSpc>
            </a:pPr>
            <a:r>
              <a:rPr lang="en-US" sz="2999">
                <a:solidFill>
                  <a:srgbClr val="FFFFFF"/>
                </a:solidFill>
                <a:latin typeface="Cabin"/>
                <a:ea typeface="Cabin"/>
                <a:cs typeface="Cabin"/>
                <a:sym typeface="Cabin"/>
              </a:rPr>
              <a:t>Các chiến dịch Gamification sẽ trở nên hấp dẫn hơn với sự kết hợp của Goal Gradient Effect thông qua một số kỹ thuật sau:</a:t>
            </a:r>
          </a:p>
          <a:p>
            <a:pPr algn="l" marL="647698" indent="-323849" lvl="1">
              <a:lnSpc>
                <a:spcPts val="4499"/>
              </a:lnSpc>
              <a:buFont typeface="Arial"/>
              <a:buChar char="•"/>
            </a:pPr>
            <a:r>
              <a:rPr lang="en-US" sz="2999">
                <a:solidFill>
                  <a:srgbClr val="FFFFFF"/>
                </a:solidFill>
                <a:latin typeface="Cabin"/>
                <a:ea typeface="Cabin"/>
                <a:cs typeface="Cabin"/>
                <a:sym typeface="Cabin"/>
              </a:rPr>
              <a:t>Thiết kế các cấp độ trò chơi: Cấp độ là một yếu tố tác động rất hiệu quả tới cảm giác về sự tiến bộ của người dùng. Ở mỗi cấp độ của Gamification thương hiệu nên thể hiện sự phát triển bằng các chức danh, khen thưởng,... để tạo cảm giác có sự tiến bộ, tăng trưởng so với giai đoạn trước.</a:t>
            </a:r>
          </a:p>
          <a:p>
            <a:pPr algn="l" marL="647698" indent="-323849" lvl="1">
              <a:lnSpc>
                <a:spcPts val="4499"/>
              </a:lnSpc>
              <a:buFont typeface="Arial"/>
              <a:buChar char="•"/>
            </a:pPr>
            <a:r>
              <a:rPr lang="en-US" sz="2999">
                <a:solidFill>
                  <a:srgbClr val="FFFFFF"/>
                </a:solidFill>
                <a:latin typeface="Cabin"/>
                <a:ea typeface="Cabin"/>
                <a:cs typeface="Cabin"/>
                <a:sym typeface="Cabin"/>
              </a:rPr>
              <a:t>Danh hiệu: Cũng giống như cấp độ, danh hiệu tạo nên cảm giác rõ ràng hơn về sự tiến bộ mỗi lần đạt được một danh hiệu mới. Một ví dụ tiêu biểu về ứng dụng này là Duolingo với loạt chức danh rất đặc biệt biểu thị cấp độ học của người dùng như: Lửa rừng, Cao nhân, Học giả, Hoàng tộc,...</a:t>
            </a:r>
          </a:p>
          <a:p>
            <a:pPr algn="l" marL="647698" indent="-323849" lvl="1">
              <a:lnSpc>
                <a:spcPts val="4499"/>
              </a:lnSpc>
              <a:buFont typeface="Arial"/>
              <a:buChar char="•"/>
            </a:pPr>
            <a:r>
              <a:rPr lang="en-US" sz="2999">
                <a:solidFill>
                  <a:srgbClr val="FFFFFF"/>
                </a:solidFill>
                <a:latin typeface="Cabin"/>
                <a:ea typeface="Cabin"/>
                <a:cs typeface="Cabin"/>
                <a:sym typeface="Cabin"/>
              </a:rPr>
              <a:t>Tiền ảo: Tiền ảo trên Gamification có thể được ứng dụng dưới nhiều hình thức khác nhau như tích điểm, coin,... với mục đích giống như một công cụ “đo lường” sự tiến bộ, hướng tới mục tiêu của người dùng.</a:t>
            </a:r>
          </a:p>
          <a:p>
            <a:pPr algn="l" marL="647698" indent="-323849" lvl="1">
              <a:lnSpc>
                <a:spcPts val="4499"/>
              </a:lnSpc>
              <a:buFont typeface="Arial"/>
              <a:buChar char="•"/>
            </a:pPr>
            <a:r>
              <a:rPr lang="en-US" sz="2999">
                <a:solidFill>
                  <a:srgbClr val="FFFFFF"/>
                </a:solidFill>
                <a:latin typeface="Cabin"/>
                <a:ea typeface="Cabin"/>
                <a:cs typeface="Cabin"/>
                <a:sym typeface="Cabin"/>
              </a:rPr>
              <a:t>Bảng xếp hạng: Bảng xếp hạng khiến cho các chiến dịch Gamification có tính cộng đồng và xã hội mạnh mẽ hơn. Đồng thời cũng thúc đẩy cảm giác thành tựu và tâm lý cạnh tranh của người dùng.</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5212"/>
            <a:ext cx="13633013"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3. Sử dụng Testimonials &amp; mô hình teamwork</a:t>
            </a:r>
          </a:p>
        </p:txBody>
      </p:sp>
      <p:sp>
        <p:nvSpPr>
          <p:cNvPr name="TextBox 3" id="3"/>
          <p:cNvSpPr txBox="true"/>
          <p:nvPr/>
        </p:nvSpPr>
        <p:spPr>
          <a:xfrm rot="0">
            <a:off x="1028700" y="2132015"/>
            <a:ext cx="16230600" cy="3585083"/>
          </a:xfrm>
          <a:prstGeom prst="rect">
            <a:avLst/>
          </a:prstGeom>
        </p:spPr>
        <p:txBody>
          <a:bodyPr anchor="t" rtlCol="false" tIns="0" lIns="0" bIns="0" rIns="0">
            <a:spAutoFit/>
          </a:bodyPr>
          <a:lstStyle/>
          <a:p>
            <a:pPr algn="l">
              <a:lnSpc>
                <a:spcPts val="4725"/>
              </a:lnSpc>
              <a:spcBef>
                <a:spcPct val="0"/>
              </a:spcBef>
            </a:pPr>
            <a:r>
              <a:rPr lang="en-US" sz="3399">
                <a:solidFill>
                  <a:srgbClr val="FFFFFF"/>
                </a:solidFill>
                <a:latin typeface="Cabin"/>
                <a:ea typeface="Cabin"/>
                <a:cs typeface="Cabin"/>
                <a:sym typeface="Cabin"/>
              </a:rPr>
              <a:t>Testimonials (Hay lời chứng thực của khách hàng) là những yếu tố quan trọng trong việc củng cố Goal Gradient Effect. Tương tự bảng xếp hạng, Testimonials mang tính chất xã hội, cộng đồng cao, khiến khách hàng cảm thấy có sự kết nối và có thêm niềm tin để đạt được mục tiêu của mình.</a:t>
            </a:r>
          </a:p>
          <a:p>
            <a:pPr algn="l">
              <a:lnSpc>
                <a:spcPts val="4725"/>
              </a:lnSpc>
              <a:spcBef>
                <a:spcPct val="0"/>
              </a:spcBef>
            </a:pPr>
          </a:p>
          <a:p>
            <a:pPr algn="l">
              <a:lnSpc>
                <a:spcPts val="4725"/>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1334280"/>
            <a:ext cx="16089310" cy="7114413"/>
          </a:xfrm>
          <a:prstGeom prst="rect">
            <a:avLst/>
          </a:prstGeom>
        </p:spPr>
        <p:txBody>
          <a:bodyPr anchor="t" rtlCol="false" tIns="0" lIns="0" bIns="0" rIns="0">
            <a:spAutoFit/>
          </a:bodyPr>
          <a:lstStyle/>
          <a:p>
            <a:pPr algn="l">
              <a:lnSpc>
                <a:spcPts val="3336"/>
              </a:lnSpc>
              <a:spcBef>
                <a:spcPct val="0"/>
              </a:spcBef>
            </a:pPr>
            <a:r>
              <a:rPr lang="en-US" sz="2400">
                <a:solidFill>
                  <a:srgbClr val="FFFFFF"/>
                </a:solidFill>
                <a:latin typeface="Cabin"/>
                <a:ea typeface="Cabin"/>
                <a:cs typeface="Cabin"/>
                <a:sym typeface="Cabin"/>
              </a:rPr>
              <a:t>Lời chứng thực của người dùng:</a:t>
            </a:r>
          </a:p>
          <a:p>
            <a:pPr algn="l" marL="518160" indent="-259080" lvl="1">
              <a:lnSpc>
                <a:spcPts val="3336"/>
              </a:lnSpc>
              <a:buFont typeface="Arial"/>
              <a:buChar char="•"/>
            </a:pPr>
            <a:r>
              <a:rPr lang="en-US" sz="2400">
                <a:solidFill>
                  <a:srgbClr val="FFFFFF"/>
                </a:solidFill>
                <a:latin typeface="Cabin"/>
                <a:ea typeface="Cabin"/>
                <a:cs typeface="Cabin"/>
                <a:sym typeface="Cabin"/>
              </a:rPr>
              <a:t>Nếu bạn đã từng xem một video review về một ứng dụng học tiếng Anh cực hiệu quả với khả năng nâng cao trình độ nhanh chóng và cảm thấy muốn tải app để học ngay lập tức thì bạn đã bị ảnh hưởng bởi lời chứng thực. Đặc biệt, lời chứng thực sẽ càng trở nên hiệu quả hơn khi nó được kết hợp với các yếu tố Goal Gradient Effect phía trên như thể hiện lộ trình, mục tiêu và kết quả đạt được, phần thưởng khi hoàn thành.</a:t>
            </a:r>
          </a:p>
          <a:p>
            <a:pPr algn="l" marL="518160" indent="-259080" lvl="1">
              <a:lnSpc>
                <a:spcPts val="3336"/>
              </a:lnSpc>
              <a:buFont typeface="Arial"/>
              <a:buChar char="•"/>
            </a:pPr>
            <a:r>
              <a:rPr lang="en-US" sz="2400">
                <a:solidFill>
                  <a:srgbClr val="FFFFFF"/>
                </a:solidFill>
                <a:latin typeface="Cabin"/>
                <a:ea typeface="Cabin"/>
                <a:cs typeface="Cabin"/>
                <a:sym typeface="Cabin"/>
              </a:rPr>
              <a:t>Việc chứng kiến những người khác đạt được một mục tiêu, thành tựu nào đó sẽ truyền cảm hứng và niềm tin cho con người làm điều tương tự. Ví dụ khi sử dụng Testimonials để kích thích Goal Gradient Effect cho khách hàng của một App học tiếng Anh như trên. Thay vì chỉ review những tính năng, bài học của ứng dụng, thương hiệu cần thể hiện rõ nét hơn về những mục tiêu, thành tựu người học đạt được: Họ đã đạt level 6.5 IELTs với ứng dụng này trong bao lâu? Ứng dụng này giúp họ vượt qua kỳ thi tiếng Anh như thế nào?...</a:t>
            </a:r>
          </a:p>
          <a:p>
            <a:pPr algn="l">
              <a:lnSpc>
                <a:spcPts val="3336"/>
              </a:lnSpc>
              <a:spcBef>
                <a:spcPct val="0"/>
              </a:spcBef>
            </a:pPr>
            <a:r>
              <a:rPr lang="en-US" sz="2400">
                <a:solidFill>
                  <a:srgbClr val="FFFFFF"/>
                </a:solidFill>
                <a:latin typeface="Cabin"/>
                <a:ea typeface="Cabin"/>
                <a:cs typeface="Cabin"/>
                <a:sym typeface="Cabin"/>
              </a:rPr>
              <a:t>Thử thách nhóm</a:t>
            </a:r>
          </a:p>
          <a:p>
            <a:pPr algn="l" marL="518160" indent="-259080" lvl="1">
              <a:lnSpc>
                <a:spcPts val="3336"/>
              </a:lnSpc>
              <a:buFont typeface="Arial"/>
              <a:buChar char="•"/>
            </a:pPr>
            <a:r>
              <a:rPr lang="en-US" sz="2400">
                <a:solidFill>
                  <a:srgbClr val="FFFFFF"/>
                </a:solidFill>
                <a:latin typeface="Cabin"/>
                <a:ea typeface="Cabin"/>
                <a:cs typeface="Cabin"/>
                <a:sym typeface="Cabin"/>
              </a:rPr>
              <a:t>Làm việc nhóm là một trong những hoạt động có khả năng thúc đẩy hành động của người dùng rất hiệu quả mà các thương hiệu thường bỏ lỡ. Đối với các nhiệm vụ cá nhân, người dùng có thể trở nên lơ là, xao nhãng vì nó không bị tác động bởi những cá nhân khác. Nhưng khi thiết lập các nhiệm vụ nhóm, thử thách nhóm, các thành viên sẽ được truyền động lực thực hiện nhiệm vụ cho nhau, cùng nỗ lực để đạt mục tiêu chung.</a:t>
            </a:r>
          </a:p>
          <a:p>
            <a:pPr algn="l" marL="518160" indent="-259080" lvl="1">
              <a:lnSpc>
                <a:spcPts val="3336"/>
              </a:lnSpc>
              <a:buFont typeface="Arial"/>
              <a:buChar char="•"/>
            </a:pPr>
            <a:r>
              <a:rPr lang="en-US" sz="2400">
                <a:solidFill>
                  <a:srgbClr val="FFFFFF"/>
                </a:solidFill>
                <a:latin typeface="Cabin"/>
                <a:ea typeface="Cabin"/>
                <a:cs typeface="Cabin"/>
                <a:sym typeface="Cabin"/>
              </a:rPr>
              <a:t>Ứng dụng này được thể hiện rõ nét nhất trong các giải chạy, các ứng dụng về thể thao, điển hình như việc thiết lập các mục tiêu nhóm, cho phép người dùng tham gia giải chạy dựa trên thành tích của một nhóm,...</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2595597"/>
            <a:ext cx="16230600" cy="5985383"/>
          </a:xfrm>
          <a:prstGeom prst="rect">
            <a:avLst/>
          </a:prstGeom>
        </p:spPr>
        <p:txBody>
          <a:bodyPr anchor="t" rtlCol="false" tIns="0" lIns="0" bIns="0" rIns="0">
            <a:spAutoFit/>
          </a:bodyPr>
          <a:lstStyle/>
          <a:p>
            <a:pPr algn="l">
              <a:lnSpc>
                <a:spcPts val="4725"/>
              </a:lnSpc>
            </a:pPr>
            <a:r>
              <a:rPr lang="en-US" sz="3399">
                <a:solidFill>
                  <a:srgbClr val="FFFFFF"/>
                </a:solidFill>
                <a:latin typeface="Cabin"/>
                <a:ea typeface="Cabin"/>
                <a:cs typeface="Cabin"/>
                <a:sym typeface="Cabin"/>
              </a:rPr>
              <a:t>Một trong những ứng dụng quan trọng nhất của Goal Gradient Effect là tạo nên trải nghiệm mang tính chất cá nhân hóa cho từng người dùng. Khi người dùng cảm thấy trải nghiệm được điều chỉnh phù hợp với nhu cầu của họ, họ sẽ cảm thấy có mối liên hệ sâu sắc hơn với mục tiêu của mình.</a:t>
            </a:r>
          </a:p>
          <a:p>
            <a:pPr algn="l">
              <a:lnSpc>
                <a:spcPts val="4725"/>
              </a:lnSpc>
            </a:pPr>
          </a:p>
          <a:p>
            <a:pPr algn="l">
              <a:lnSpc>
                <a:spcPts val="4725"/>
              </a:lnSpc>
            </a:pPr>
            <a:r>
              <a:rPr lang="en-US" sz="3399">
                <a:solidFill>
                  <a:srgbClr val="FFFFFF"/>
                </a:solidFill>
                <a:latin typeface="Cabin"/>
                <a:ea typeface="Cabin"/>
                <a:cs typeface="Cabin"/>
                <a:sym typeface="Cabin"/>
              </a:rPr>
              <a:t>Ví dụ: nếu mục tiêu của người dùng là nâng cao trình độ tiếng Anh giao tiếp, bạn cần thiết lập lộ trình học sao cho phù hợp với nhu cầu học tiếng Anh giao tiếp và năng lực hiện có của người học. Đồng thời đưa ra những thông báo, lời khen, phần thưởng phù hợp với khả năng giao tiếp tiếng Anh của người học.</a:t>
            </a:r>
          </a:p>
          <a:p>
            <a:pPr algn="l">
              <a:lnSpc>
                <a:spcPts val="4725"/>
              </a:lnSpc>
              <a:spcBef>
                <a:spcPct val="0"/>
              </a:spcBef>
            </a:pPr>
          </a:p>
        </p:txBody>
      </p:sp>
      <p:sp>
        <p:nvSpPr>
          <p:cNvPr name="TextBox 3" id="3"/>
          <p:cNvSpPr txBox="true"/>
          <p:nvPr/>
        </p:nvSpPr>
        <p:spPr>
          <a:xfrm rot="0">
            <a:off x="1028700" y="933450"/>
            <a:ext cx="15866864"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4. Cá nhân hóa mục tiêu &amp; hành trình của người dùng</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14400"/>
            <a:ext cx="16230600" cy="7196963"/>
          </a:xfrm>
          <a:prstGeom prst="rect">
            <a:avLst/>
          </a:prstGeom>
        </p:spPr>
        <p:txBody>
          <a:bodyPr anchor="t" rtlCol="false" tIns="0" lIns="0" bIns="0" rIns="0">
            <a:spAutoFit/>
          </a:bodyPr>
          <a:lstStyle/>
          <a:p>
            <a:pPr algn="l">
              <a:lnSpc>
                <a:spcPts val="5235"/>
              </a:lnSpc>
            </a:pPr>
            <a:r>
              <a:rPr lang="en-US" sz="3399">
                <a:solidFill>
                  <a:srgbClr val="FFFFFF"/>
                </a:solidFill>
                <a:latin typeface="Cabin"/>
                <a:ea typeface="Cabin"/>
                <a:cs typeface="Cabin"/>
                <a:sym typeface="Cabin"/>
              </a:rPr>
              <a:t>Một số yếu tố cá nhân hóa trải nghiệm có tác động mạnh tới Goal Gradient Effect của người dùng phải kể đến như:</a:t>
            </a:r>
          </a:p>
          <a:p>
            <a:pPr algn="l" marL="734059" indent="-367030" lvl="1">
              <a:lnSpc>
                <a:spcPts val="5235"/>
              </a:lnSpc>
              <a:buFont typeface="Arial"/>
              <a:buChar char="•"/>
            </a:pPr>
            <a:r>
              <a:rPr lang="en-US" sz="3399">
                <a:solidFill>
                  <a:srgbClr val="FFFFFF"/>
                </a:solidFill>
                <a:latin typeface="Cabin"/>
                <a:ea typeface="Cabin"/>
                <a:cs typeface="Cabin"/>
                <a:sym typeface="Cabin"/>
              </a:rPr>
              <a:t>Đưa ra những đề xuất phù hợp với người dùng: Duolingo là một trong những ứng dụng là ứng dụng rất xuất sắc hình thức này. Bằng việc đưa ra những thông báo cá nhân hóa mạnh mẽ dựa trên thời gian học, số lượng bài học, trình độ… của từng người dùng, sẽ mang lại cảm giác thôi thúc mạnh mẽ với họ nhiều hơn hẳn so với những thông báo chung.</a:t>
            </a:r>
          </a:p>
          <a:p>
            <a:pPr algn="l" marL="734059" indent="-367030" lvl="1">
              <a:lnSpc>
                <a:spcPts val="5235"/>
              </a:lnSpc>
              <a:buFont typeface="Arial"/>
              <a:buChar char="•"/>
            </a:pPr>
            <a:r>
              <a:rPr lang="en-US" sz="3399">
                <a:solidFill>
                  <a:srgbClr val="FFFFFF"/>
                </a:solidFill>
                <a:latin typeface="Cabin"/>
                <a:ea typeface="Cabin"/>
                <a:cs typeface="Cabin"/>
                <a:sym typeface="Cabin"/>
              </a:rPr>
              <a:t>Thiết lập lộ trình với các cột mốc rõ ràng: Việc chia nhỏ quá trình thực hiện mục tiêu thành các cột mốc bé hơn giúp tăng cường Goal Gradient Effect trên từng giai đoạn hành động của người dùng. Đồng thời, các cột mốc cũng giúp họ cảm nhận được sự tiến bộ, phát triển của bản thân theo từng ngày.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034C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767517"/>
            <a:ext cx="9142777" cy="5356850"/>
          </a:xfrm>
          <a:custGeom>
            <a:avLst/>
            <a:gdLst/>
            <a:ahLst/>
            <a:cxnLst/>
            <a:rect r="r" b="b" t="t" l="l"/>
            <a:pathLst>
              <a:path h="5356850" w="9142777">
                <a:moveTo>
                  <a:pt x="0" y="0"/>
                </a:moveTo>
                <a:lnTo>
                  <a:pt x="9142777" y="0"/>
                </a:lnTo>
                <a:lnTo>
                  <a:pt x="9142777" y="5356850"/>
                </a:lnTo>
                <a:lnTo>
                  <a:pt x="0" y="5356850"/>
                </a:lnTo>
                <a:lnTo>
                  <a:pt x="0" y="0"/>
                </a:lnTo>
                <a:close/>
              </a:path>
            </a:pathLst>
          </a:custGeom>
          <a:blipFill>
            <a:blip r:embed="rId2"/>
            <a:stretch>
              <a:fillRect l="0" t="0" r="0" b="0"/>
            </a:stretch>
          </a:blipFill>
        </p:spPr>
      </p:sp>
      <p:sp>
        <p:nvSpPr>
          <p:cNvPr name="TextBox 3" id="3"/>
          <p:cNvSpPr txBox="true"/>
          <p:nvPr/>
        </p:nvSpPr>
        <p:spPr>
          <a:xfrm rot="0">
            <a:off x="1028700" y="933450"/>
            <a:ext cx="3959066"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 Ví dụ thực tế</a:t>
            </a:r>
          </a:p>
        </p:txBody>
      </p:sp>
      <p:sp>
        <p:nvSpPr>
          <p:cNvPr name="TextBox 4" id="4"/>
          <p:cNvSpPr txBox="true"/>
          <p:nvPr/>
        </p:nvSpPr>
        <p:spPr>
          <a:xfrm rot="0">
            <a:off x="1028700" y="2184799"/>
            <a:ext cx="16230600" cy="1784858"/>
          </a:xfrm>
          <a:prstGeom prst="rect">
            <a:avLst/>
          </a:prstGeom>
        </p:spPr>
        <p:txBody>
          <a:bodyPr anchor="t" rtlCol="false" tIns="0" lIns="0" bIns="0" rIns="0">
            <a:spAutoFit/>
          </a:bodyPr>
          <a:lstStyle/>
          <a:p>
            <a:pPr algn="l">
              <a:lnSpc>
                <a:spcPts val="4725"/>
              </a:lnSpc>
              <a:spcBef>
                <a:spcPct val="0"/>
              </a:spcBef>
            </a:pPr>
            <a:r>
              <a:rPr lang="en-US" sz="3399">
                <a:solidFill>
                  <a:srgbClr val="FFFFFF"/>
                </a:solidFill>
                <a:latin typeface="Cabin"/>
                <a:ea typeface="Cabin"/>
                <a:cs typeface="Cabin"/>
                <a:sym typeface="Cabin"/>
              </a:rPr>
              <a:t>Ví dụ, trên trang web Dropbox, khi bạn thấy mình sắp đạt được dung lượng lưu trữ miễn phí, bạn sẽ có động lực hoàn thành nốt các bước còn lại để đạt được phần thưởng.</a:t>
            </a:r>
          </a:p>
          <a:p>
            <a:pPr algn="l">
              <a:lnSpc>
                <a:spcPts val="4725"/>
              </a:lnSpc>
              <a:spcBef>
                <a:spcPct val="0"/>
              </a:spcBef>
            </a:pPr>
          </a:p>
        </p:txBody>
      </p:sp>
      <p:sp>
        <p:nvSpPr>
          <p:cNvPr name="TextBox 5" id="5"/>
          <p:cNvSpPr txBox="true"/>
          <p:nvPr/>
        </p:nvSpPr>
        <p:spPr>
          <a:xfrm rot="0">
            <a:off x="10441613" y="5105400"/>
            <a:ext cx="6817687" cy="1182751"/>
          </a:xfrm>
          <a:prstGeom prst="rect">
            <a:avLst/>
          </a:prstGeom>
        </p:spPr>
        <p:txBody>
          <a:bodyPr anchor="t" rtlCol="false" tIns="0" lIns="0" bIns="0" rIns="0">
            <a:spAutoFit/>
          </a:bodyPr>
          <a:lstStyle/>
          <a:p>
            <a:pPr algn="ctr">
              <a:lnSpc>
                <a:spcPts val="3197"/>
              </a:lnSpc>
              <a:spcBef>
                <a:spcPct val="0"/>
              </a:spcBef>
            </a:pPr>
            <a:r>
              <a:rPr lang="en-US" b="true" sz="2300">
                <a:solidFill>
                  <a:srgbClr val="FFFFFF"/>
                </a:solidFill>
                <a:latin typeface="Cabin Bold"/>
                <a:ea typeface="Cabin Bold"/>
                <a:cs typeface="Cabin Bold"/>
                <a:sym typeface="Cabin Bold"/>
              </a:rPr>
              <a:t>Hình 50.1 trong nghiên cứu đề cập đến cách Dropbox hiển thị tiến trình của bạn đến mục tiêu, chẳng hạn như khi bạn sắp đạt được dung lượng lưu trữ miễn phí.</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9650254"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Mọi người tập trung vào điều gì?</a:t>
            </a:r>
          </a:p>
        </p:txBody>
      </p:sp>
      <p:sp>
        <p:nvSpPr>
          <p:cNvPr name="TextBox 3" id="3"/>
          <p:cNvSpPr txBox="true"/>
          <p:nvPr/>
        </p:nvSpPr>
        <p:spPr>
          <a:xfrm rot="0">
            <a:off x="1028700" y="2582273"/>
            <a:ext cx="16230600" cy="5383149"/>
          </a:xfrm>
          <a:prstGeom prst="rect">
            <a:avLst/>
          </a:prstGeom>
        </p:spPr>
        <p:txBody>
          <a:bodyPr anchor="t" rtlCol="false" tIns="0" lIns="0" bIns="0" rIns="0">
            <a:spAutoFit/>
          </a:bodyPr>
          <a:lstStyle/>
          <a:p>
            <a:pPr algn="l">
              <a:lnSpc>
                <a:spcPts val="4759"/>
              </a:lnSpc>
            </a:pPr>
            <a:r>
              <a:rPr lang="en-US" sz="3399">
                <a:solidFill>
                  <a:srgbClr val="FFFFFF"/>
                </a:solidFill>
                <a:latin typeface="Cabin"/>
                <a:ea typeface="Cabin"/>
                <a:cs typeface="Cabin"/>
                <a:sym typeface="Cabin"/>
              </a:rPr>
              <a:t>Minjung Koo và Ayelet Fishbach (2010) đã thực hiện một nghiên cứu để tìm hiểu điều gì sẽ tạo động lực mạnh mẽ hơn cho con người khi đạt được mục tiêu: </a:t>
            </a:r>
          </a:p>
          <a:p>
            <a:pPr algn="l">
              <a:lnSpc>
                <a:spcPts val="4759"/>
              </a:lnSpc>
            </a:pPr>
            <a:r>
              <a:rPr lang="en-US" sz="3399">
                <a:solidFill>
                  <a:srgbClr val="FFFFFF"/>
                </a:solidFill>
                <a:latin typeface="Cabin"/>
                <a:ea typeface="Cabin"/>
                <a:cs typeface="Cabin"/>
                <a:sym typeface="Cabin"/>
              </a:rPr>
              <a:t>a) Tập trung vào những gì họ đã hoàn thành.</a:t>
            </a:r>
          </a:p>
          <a:p>
            <a:pPr algn="l">
              <a:lnSpc>
                <a:spcPts val="4759"/>
              </a:lnSpc>
            </a:pPr>
            <a:r>
              <a:rPr lang="en-US" sz="3399">
                <a:solidFill>
                  <a:srgbClr val="FFFFFF"/>
                </a:solidFill>
                <a:latin typeface="Cabin"/>
                <a:ea typeface="Cabin"/>
                <a:cs typeface="Cabin"/>
                <a:sym typeface="Cabin"/>
              </a:rPr>
              <a:t> b) Tập trung vào những gì còn lại cần làm.</a:t>
            </a:r>
          </a:p>
          <a:p>
            <a:pPr algn="l">
              <a:lnSpc>
                <a:spcPts val="4759"/>
              </a:lnSpc>
            </a:pPr>
          </a:p>
          <a:p>
            <a:pPr algn="l">
              <a:lnSpc>
                <a:spcPts val="4759"/>
              </a:lnSpc>
            </a:pPr>
            <a:r>
              <a:rPr lang="en-US" sz="3399">
                <a:solidFill>
                  <a:srgbClr val="FFFFFF"/>
                </a:solidFill>
                <a:latin typeface="Cabin"/>
                <a:ea typeface="Cabin"/>
                <a:cs typeface="Cabin"/>
                <a:sym typeface="Cabin"/>
              </a:rPr>
              <a:t>Kết quả cho thấy phương án b có hiệu quả hơn—con người có xu hướng có động lực tiếp tục hơn khi họ tập trung vào những gì còn lại để hoàn thành.</a:t>
            </a:r>
          </a:p>
          <a:p>
            <a:pPr algn="l">
              <a:lnSpc>
                <a:spcPts val="4725"/>
              </a:lnSpc>
              <a:spcBef>
                <a:spcPct val="0"/>
              </a:spcBef>
            </a:pPr>
          </a:p>
          <a:p>
            <a:pPr algn="l">
              <a:lnSpc>
                <a:spcPts val="4725"/>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514331"/>
            <a:ext cx="4135160"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 Bài học rút ra</a:t>
            </a:r>
          </a:p>
        </p:txBody>
      </p:sp>
      <p:sp>
        <p:nvSpPr>
          <p:cNvPr name="TextBox 3" id="3"/>
          <p:cNvSpPr txBox="true"/>
          <p:nvPr/>
        </p:nvSpPr>
        <p:spPr>
          <a:xfrm rot="0">
            <a:off x="1028700" y="1933338"/>
            <a:ext cx="14866330" cy="7592822"/>
          </a:xfrm>
          <a:prstGeom prst="rect">
            <a:avLst/>
          </a:prstGeom>
        </p:spPr>
        <p:txBody>
          <a:bodyPr anchor="t" rtlCol="false" tIns="0" lIns="0" bIns="0" rIns="0">
            <a:spAutoFit/>
          </a:bodyPr>
          <a:lstStyle/>
          <a:p>
            <a:pPr algn="l">
              <a:lnSpc>
                <a:spcPts val="4308"/>
              </a:lnSpc>
            </a:pPr>
            <a:r>
              <a:rPr lang="en-US" sz="3099">
                <a:solidFill>
                  <a:srgbClr val="FFFFFF"/>
                </a:solidFill>
                <a:latin typeface="Cabin"/>
                <a:ea typeface="Cabin"/>
                <a:cs typeface="Cabin"/>
                <a:sym typeface="Cabin"/>
              </a:rPr>
              <a:t>1. </a:t>
            </a:r>
            <a:r>
              <a:rPr lang="en-US" sz="3099">
                <a:solidFill>
                  <a:srgbClr val="FFFFFF"/>
                </a:solidFill>
                <a:latin typeface="Cabin"/>
                <a:ea typeface="Cabin"/>
                <a:cs typeface="Cabin"/>
                <a:sym typeface="Cabin"/>
              </a:rPr>
              <a:t>Khoảng cách đến mục tiêu càng ngắn, động lực càng cao.</a:t>
            </a:r>
          </a:p>
          <a:p>
            <a:pPr algn="l" marL="669286" indent="-334643" lvl="1">
              <a:lnSpc>
                <a:spcPts val="4308"/>
              </a:lnSpc>
              <a:buFont typeface="Arial"/>
              <a:buChar char="•"/>
            </a:pPr>
            <a:r>
              <a:rPr lang="en-US" sz="3099">
                <a:solidFill>
                  <a:srgbClr val="FFFFFF"/>
                </a:solidFill>
                <a:latin typeface="Cabin"/>
                <a:ea typeface="Cabin"/>
                <a:cs typeface="Cabin"/>
                <a:sym typeface="Cabin"/>
              </a:rPr>
              <a:t>Con người có xu hướng có động lực mạnh mẽ hơn khi họ thấy mục tiêu ở ngay trước mắt.</a:t>
            </a:r>
          </a:p>
          <a:p>
            <a:pPr algn="l">
              <a:lnSpc>
                <a:spcPts val="4308"/>
              </a:lnSpc>
            </a:pPr>
            <a:r>
              <a:rPr lang="en-US" sz="3099">
                <a:solidFill>
                  <a:srgbClr val="FFFFFF"/>
                </a:solidFill>
                <a:latin typeface="Cabin"/>
                <a:ea typeface="Cabin"/>
                <a:cs typeface="Cabin"/>
                <a:sym typeface="Cabin"/>
              </a:rPr>
              <a:t>2. </a:t>
            </a:r>
            <a:r>
              <a:rPr lang="en-US" sz="3099">
                <a:solidFill>
                  <a:srgbClr val="FFFFFF"/>
                </a:solidFill>
                <a:latin typeface="Cabin"/>
                <a:ea typeface="Cabin"/>
                <a:cs typeface="Cabin"/>
                <a:sym typeface="Cabin"/>
              </a:rPr>
              <a:t>Ảo giác về tiến trình cũng có thể tạo động lực.</a:t>
            </a:r>
          </a:p>
          <a:p>
            <a:pPr algn="l" marL="669286" indent="-334643" lvl="1">
              <a:lnSpc>
                <a:spcPts val="4308"/>
              </a:lnSpc>
              <a:buFont typeface="Arial"/>
              <a:buChar char="•"/>
            </a:pPr>
            <a:r>
              <a:rPr lang="en-US" sz="3099">
                <a:solidFill>
                  <a:srgbClr val="FFFFFF"/>
                </a:solidFill>
                <a:latin typeface="Cabin"/>
                <a:ea typeface="Cabin"/>
                <a:cs typeface="Cabin"/>
                <a:sym typeface="Cabin"/>
              </a:rPr>
              <a:t>Ví dụ như trong thẻ cà phê B, dù thực chất vẫn cần mua 10 ly cà phê, nhưng việc có sẵn hai con dấu khiến khách hàng cảm thấy đã có tiến bộ, từ đó thúc đẩy họ hoàn thành nốt mục tiêu nhanh hơn.</a:t>
            </a:r>
          </a:p>
          <a:p>
            <a:pPr algn="l">
              <a:lnSpc>
                <a:spcPts val="4308"/>
              </a:lnSpc>
            </a:pPr>
            <a:r>
              <a:rPr lang="en-US" sz="3099">
                <a:solidFill>
                  <a:srgbClr val="FFFFFF"/>
                </a:solidFill>
                <a:latin typeface="Cabin"/>
                <a:ea typeface="Cabin"/>
                <a:cs typeface="Cabin"/>
                <a:sym typeface="Cabin"/>
              </a:rPr>
              <a:t>3. Khách hàng thích tham gia chương trình tích điểm.</a:t>
            </a:r>
          </a:p>
          <a:p>
            <a:pPr algn="l" marL="669286" indent="-334643" lvl="1">
              <a:lnSpc>
                <a:spcPts val="4308"/>
              </a:lnSpc>
              <a:buFont typeface="Arial"/>
              <a:buChar char="•"/>
            </a:pPr>
            <a:r>
              <a:rPr lang="en-US" sz="3099">
                <a:solidFill>
                  <a:srgbClr val="FFFFFF"/>
                </a:solidFill>
                <a:latin typeface="Cabin"/>
                <a:ea typeface="Cabin"/>
                <a:cs typeface="Cabin"/>
                <a:sym typeface="Cabin"/>
              </a:rPr>
              <a:t>Theo nghiên cứu của Kivetz, những khách hàng tham gia chương trình thưởng có xu hướng:</a:t>
            </a:r>
          </a:p>
          <a:p>
            <a:pPr algn="l" marL="1338572" indent="-446191" lvl="2">
              <a:lnSpc>
                <a:spcPts val="4308"/>
              </a:lnSpc>
              <a:buFont typeface="Arial"/>
              <a:buChar char="⚬"/>
            </a:pPr>
            <a:r>
              <a:rPr lang="en-US" sz="3099">
                <a:solidFill>
                  <a:srgbClr val="FFFFFF"/>
                </a:solidFill>
                <a:latin typeface="Cabin"/>
                <a:ea typeface="Cabin"/>
                <a:cs typeface="Cabin"/>
                <a:sym typeface="Cabin"/>
              </a:rPr>
              <a:t>Cười nhiều hơn.</a:t>
            </a:r>
          </a:p>
          <a:p>
            <a:pPr algn="l" marL="1338572" indent="-446191" lvl="2">
              <a:lnSpc>
                <a:spcPts val="4308"/>
              </a:lnSpc>
              <a:buFont typeface="Arial"/>
              <a:buChar char="⚬"/>
            </a:pPr>
            <a:r>
              <a:rPr lang="en-US" sz="3099">
                <a:solidFill>
                  <a:srgbClr val="FFFFFF"/>
                </a:solidFill>
                <a:latin typeface="Cabin"/>
                <a:ea typeface="Cabin"/>
                <a:cs typeface="Cabin"/>
                <a:sym typeface="Cabin"/>
              </a:rPr>
              <a:t>Trò chuyện lâu hơn với nhân viên.</a:t>
            </a:r>
          </a:p>
          <a:p>
            <a:pPr algn="l" marL="1338572" indent="-446191" lvl="2">
              <a:lnSpc>
                <a:spcPts val="4308"/>
              </a:lnSpc>
              <a:buFont typeface="Arial"/>
              <a:buChar char="⚬"/>
            </a:pPr>
            <a:r>
              <a:rPr lang="en-US" sz="3099">
                <a:solidFill>
                  <a:srgbClr val="FFFFFF"/>
                </a:solidFill>
                <a:latin typeface="Cabin"/>
                <a:ea typeface="Cabin"/>
                <a:cs typeface="Cabin"/>
                <a:sym typeface="Cabin"/>
              </a:rPr>
              <a:t>Cảm ơn nhiều hơn.</a:t>
            </a:r>
          </a:p>
          <a:p>
            <a:pPr algn="l" marL="1338572" indent="-446191" lvl="2">
              <a:lnSpc>
                <a:spcPts val="4308"/>
              </a:lnSpc>
              <a:buFont typeface="Arial"/>
              <a:buChar char="⚬"/>
            </a:pPr>
            <a:r>
              <a:rPr lang="en-US" sz="3099">
                <a:solidFill>
                  <a:srgbClr val="FFFFFF"/>
                </a:solidFill>
                <a:latin typeface="Cabin"/>
                <a:ea typeface="Cabin"/>
                <a:cs typeface="Cabin"/>
                <a:sym typeface="Cabin"/>
              </a:rPr>
              <a:t>Boa nhiều hơn.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2132015"/>
            <a:ext cx="16230600" cy="5158994"/>
          </a:xfrm>
          <a:prstGeom prst="rect">
            <a:avLst/>
          </a:prstGeom>
        </p:spPr>
        <p:txBody>
          <a:bodyPr anchor="t" rtlCol="false" tIns="0" lIns="0" bIns="0" rIns="0">
            <a:spAutoFit/>
          </a:bodyPr>
          <a:lstStyle/>
          <a:p>
            <a:pPr algn="l">
              <a:lnSpc>
                <a:spcPts val="5142"/>
              </a:lnSpc>
              <a:spcBef>
                <a:spcPct val="0"/>
              </a:spcBef>
            </a:pPr>
            <a:r>
              <a:rPr lang="en-US" sz="3699">
                <a:solidFill>
                  <a:srgbClr val="FFFFFF"/>
                </a:solidFill>
                <a:latin typeface="Cabin"/>
                <a:ea typeface="Cabin"/>
                <a:cs typeface="Cabin"/>
                <a:sym typeface="Cabin"/>
              </a:rPr>
              <a:t>4. </a:t>
            </a:r>
            <a:r>
              <a:rPr lang="en-US" sz="3699">
                <a:solidFill>
                  <a:srgbClr val="FFFFFF"/>
                </a:solidFill>
                <a:latin typeface="Cabin"/>
                <a:ea typeface="Cabin"/>
                <a:cs typeface="Cabin"/>
                <a:sym typeface="Cabin"/>
              </a:rPr>
              <a:t>Sau khi nhận được phần thưởng, động lực sẽ giảm mạnh.</a:t>
            </a:r>
          </a:p>
          <a:p>
            <a:pPr algn="l" marL="798828" indent="-399414" lvl="1">
              <a:lnSpc>
                <a:spcPts val="5142"/>
              </a:lnSpc>
              <a:buFont typeface="Arial"/>
              <a:buChar char="•"/>
            </a:pPr>
            <a:r>
              <a:rPr lang="en-US" sz="3699">
                <a:solidFill>
                  <a:srgbClr val="FFFFFF"/>
                </a:solidFill>
                <a:latin typeface="Cabin"/>
                <a:ea typeface="Cabin"/>
                <a:cs typeface="Cabin"/>
                <a:sym typeface="Cabin"/>
              </a:rPr>
              <a:t>Hiện tượng này gọi là "post-reward resetting phenomenon" (tái thiết lập sau phần thưởng).</a:t>
            </a:r>
          </a:p>
          <a:p>
            <a:pPr algn="l" marL="798828" indent="-399414" lvl="1">
              <a:lnSpc>
                <a:spcPts val="5142"/>
              </a:lnSpc>
              <a:buFont typeface="Arial"/>
              <a:buChar char="•"/>
            </a:pPr>
            <a:r>
              <a:rPr lang="en-US" sz="3699">
                <a:solidFill>
                  <a:srgbClr val="FFFFFF"/>
                </a:solidFill>
                <a:latin typeface="Cabin"/>
                <a:ea typeface="Cabin"/>
                <a:cs typeface="Cabin"/>
                <a:sym typeface="Cabin"/>
              </a:rPr>
              <a:t>Nếu có một cấp độ phần thưởng tiếp theo, ban đầu khách hàng sẽ ít có động lực để tiếp tục đạt được nó.</a:t>
            </a:r>
          </a:p>
          <a:p>
            <a:pPr algn="l">
              <a:lnSpc>
                <a:spcPts val="5142"/>
              </a:lnSpc>
              <a:spcBef>
                <a:spcPct val="0"/>
              </a:spcBef>
            </a:pPr>
            <a:r>
              <a:rPr lang="en-US" sz="3699">
                <a:solidFill>
                  <a:srgbClr val="FFFFFF"/>
                </a:solidFill>
                <a:latin typeface="Cabin"/>
                <a:ea typeface="Cabin"/>
                <a:cs typeface="Cabin"/>
                <a:sym typeface="Cabin"/>
              </a:rPr>
              <a:t>5. </a:t>
            </a:r>
            <a:r>
              <a:rPr lang="en-US" sz="3699">
                <a:solidFill>
                  <a:srgbClr val="FFFFFF"/>
                </a:solidFill>
                <a:latin typeface="Cabin"/>
                <a:ea typeface="Cabin"/>
                <a:cs typeface="Cabin"/>
                <a:sym typeface="Cabin"/>
              </a:rPr>
              <a:t>Nguy cơ mất khách hàng cao nhất ngay sau khi họ đạt được phần thưởng.</a:t>
            </a:r>
          </a:p>
          <a:p>
            <a:pPr algn="l" marL="798828" indent="-399414" lvl="1">
              <a:lnSpc>
                <a:spcPts val="5142"/>
              </a:lnSpc>
              <a:buFont typeface="Arial"/>
              <a:buChar char="•"/>
            </a:pPr>
            <a:r>
              <a:rPr lang="en-US" sz="3699">
                <a:solidFill>
                  <a:srgbClr val="FFFFFF"/>
                </a:solidFill>
                <a:latin typeface="Cabin"/>
                <a:ea typeface="Cabin"/>
                <a:cs typeface="Cabin"/>
                <a:sym typeface="Cabin"/>
              </a:rPr>
              <a:t>Đây là thời điểm họ cảm thấy đã đạt được mục tiêu, dẫn đến giảm tần suất mua hàng.</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5034C4"/>
        </a:solidFill>
      </p:bgPr>
    </p:bg>
    <p:spTree>
      <p:nvGrpSpPr>
        <p:cNvPr id="1" name=""/>
        <p:cNvGrpSpPr/>
        <p:nvPr/>
      </p:nvGrpSpPr>
      <p:grpSpPr>
        <a:xfrm>
          <a:off x="0" y="0"/>
          <a:ext cx="0" cy="0"/>
          <a:chOff x="0" y="0"/>
          <a:chExt cx="0" cy="0"/>
        </a:xfrm>
      </p:grpSpPr>
      <p:sp>
        <p:nvSpPr>
          <p:cNvPr name="TextBox 2" id="2"/>
          <p:cNvSpPr txBox="true"/>
          <p:nvPr/>
        </p:nvSpPr>
        <p:spPr>
          <a:xfrm rot="0">
            <a:off x="1028700" y="933450"/>
            <a:ext cx="2508885" cy="933488"/>
          </a:xfrm>
          <a:prstGeom prst="rect">
            <a:avLst/>
          </a:prstGeom>
        </p:spPr>
        <p:txBody>
          <a:bodyPr anchor="t" rtlCol="false" tIns="0" lIns="0" bIns="0" rIns="0">
            <a:spAutoFit/>
          </a:bodyPr>
          <a:lstStyle/>
          <a:p>
            <a:pPr algn="ctr">
              <a:lnSpc>
                <a:spcPts val="7679"/>
              </a:lnSpc>
              <a:spcBef>
                <a:spcPct val="0"/>
              </a:spcBef>
            </a:pPr>
            <a:r>
              <a:rPr lang="en-US" b="true" sz="5524">
                <a:solidFill>
                  <a:srgbClr val="FFFFFF"/>
                </a:solidFill>
                <a:latin typeface="Cabin Bold"/>
                <a:ea typeface="Cabin Bold"/>
                <a:cs typeface="Cabin Bold"/>
                <a:sym typeface="Cabin Bold"/>
              </a:rPr>
              <a:t>Kết luận</a:t>
            </a:r>
          </a:p>
        </p:txBody>
      </p:sp>
      <p:sp>
        <p:nvSpPr>
          <p:cNvPr name="TextBox 3" id="3"/>
          <p:cNvSpPr txBox="true"/>
          <p:nvPr/>
        </p:nvSpPr>
        <p:spPr>
          <a:xfrm rot="0">
            <a:off x="1028700" y="2264467"/>
            <a:ext cx="16230600" cy="5985383"/>
          </a:xfrm>
          <a:prstGeom prst="rect">
            <a:avLst/>
          </a:prstGeom>
        </p:spPr>
        <p:txBody>
          <a:bodyPr anchor="t" rtlCol="false" tIns="0" lIns="0" bIns="0" rIns="0">
            <a:spAutoFit/>
          </a:bodyPr>
          <a:lstStyle/>
          <a:p>
            <a:pPr algn="l">
              <a:lnSpc>
                <a:spcPts val="4725"/>
              </a:lnSpc>
              <a:spcBef>
                <a:spcPct val="0"/>
              </a:spcBef>
            </a:pPr>
            <a:r>
              <a:rPr lang="en-US" sz="3399">
                <a:solidFill>
                  <a:srgbClr val="FFFFFF"/>
                </a:solidFill>
                <a:latin typeface="Cabin"/>
                <a:ea typeface="Cabin"/>
                <a:cs typeface="Cabin"/>
                <a:sym typeface="Cabin"/>
              </a:rPr>
              <a:t>Con người có xu hướng có động lực mạnh mẽ hơn khi họ thấy mục tiêu ở ngay trước mắt. Hiệu ứng mục tiêu tăng tốc cho thấy rằng khi khoảng cách đến phần thưởng ngắn lại, mọi người sẽ cố gắng hơn để đạt được nó nhanh chóng.</a:t>
            </a:r>
          </a:p>
          <a:p>
            <a:pPr algn="l">
              <a:lnSpc>
                <a:spcPts val="4725"/>
              </a:lnSpc>
              <a:spcBef>
                <a:spcPct val="0"/>
              </a:spcBef>
            </a:pPr>
            <a:r>
              <a:rPr lang="en-US" sz="3399">
                <a:solidFill>
                  <a:srgbClr val="FFFFFF"/>
                </a:solidFill>
                <a:latin typeface="Cabin"/>
                <a:ea typeface="Cabin"/>
                <a:cs typeface="Cabin"/>
                <a:sym typeface="Cabin"/>
              </a:rPr>
              <a:t>Để tận dụng điều này, các doanh nghiệp có thể:</a:t>
            </a:r>
          </a:p>
          <a:p>
            <a:pPr algn="l" marL="734059" indent="-367030" lvl="1">
              <a:lnSpc>
                <a:spcPts val="4725"/>
              </a:lnSpc>
              <a:buFont typeface="Arial"/>
              <a:buChar char="•"/>
            </a:pPr>
            <a:r>
              <a:rPr lang="en-US" sz="3399">
                <a:solidFill>
                  <a:srgbClr val="FFFFFF"/>
                </a:solidFill>
                <a:latin typeface="Cabin"/>
                <a:ea typeface="Cabin"/>
                <a:cs typeface="Cabin"/>
                <a:sym typeface="Cabin"/>
              </a:rPr>
              <a:t>Tạo chương trình thưởng giúp khách hàng cảm thấy họ đã có tiến bộ ngay từ đầu.</a:t>
            </a:r>
          </a:p>
          <a:p>
            <a:pPr algn="l" marL="734059" indent="-367030" lvl="1">
              <a:lnSpc>
                <a:spcPts val="4725"/>
              </a:lnSpc>
              <a:buFont typeface="Arial"/>
              <a:buChar char="•"/>
            </a:pPr>
            <a:r>
              <a:rPr lang="en-US" sz="3399">
                <a:solidFill>
                  <a:srgbClr val="FFFFFF"/>
                </a:solidFill>
                <a:latin typeface="Cabin"/>
                <a:ea typeface="Cabin"/>
                <a:cs typeface="Cabin"/>
                <a:sym typeface="Cabin"/>
              </a:rPr>
              <a:t>Hiển thị tiến trình để khách hàng thấy họ còn bao xa nữa để đạt mục tiêu.</a:t>
            </a:r>
          </a:p>
          <a:p>
            <a:pPr algn="l" marL="734059" indent="-367030" lvl="1">
              <a:lnSpc>
                <a:spcPts val="4725"/>
              </a:lnSpc>
              <a:buFont typeface="Arial"/>
              <a:buChar char="•"/>
            </a:pPr>
            <a:r>
              <a:rPr lang="en-US" sz="3399">
                <a:solidFill>
                  <a:srgbClr val="FFFFFF"/>
                </a:solidFill>
                <a:latin typeface="Cabin"/>
                <a:ea typeface="Cabin"/>
                <a:cs typeface="Cabin"/>
                <a:sym typeface="Cabin"/>
              </a:rPr>
              <a:t>Duy trì động lực sau phần thưởng, ví dụ bằng cách tạo các cấp độ thưởng tiếp theo để giảm nguy cơ mất khách hàng.</a:t>
            </a:r>
          </a:p>
          <a:p>
            <a:pPr algn="l">
              <a:lnSpc>
                <a:spcPts val="4725"/>
              </a:lnSpc>
              <a:spcBef>
                <a:spcPct val="0"/>
              </a:spcBef>
            </a:pPr>
            <a:r>
              <a:rPr lang="en-US" sz="3399">
                <a:solidFill>
                  <a:srgbClr val="FFFFFF"/>
                </a:solidFill>
                <a:latin typeface="Cabin"/>
                <a:ea typeface="Cabin"/>
                <a:cs typeface="Cabin"/>
                <a:sym typeface="Cabin"/>
              </a:rPr>
              <a:t>Bằng cách áp dụng những nguyên tắc tâm lý này, bạn có thể giữ chân khách hàng tốt hơn và tăng sự tham gia của họ vào sản phẩm hoặc dịch vụ của mình.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DAGhZtfsRKM</dc:identifier>
  <dcterms:modified xsi:type="dcterms:W3CDTF">2011-08-01T06:04:30Z</dcterms:modified>
  <cp:revision>1</cp:revision>
  <dc:title>Công nghệ trong Doanh nghiệp và tại Nơi làm việc Bản thuyết trình công nghệ với Màu tím Xanh mòng két Phong cách Minh hoạ</dc:title>
</cp:coreProperties>
</file>