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Lst>
  <p:sldSz cx="18288000" cy="10287000"/>
  <p:notesSz cx="6858000" cy="9144000"/>
  <p:embeddedFontLst>
    <p:embeddedFont>
      <p:font typeface="Cabin Bold" charset="1" panose="00000800000000000000"/>
      <p:regular r:id="rId82"/>
    </p:embeddedFont>
    <p:embeddedFont>
      <p:font typeface="Asap" charset="1" panose="020F0504030202060203"/>
      <p:regular r:id="rId83"/>
    </p:embeddedFont>
    <p:embeddedFont>
      <p:font typeface="Asap Bold" charset="1" panose="020F0804030202060203"/>
      <p:regular r:id="rId84"/>
    </p:embeddedFont>
    <p:embeddedFont>
      <p:font typeface="Cabin" charset="1" panose="00000500000000000000"/>
      <p:regular r:id="rId85"/>
    </p:embeddedFont>
    <p:embeddedFont>
      <p:font typeface="Cabin Medium" charset="1" panose="00000600000000000000"/>
      <p:regular r:id="rId8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slides/slide74.xml" Type="http://schemas.openxmlformats.org/officeDocument/2006/relationships/slide"/><Relationship Id="rId8" Target="slides/slide3.xml" Type="http://schemas.openxmlformats.org/officeDocument/2006/relationships/slide"/><Relationship Id="rId80" Target="slides/slide75.xml" Type="http://schemas.openxmlformats.org/officeDocument/2006/relationships/slide"/><Relationship Id="rId81" Target="slides/slide76.xml" Type="http://schemas.openxmlformats.org/officeDocument/2006/relationships/slide"/><Relationship Id="rId82" Target="fonts/font82.fntdata" Type="http://schemas.openxmlformats.org/officeDocument/2006/relationships/font"/><Relationship Id="rId83" Target="fonts/font83.fntdata" Type="http://schemas.openxmlformats.org/officeDocument/2006/relationships/font"/><Relationship Id="rId84" Target="fonts/font84.fntdata" Type="http://schemas.openxmlformats.org/officeDocument/2006/relationships/font"/><Relationship Id="rId85" Target="fonts/font85.fntdata" Type="http://schemas.openxmlformats.org/officeDocument/2006/relationships/font"/><Relationship Id="rId86" Target="fonts/font86.fntdata" Type="http://schemas.openxmlformats.org/officeDocument/2006/relationships/font"/><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48.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49.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50.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51.png" Type="http://schemas.openxmlformats.org/officeDocument/2006/relationships/image"/><Relationship Id="rId5" Target="../media/image52.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53.png" Type="http://schemas.openxmlformats.org/officeDocument/2006/relationships/image"/><Relationship Id="rId5" Target="../media/image54.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55.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56.png" Type="http://schemas.openxmlformats.org/officeDocument/2006/relationships/image"/><Relationship Id="rId5" Target="../media/image57.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58.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59.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60.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61.png" Type="http://schemas.openxmlformats.org/officeDocument/2006/relationships/image"/><Relationship Id="rId5" Target="../media/image62.png" Type="http://schemas.openxmlformats.org/officeDocument/2006/relationships/image"/><Relationship Id="rId6" Target="../media/image63.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64.png" Type="http://schemas.openxmlformats.org/officeDocument/2006/relationships/image"/><Relationship Id="rId5" Target="../media/image65.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6.png" Type="http://schemas.openxmlformats.org/officeDocument/2006/relationships/image"/><Relationship Id="rId3" Target="../media/image67.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9.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70.png" Type="http://schemas.openxmlformats.org/officeDocument/2006/relationships/image"/><Relationship Id="rId5" Target="../media/image71.png" Type="http://schemas.openxmlformats.org/officeDocument/2006/relationships/image"/><Relationship Id="rId6" Target="../media/image72.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73.png" Type="http://schemas.openxmlformats.org/officeDocument/2006/relationships/image"/><Relationship Id="rId5" Target="../media/image74.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75.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76.pn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77.pn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78.pn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79.png" Type="http://schemas.openxmlformats.org/officeDocument/2006/relationships/image"/><Relationship Id="rId5" Target="../media/image80.png" Type="http://schemas.openxmlformats.org/officeDocument/2006/relationships/image"/><Relationship Id="rId6" Target="../media/image81.png" Type="http://schemas.openxmlformats.org/officeDocument/2006/relationships/image"/><Relationship Id="rId7" Target="../media/image82.png" Type="http://schemas.openxmlformats.org/officeDocument/2006/relationships/image"/><Relationship Id="rId8" Target="../media/image83.sv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84.png" Type="http://schemas.openxmlformats.org/officeDocument/2006/relationships/image"/></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85.png" Type="http://schemas.openxmlformats.org/officeDocument/2006/relationships/image"/></Relationships>
</file>

<file path=ppt/slides/_rels/slide7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86.pn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s>
</file>

<file path=ppt/slides/_rels/slide7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87.png" Type="http://schemas.openxmlformats.org/officeDocument/2006/relationships/image"/></Relationships>
</file>

<file path=ppt/slides/_rels/slide7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2.png" Type="http://schemas.openxmlformats.org/officeDocument/2006/relationships/image"/><Relationship Id="rId11" Target="../media/image93.svg" Type="http://schemas.openxmlformats.org/officeDocument/2006/relationships/image"/><Relationship Id="rId12" Target="../media/image94.png" Type="http://schemas.openxmlformats.org/officeDocument/2006/relationships/image"/><Relationship Id="rId13" Target="../media/image95.svg" Type="http://schemas.openxmlformats.org/officeDocument/2006/relationships/image"/><Relationship Id="rId14" Target="../media/image96.png" Type="http://schemas.openxmlformats.org/officeDocument/2006/relationships/image"/><Relationship Id="rId15" Target="../media/image97.svg" Type="http://schemas.openxmlformats.org/officeDocument/2006/relationships/image"/><Relationship Id="rId16" Target="../media/image82.png" Type="http://schemas.openxmlformats.org/officeDocument/2006/relationships/image"/><Relationship Id="rId17" Target="../media/image83.svg" Type="http://schemas.openxmlformats.org/officeDocument/2006/relationships/image"/><Relationship Id="rId2" Target="../media/image88.png" Type="http://schemas.openxmlformats.org/officeDocument/2006/relationships/image"/><Relationship Id="rId3" Target="../media/image89.svg" Type="http://schemas.openxmlformats.org/officeDocument/2006/relationships/image"/><Relationship Id="rId4" Target="../media/image90.png" Type="http://schemas.openxmlformats.org/officeDocument/2006/relationships/image"/><Relationship Id="rId5" Target="../media/image91.svg" Type="http://schemas.openxmlformats.org/officeDocument/2006/relationships/image"/><Relationship Id="rId6" Target="../media/image46.png" Type="http://schemas.openxmlformats.org/officeDocument/2006/relationships/image"/><Relationship Id="rId7" Target="../media/image47.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3237922" y="2206274"/>
            <a:ext cx="828261" cy="414130"/>
          </a:xfrm>
          <a:custGeom>
            <a:avLst/>
            <a:gdLst/>
            <a:ahLst/>
            <a:cxnLst/>
            <a:rect r="r" b="b" t="t" l="l"/>
            <a:pathLst>
              <a:path h="414130" w="828261">
                <a:moveTo>
                  <a:pt x="0" y="0"/>
                </a:moveTo>
                <a:lnTo>
                  <a:pt x="828261" y="0"/>
                </a:lnTo>
                <a:lnTo>
                  <a:pt x="828261" y="414130"/>
                </a:lnTo>
                <a:lnTo>
                  <a:pt x="0" y="414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237922" y="6106954"/>
            <a:ext cx="828261" cy="414130"/>
          </a:xfrm>
          <a:custGeom>
            <a:avLst/>
            <a:gdLst/>
            <a:ahLst/>
            <a:cxnLst/>
            <a:rect r="r" b="b" t="t" l="l"/>
            <a:pathLst>
              <a:path h="414130" w="828261">
                <a:moveTo>
                  <a:pt x="0" y="0"/>
                </a:moveTo>
                <a:lnTo>
                  <a:pt x="828261" y="0"/>
                </a:lnTo>
                <a:lnTo>
                  <a:pt x="828261" y="414131"/>
                </a:lnTo>
                <a:lnTo>
                  <a:pt x="0" y="414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826493" y="3532341"/>
            <a:ext cx="8061073" cy="2781679"/>
          </a:xfrm>
          <a:prstGeom prst="rect">
            <a:avLst/>
          </a:prstGeom>
        </p:spPr>
        <p:txBody>
          <a:bodyPr anchor="t" rtlCol="false" tIns="0" lIns="0" bIns="0" rIns="0">
            <a:spAutoFit/>
          </a:bodyPr>
          <a:lstStyle/>
          <a:p>
            <a:pPr algn="ctr">
              <a:lnSpc>
                <a:spcPts val="12758"/>
              </a:lnSpc>
            </a:pPr>
            <a:r>
              <a:rPr lang="en-US" sz="10999" b="true">
                <a:solidFill>
                  <a:srgbClr val="15130D"/>
                </a:solidFill>
                <a:latin typeface="Cabin Bold"/>
                <a:ea typeface="Cabin Bold"/>
                <a:cs typeface="Cabin Bold"/>
                <a:sym typeface="Cabin Bold"/>
              </a:rPr>
              <a:t>CONTROLS</a:t>
            </a:r>
          </a:p>
          <a:p>
            <a:pPr algn="ctr">
              <a:lnSpc>
                <a:spcPts val="9163"/>
              </a:lnSpc>
            </a:pPr>
          </a:p>
        </p:txBody>
      </p:sp>
      <p:sp>
        <p:nvSpPr>
          <p:cNvPr name="TextBox 5" id="5"/>
          <p:cNvSpPr txBox="true"/>
          <p:nvPr/>
        </p:nvSpPr>
        <p:spPr>
          <a:xfrm rot="0">
            <a:off x="10891865" y="7208673"/>
            <a:ext cx="5520376" cy="523875"/>
          </a:xfrm>
          <a:prstGeom prst="rect">
            <a:avLst/>
          </a:prstGeom>
        </p:spPr>
        <p:txBody>
          <a:bodyPr anchor="t" rtlCol="false" tIns="0" lIns="0" bIns="0" rIns="0">
            <a:spAutoFit/>
          </a:bodyPr>
          <a:lstStyle/>
          <a:p>
            <a:pPr algn="ctr">
              <a:lnSpc>
                <a:spcPts val="4080"/>
              </a:lnSpc>
            </a:pPr>
            <a:r>
              <a:rPr lang="en-US" sz="3400">
                <a:solidFill>
                  <a:srgbClr val="15130D"/>
                </a:solidFill>
                <a:latin typeface="Asap"/>
                <a:ea typeface="Asap"/>
                <a:cs typeface="Asap"/>
                <a:sym typeface="Asap"/>
              </a:rPr>
              <a:t>Các điều khiển giao diện</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4141659" y="3495767"/>
            <a:ext cx="11460481" cy="523875"/>
          </a:xfrm>
          <a:prstGeom prst="rect">
            <a:avLst/>
          </a:prstGeom>
        </p:spPr>
        <p:txBody>
          <a:bodyPr anchor="t" rtlCol="false" tIns="0" lIns="0" bIns="0" rIns="0">
            <a:spAutoFit/>
          </a:bodyPr>
          <a:lstStyle/>
          <a:p>
            <a:pPr algn="ctr">
              <a:lnSpc>
                <a:spcPts val="4079"/>
              </a:lnSpc>
            </a:pPr>
            <a:r>
              <a:rPr lang="en-US" b="true" sz="3399">
                <a:solidFill>
                  <a:srgbClr val="15130D"/>
                </a:solidFill>
                <a:latin typeface="Asap Bold"/>
                <a:ea typeface="Asap Bold"/>
                <a:cs typeface="Asap Bold"/>
                <a:sym typeface="Asap Bold"/>
              </a:rPr>
              <a:t>I.Thiết kế đầu vào (Input Design) &amp; Đầu ra (Output Design)</a:t>
            </a:r>
          </a:p>
        </p:txBody>
      </p:sp>
      <p:sp>
        <p:nvSpPr>
          <p:cNvPr name="TextBox 3" id="3"/>
          <p:cNvSpPr txBox="true"/>
          <p:nvPr/>
        </p:nvSpPr>
        <p:spPr>
          <a:xfrm rot="0">
            <a:off x="2870573" y="1019175"/>
            <a:ext cx="12565905" cy="1228725"/>
          </a:xfrm>
          <a:prstGeom prst="rect">
            <a:avLst/>
          </a:prstGeom>
        </p:spPr>
        <p:txBody>
          <a:bodyPr anchor="t" rtlCol="false" tIns="0" lIns="0" bIns="0" rIns="0">
            <a:spAutoFit/>
          </a:bodyPr>
          <a:lstStyle/>
          <a:p>
            <a:pPr algn="ctr" marL="0" indent="0" lvl="0">
              <a:lnSpc>
                <a:spcPts val="9600"/>
              </a:lnSpc>
              <a:spcBef>
                <a:spcPct val="0"/>
              </a:spcBef>
            </a:pPr>
            <a:r>
              <a:rPr lang="en-US" b="true" sz="8000">
                <a:solidFill>
                  <a:srgbClr val="15130D"/>
                </a:solidFill>
                <a:latin typeface="Cabin Bold"/>
                <a:ea typeface="Cabin Bold"/>
                <a:cs typeface="Cabin Bold"/>
                <a:sym typeface="Cabin Bold"/>
              </a:rPr>
              <a:t>NỘI DUNG</a:t>
            </a:r>
          </a:p>
        </p:txBody>
      </p:sp>
      <p:sp>
        <p:nvSpPr>
          <p:cNvPr name="AutoShape 4" id="4"/>
          <p:cNvSpPr/>
          <p:nvPr/>
        </p:nvSpPr>
        <p:spPr>
          <a:xfrm>
            <a:off x="3501353" y="3118122"/>
            <a:ext cx="19050" cy="3084989"/>
          </a:xfrm>
          <a:prstGeom prst="line">
            <a:avLst/>
          </a:prstGeom>
          <a:ln cap="rnd" w="76200">
            <a:solidFill>
              <a:srgbClr val="15130D"/>
            </a:solidFill>
            <a:prstDash val="solid"/>
            <a:headEnd type="none" len="sm" w="sm"/>
            <a:tailEnd type="none" len="sm" w="sm"/>
          </a:ln>
        </p:spPr>
      </p:sp>
      <p:grpSp>
        <p:nvGrpSpPr>
          <p:cNvPr name="Group 5" id="5"/>
          <p:cNvGrpSpPr/>
          <p:nvPr/>
        </p:nvGrpSpPr>
        <p:grpSpPr>
          <a:xfrm rot="0">
            <a:off x="2861048" y="3118122"/>
            <a:ext cx="1280612" cy="1288691"/>
            <a:chOff x="0" y="0"/>
            <a:chExt cx="812800" cy="817928"/>
          </a:xfrm>
        </p:grpSpPr>
        <p:sp>
          <p:nvSpPr>
            <p:cNvPr name="Freeform 6" id="6"/>
            <p:cNvSpPr/>
            <p:nvPr/>
          </p:nvSpPr>
          <p:spPr>
            <a:xfrm flipH="false" flipV="false" rot="0">
              <a:off x="0" y="0"/>
              <a:ext cx="812800" cy="817928"/>
            </a:xfrm>
            <a:custGeom>
              <a:avLst/>
              <a:gdLst/>
              <a:ahLst/>
              <a:cxnLst/>
              <a:rect r="r" b="b" t="t" l="l"/>
              <a:pathLst>
                <a:path h="817928" w="812800">
                  <a:moveTo>
                    <a:pt x="406400" y="0"/>
                  </a:moveTo>
                  <a:cubicBezTo>
                    <a:pt x="181951" y="0"/>
                    <a:pt x="0" y="183099"/>
                    <a:pt x="0" y="408964"/>
                  </a:cubicBezTo>
                  <a:cubicBezTo>
                    <a:pt x="0" y="634828"/>
                    <a:pt x="181951" y="817928"/>
                    <a:pt x="406400" y="817928"/>
                  </a:cubicBezTo>
                  <a:cubicBezTo>
                    <a:pt x="630849" y="817928"/>
                    <a:pt x="812800" y="634828"/>
                    <a:pt x="812800" y="408964"/>
                  </a:cubicBezTo>
                  <a:cubicBezTo>
                    <a:pt x="812800" y="183099"/>
                    <a:pt x="630849" y="0"/>
                    <a:pt x="406400" y="0"/>
                  </a:cubicBezTo>
                  <a:close/>
                </a:path>
              </a:pathLst>
            </a:custGeom>
            <a:solidFill>
              <a:srgbClr val="FFAE00"/>
            </a:solidFill>
          </p:spPr>
        </p:sp>
        <p:sp>
          <p:nvSpPr>
            <p:cNvPr name="TextBox 7" id="7"/>
            <p:cNvSpPr txBox="true"/>
            <p:nvPr/>
          </p:nvSpPr>
          <p:spPr>
            <a:xfrm>
              <a:off x="76200" y="171931"/>
              <a:ext cx="660400" cy="569316"/>
            </a:xfrm>
            <a:prstGeom prst="rect">
              <a:avLst/>
            </a:prstGeom>
          </p:spPr>
          <p:txBody>
            <a:bodyPr anchor="ctr" rtlCol="false" tIns="0" lIns="0" bIns="0" rIns="0"/>
            <a:lstStyle/>
            <a:p>
              <a:pPr algn="ctr">
                <a:lnSpc>
                  <a:spcPts val="5000"/>
                </a:lnSpc>
              </a:pPr>
              <a:r>
                <a:rPr lang="en-US" sz="5000">
                  <a:solidFill>
                    <a:srgbClr val="000000"/>
                  </a:solidFill>
                  <a:latin typeface="Cabin"/>
                  <a:ea typeface="Cabin"/>
                  <a:cs typeface="Cabin"/>
                  <a:sym typeface="Cabin"/>
                </a:rPr>
                <a:t>1</a:t>
              </a:r>
            </a:p>
          </p:txBody>
        </p:sp>
      </p:grpSp>
      <p:grpSp>
        <p:nvGrpSpPr>
          <p:cNvPr name="Group 8" id="8"/>
          <p:cNvGrpSpPr/>
          <p:nvPr/>
        </p:nvGrpSpPr>
        <p:grpSpPr>
          <a:xfrm rot="0">
            <a:off x="2880098" y="4914420"/>
            <a:ext cx="1280612" cy="1288691"/>
            <a:chOff x="0" y="0"/>
            <a:chExt cx="812800" cy="817928"/>
          </a:xfrm>
        </p:grpSpPr>
        <p:sp>
          <p:nvSpPr>
            <p:cNvPr name="Freeform 9" id="9"/>
            <p:cNvSpPr/>
            <p:nvPr/>
          </p:nvSpPr>
          <p:spPr>
            <a:xfrm flipH="false" flipV="false" rot="0">
              <a:off x="0" y="0"/>
              <a:ext cx="812800" cy="817928"/>
            </a:xfrm>
            <a:custGeom>
              <a:avLst/>
              <a:gdLst/>
              <a:ahLst/>
              <a:cxnLst/>
              <a:rect r="r" b="b" t="t" l="l"/>
              <a:pathLst>
                <a:path h="817928" w="812800">
                  <a:moveTo>
                    <a:pt x="406400" y="0"/>
                  </a:moveTo>
                  <a:cubicBezTo>
                    <a:pt x="181951" y="0"/>
                    <a:pt x="0" y="183099"/>
                    <a:pt x="0" y="408964"/>
                  </a:cubicBezTo>
                  <a:cubicBezTo>
                    <a:pt x="0" y="634828"/>
                    <a:pt x="181951" y="817928"/>
                    <a:pt x="406400" y="817928"/>
                  </a:cubicBezTo>
                  <a:cubicBezTo>
                    <a:pt x="630849" y="817928"/>
                    <a:pt x="812800" y="634828"/>
                    <a:pt x="812800" y="408964"/>
                  </a:cubicBezTo>
                  <a:cubicBezTo>
                    <a:pt x="812800" y="183099"/>
                    <a:pt x="630849" y="0"/>
                    <a:pt x="406400" y="0"/>
                  </a:cubicBezTo>
                  <a:close/>
                </a:path>
              </a:pathLst>
            </a:custGeom>
            <a:solidFill>
              <a:srgbClr val="7D9E3F"/>
            </a:solidFill>
          </p:spPr>
        </p:sp>
        <p:sp>
          <p:nvSpPr>
            <p:cNvPr name="TextBox 10" id="10"/>
            <p:cNvSpPr txBox="true"/>
            <p:nvPr/>
          </p:nvSpPr>
          <p:spPr>
            <a:xfrm>
              <a:off x="76200" y="171931"/>
              <a:ext cx="660400" cy="569316"/>
            </a:xfrm>
            <a:prstGeom prst="rect">
              <a:avLst/>
            </a:prstGeom>
          </p:spPr>
          <p:txBody>
            <a:bodyPr anchor="ctr" rtlCol="false" tIns="0" lIns="0" bIns="0" rIns="0"/>
            <a:lstStyle/>
            <a:p>
              <a:pPr algn="ctr">
                <a:lnSpc>
                  <a:spcPts val="5000"/>
                </a:lnSpc>
              </a:pPr>
              <a:r>
                <a:rPr lang="en-US" sz="5000">
                  <a:solidFill>
                    <a:srgbClr val="000000"/>
                  </a:solidFill>
                  <a:latin typeface="Cabin"/>
                  <a:ea typeface="Cabin"/>
                  <a:cs typeface="Cabin"/>
                  <a:sym typeface="Cabin"/>
                </a:rPr>
                <a:t>2</a:t>
              </a:r>
            </a:p>
          </p:txBody>
        </p:sp>
      </p:grpSp>
      <p:sp>
        <p:nvSpPr>
          <p:cNvPr name="TextBox 11" id="11"/>
          <p:cNvSpPr txBox="true"/>
          <p:nvPr/>
        </p:nvSpPr>
        <p:spPr>
          <a:xfrm rot="0">
            <a:off x="4384487" y="5292065"/>
            <a:ext cx="7067312" cy="523875"/>
          </a:xfrm>
          <a:prstGeom prst="rect">
            <a:avLst/>
          </a:prstGeom>
        </p:spPr>
        <p:txBody>
          <a:bodyPr anchor="t" rtlCol="false" tIns="0" lIns="0" bIns="0" rIns="0">
            <a:spAutoFit/>
          </a:bodyPr>
          <a:lstStyle/>
          <a:p>
            <a:pPr algn="ctr">
              <a:lnSpc>
                <a:spcPts val="4079"/>
              </a:lnSpc>
              <a:spcBef>
                <a:spcPct val="0"/>
              </a:spcBef>
            </a:pPr>
            <a:r>
              <a:rPr lang="en-US" b="true" sz="3399">
                <a:solidFill>
                  <a:srgbClr val="15130D"/>
                </a:solidFill>
                <a:latin typeface="Asap Bold"/>
                <a:ea typeface="Asap Bold"/>
                <a:cs typeface="Asap Bold"/>
                <a:sym typeface="Asap Bold"/>
              </a:rPr>
              <a:t>II.Controls (Các điều khiển giao diện):</a:t>
            </a:r>
          </a:p>
        </p:txBody>
      </p:sp>
      <p:sp>
        <p:nvSpPr>
          <p:cNvPr name="TextBox 12" id="12"/>
          <p:cNvSpPr txBox="true"/>
          <p:nvPr/>
        </p:nvSpPr>
        <p:spPr>
          <a:xfrm rot="0">
            <a:off x="5094755" y="7254048"/>
            <a:ext cx="5684877" cy="523875"/>
          </a:xfrm>
          <a:prstGeom prst="rect">
            <a:avLst/>
          </a:prstGeom>
        </p:spPr>
        <p:txBody>
          <a:bodyPr anchor="t" rtlCol="false" tIns="0" lIns="0" bIns="0" rIns="0">
            <a:spAutoFit/>
          </a:bodyPr>
          <a:lstStyle/>
          <a:p>
            <a:pPr algn="ctr">
              <a:lnSpc>
                <a:spcPts val="4079"/>
              </a:lnSpc>
              <a:spcBef>
                <a:spcPct val="0"/>
              </a:spcBef>
            </a:pPr>
            <a:r>
              <a:rPr lang="en-US" b="true" sz="3399">
                <a:solidFill>
                  <a:srgbClr val="000000"/>
                </a:solidFill>
                <a:latin typeface="Asap Bold"/>
                <a:ea typeface="Asap Bold"/>
                <a:cs typeface="Asap Bold"/>
                <a:sym typeface="Asap Bold"/>
              </a:rPr>
              <a:t>2.Một số loại control phổ biến</a:t>
            </a:r>
          </a:p>
        </p:txBody>
      </p:sp>
      <p:sp>
        <p:nvSpPr>
          <p:cNvPr name="TextBox 13" id="13"/>
          <p:cNvSpPr txBox="true"/>
          <p:nvPr/>
        </p:nvSpPr>
        <p:spPr>
          <a:xfrm rot="0">
            <a:off x="5094755" y="8172991"/>
            <a:ext cx="5319593" cy="523875"/>
          </a:xfrm>
          <a:prstGeom prst="rect">
            <a:avLst/>
          </a:prstGeom>
        </p:spPr>
        <p:txBody>
          <a:bodyPr anchor="t" rtlCol="false" tIns="0" lIns="0" bIns="0" rIns="0">
            <a:spAutoFit/>
          </a:bodyPr>
          <a:lstStyle/>
          <a:p>
            <a:pPr algn="ctr">
              <a:lnSpc>
                <a:spcPts val="4079"/>
              </a:lnSpc>
              <a:spcBef>
                <a:spcPct val="0"/>
              </a:spcBef>
            </a:pPr>
            <a:r>
              <a:rPr lang="en-US" b="true" sz="3399">
                <a:solidFill>
                  <a:srgbClr val="000000"/>
                </a:solidFill>
                <a:latin typeface="Asap Bold"/>
                <a:ea typeface="Asap Bold"/>
                <a:cs typeface="Asap Bold"/>
                <a:sym typeface="Asap Bold"/>
              </a:rPr>
              <a:t>3.Control do người dùng tạo</a:t>
            </a:r>
          </a:p>
        </p:txBody>
      </p:sp>
      <p:sp>
        <p:nvSpPr>
          <p:cNvPr name="TextBox 14" id="14"/>
          <p:cNvSpPr txBox="true"/>
          <p:nvPr/>
        </p:nvSpPr>
        <p:spPr>
          <a:xfrm rot="0">
            <a:off x="5094755" y="6336766"/>
            <a:ext cx="2163961" cy="523875"/>
          </a:xfrm>
          <a:prstGeom prst="rect">
            <a:avLst/>
          </a:prstGeom>
        </p:spPr>
        <p:txBody>
          <a:bodyPr anchor="t" rtlCol="false" tIns="0" lIns="0" bIns="0" rIns="0">
            <a:spAutoFit/>
          </a:bodyPr>
          <a:lstStyle/>
          <a:p>
            <a:pPr algn="ctr">
              <a:lnSpc>
                <a:spcPts val="4079"/>
              </a:lnSpc>
              <a:spcBef>
                <a:spcPct val="0"/>
              </a:spcBef>
            </a:pPr>
            <a:r>
              <a:rPr lang="en-US" b="true" sz="3399">
                <a:solidFill>
                  <a:srgbClr val="000000"/>
                </a:solidFill>
                <a:latin typeface="Asap Bold"/>
                <a:ea typeface="Asap Bold"/>
                <a:cs typeface="Asap Bold"/>
                <a:sym typeface="Asap Bold"/>
              </a:rPr>
              <a:t>1.Giới thiệu</a:t>
            </a:r>
          </a:p>
        </p:txBody>
      </p:sp>
      <p:grpSp>
        <p:nvGrpSpPr>
          <p:cNvPr name="Group 15" id="15"/>
          <p:cNvGrpSpPr/>
          <p:nvPr/>
        </p:nvGrpSpPr>
        <p:grpSpPr>
          <a:xfrm rot="0">
            <a:off x="4307579" y="6346291"/>
            <a:ext cx="640306" cy="644379"/>
            <a:chOff x="0" y="0"/>
            <a:chExt cx="812800" cy="817970"/>
          </a:xfrm>
        </p:grpSpPr>
        <p:sp>
          <p:nvSpPr>
            <p:cNvPr name="Freeform 16" id="16"/>
            <p:cNvSpPr/>
            <p:nvPr/>
          </p:nvSpPr>
          <p:spPr>
            <a:xfrm flipH="false" flipV="false" rot="0">
              <a:off x="0" y="0"/>
              <a:ext cx="812800" cy="817970"/>
            </a:xfrm>
            <a:custGeom>
              <a:avLst/>
              <a:gdLst/>
              <a:ahLst/>
              <a:cxnLst/>
              <a:rect r="r" b="b" t="t" l="l"/>
              <a:pathLst>
                <a:path h="817970" w="812800">
                  <a:moveTo>
                    <a:pt x="406400" y="0"/>
                  </a:moveTo>
                  <a:cubicBezTo>
                    <a:pt x="181951" y="0"/>
                    <a:pt x="0" y="183109"/>
                    <a:pt x="0" y="408985"/>
                  </a:cubicBezTo>
                  <a:cubicBezTo>
                    <a:pt x="0" y="634861"/>
                    <a:pt x="181951" y="817970"/>
                    <a:pt x="406400" y="817970"/>
                  </a:cubicBezTo>
                  <a:cubicBezTo>
                    <a:pt x="630849" y="817970"/>
                    <a:pt x="812800" y="634861"/>
                    <a:pt x="812800" y="408985"/>
                  </a:cubicBezTo>
                  <a:cubicBezTo>
                    <a:pt x="812800" y="183109"/>
                    <a:pt x="630849" y="0"/>
                    <a:pt x="406400" y="0"/>
                  </a:cubicBezTo>
                  <a:close/>
                </a:path>
              </a:pathLst>
            </a:custGeom>
            <a:solidFill>
              <a:srgbClr val="7D9E3F"/>
            </a:solidFill>
          </p:spPr>
        </p:sp>
        <p:sp>
          <p:nvSpPr>
            <p:cNvPr name="TextBox 17" id="17"/>
            <p:cNvSpPr txBox="true"/>
            <p:nvPr/>
          </p:nvSpPr>
          <p:spPr>
            <a:xfrm>
              <a:off x="76200" y="171935"/>
              <a:ext cx="660400" cy="569351"/>
            </a:xfrm>
            <a:prstGeom prst="rect">
              <a:avLst/>
            </a:prstGeom>
          </p:spPr>
          <p:txBody>
            <a:bodyPr anchor="ctr" rtlCol="false" tIns="0" lIns="0" bIns="0" rIns="0"/>
            <a:lstStyle/>
            <a:p>
              <a:pPr algn="ctr">
                <a:lnSpc>
                  <a:spcPts val="5000"/>
                </a:lnSpc>
              </a:pPr>
            </a:p>
          </p:txBody>
        </p:sp>
      </p:grpSp>
      <p:grpSp>
        <p:nvGrpSpPr>
          <p:cNvPr name="Group 18" id="18"/>
          <p:cNvGrpSpPr/>
          <p:nvPr/>
        </p:nvGrpSpPr>
        <p:grpSpPr>
          <a:xfrm rot="0">
            <a:off x="4307579" y="7198559"/>
            <a:ext cx="640306" cy="644379"/>
            <a:chOff x="0" y="0"/>
            <a:chExt cx="812800" cy="817970"/>
          </a:xfrm>
        </p:grpSpPr>
        <p:sp>
          <p:nvSpPr>
            <p:cNvPr name="Freeform 19" id="19"/>
            <p:cNvSpPr/>
            <p:nvPr/>
          </p:nvSpPr>
          <p:spPr>
            <a:xfrm flipH="false" flipV="false" rot="0">
              <a:off x="0" y="0"/>
              <a:ext cx="812800" cy="817970"/>
            </a:xfrm>
            <a:custGeom>
              <a:avLst/>
              <a:gdLst/>
              <a:ahLst/>
              <a:cxnLst/>
              <a:rect r="r" b="b" t="t" l="l"/>
              <a:pathLst>
                <a:path h="817970" w="812800">
                  <a:moveTo>
                    <a:pt x="406400" y="0"/>
                  </a:moveTo>
                  <a:cubicBezTo>
                    <a:pt x="181951" y="0"/>
                    <a:pt x="0" y="183109"/>
                    <a:pt x="0" y="408985"/>
                  </a:cubicBezTo>
                  <a:cubicBezTo>
                    <a:pt x="0" y="634861"/>
                    <a:pt x="181951" y="817970"/>
                    <a:pt x="406400" y="817970"/>
                  </a:cubicBezTo>
                  <a:cubicBezTo>
                    <a:pt x="630849" y="817970"/>
                    <a:pt x="812800" y="634861"/>
                    <a:pt x="812800" y="408985"/>
                  </a:cubicBezTo>
                  <a:cubicBezTo>
                    <a:pt x="812800" y="183109"/>
                    <a:pt x="630849" y="0"/>
                    <a:pt x="406400" y="0"/>
                  </a:cubicBezTo>
                  <a:close/>
                </a:path>
              </a:pathLst>
            </a:custGeom>
            <a:solidFill>
              <a:srgbClr val="7D9E3F"/>
            </a:solidFill>
          </p:spPr>
        </p:sp>
        <p:sp>
          <p:nvSpPr>
            <p:cNvPr name="TextBox 20" id="20"/>
            <p:cNvSpPr txBox="true"/>
            <p:nvPr/>
          </p:nvSpPr>
          <p:spPr>
            <a:xfrm>
              <a:off x="76200" y="171935"/>
              <a:ext cx="660400" cy="569351"/>
            </a:xfrm>
            <a:prstGeom prst="rect">
              <a:avLst/>
            </a:prstGeom>
          </p:spPr>
          <p:txBody>
            <a:bodyPr anchor="ctr" rtlCol="false" tIns="0" lIns="0" bIns="0" rIns="0"/>
            <a:lstStyle/>
            <a:p>
              <a:pPr algn="ctr">
                <a:lnSpc>
                  <a:spcPts val="5000"/>
                </a:lnSpc>
              </a:pPr>
            </a:p>
          </p:txBody>
        </p:sp>
      </p:grpSp>
      <p:grpSp>
        <p:nvGrpSpPr>
          <p:cNvPr name="Group 21" id="21"/>
          <p:cNvGrpSpPr/>
          <p:nvPr/>
        </p:nvGrpSpPr>
        <p:grpSpPr>
          <a:xfrm rot="0">
            <a:off x="4307579" y="8052487"/>
            <a:ext cx="640306" cy="644379"/>
            <a:chOff x="0" y="0"/>
            <a:chExt cx="812800" cy="817970"/>
          </a:xfrm>
        </p:grpSpPr>
        <p:sp>
          <p:nvSpPr>
            <p:cNvPr name="Freeform 22" id="22"/>
            <p:cNvSpPr/>
            <p:nvPr/>
          </p:nvSpPr>
          <p:spPr>
            <a:xfrm flipH="false" flipV="false" rot="0">
              <a:off x="0" y="0"/>
              <a:ext cx="812800" cy="817970"/>
            </a:xfrm>
            <a:custGeom>
              <a:avLst/>
              <a:gdLst/>
              <a:ahLst/>
              <a:cxnLst/>
              <a:rect r="r" b="b" t="t" l="l"/>
              <a:pathLst>
                <a:path h="817970" w="812800">
                  <a:moveTo>
                    <a:pt x="406400" y="0"/>
                  </a:moveTo>
                  <a:cubicBezTo>
                    <a:pt x="181951" y="0"/>
                    <a:pt x="0" y="183109"/>
                    <a:pt x="0" y="408985"/>
                  </a:cubicBezTo>
                  <a:cubicBezTo>
                    <a:pt x="0" y="634861"/>
                    <a:pt x="181951" y="817970"/>
                    <a:pt x="406400" y="817970"/>
                  </a:cubicBezTo>
                  <a:cubicBezTo>
                    <a:pt x="630849" y="817970"/>
                    <a:pt x="812800" y="634861"/>
                    <a:pt x="812800" y="408985"/>
                  </a:cubicBezTo>
                  <a:cubicBezTo>
                    <a:pt x="812800" y="183109"/>
                    <a:pt x="630849" y="0"/>
                    <a:pt x="406400" y="0"/>
                  </a:cubicBezTo>
                  <a:close/>
                </a:path>
              </a:pathLst>
            </a:custGeom>
            <a:solidFill>
              <a:srgbClr val="7D9E3F"/>
            </a:solidFill>
          </p:spPr>
        </p:sp>
        <p:sp>
          <p:nvSpPr>
            <p:cNvPr name="TextBox 23" id="23"/>
            <p:cNvSpPr txBox="true"/>
            <p:nvPr/>
          </p:nvSpPr>
          <p:spPr>
            <a:xfrm>
              <a:off x="76200" y="171935"/>
              <a:ext cx="660400" cy="569351"/>
            </a:xfrm>
            <a:prstGeom prst="rect">
              <a:avLst/>
            </a:prstGeom>
          </p:spPr>
          <p:txBody>
            <a:bodyPr anchor="ctr" rtlCol="false" tIns="0" lIns="0" bIns="0" rIns="0"/>
            <a:lstStyle/>
            <a:p>
              <a:pPr algn="ctr">
                <a:lnSpc>
                  <a:spcPts val="5000"/>
                </a:lnSpc>
              </a:pPr>
            </a:p>
          </p:txBody>
        </p:sp>
      </p:grpSp>
      <p:sp>
        <p:nvSpPr>
          <p:cNvPr name="AutoShape 24" id="24"/>
          <p:cNvSpPr/>
          <p:nvPr/>
        </p:nvSpPr>
        <p:spPr>
          <a:xfrm>
            <a:off x="3520403" y="6203110"/>
            <a:ext cx="787176" cy="1317638"/>
          </a:xfrm>
          <a:prstGeom prst="line">
            <a:avLst/>
          </a:prstGeom>
          <a:ln cap="flat" w="38100">
            <a:solidFill>
              <a:srgbClr val="15130D"/>
            </a:solidFill>
            <a:prstDash val="solid"/>
            <a:headEnd type="none" len="sm" w="sm"/>
            <a:tailEnd type="none" len="sm" w="sm"/>
          </a:ln>
        </p:spPr>
      </p:sp>
      <p:sp>
        <p:nvSpPr>
          <p:cNvPr name="AutoShape 25" id="25"/>
          <p:cNvSpPr/>
          <p:nvPr/>
        </p:nvSpPr>
        <p:spPr>
          <a:xfrm>
            <a:off x="3520403" y="6203110"/>
            <a:ext cx="787176" cy="465370"/>
          </a:xfrm>
          <a:prstGeom prst="line">
            <a:avLst/>
          </a:prstGeom>
          <a:ln cap="flat" w="38100">
            <a:solidFill>
              <a:srgbClr val="15130D"/>
            </a:solidFill>
            <a:prstDash val="solid"/>
            <a:headEnd type="none" len="sm" w="sm"/>
            <a:tailEnd type="none" len="sm" w="sm"/>
          </a:ln>
        </p:spPr>
      </p:sp>
      <p:sp>
        <p:nvSpPr>
          <p:cNvPr name="AutoShape 26" id="26"/>
          <p:cNvSpPr/>
          <p:nvPr/>
        </p:nvSpPr>
        <p:spPr>
          <a:xfrm>
            <a:off x="3520403" y="6203110"/>
            <a:ext cx="787176" cy="2171567"/>
          </a:xfrm>
          <a:prstGeom prst="line">
            <a:avLst/>
          </a:prstGeom>
          <a:ln cap="flat" w="38100">
            <a:solidFill>
              <a:srgbClr val="15130D"/>
            </a:solidFill>
            <a:prstDash val="solid"/>
            <a:headEnd type="none" len="sm" w="sm"/>
            <a:tailEnd type="none" len="sm" w="sm"/>
          </a:ln>
        </p:spPr>
      </p:sp>
    </p:spTree>
  </p:cSld>
  <p:clrMapOvr>
    <a:masterClrMapping/>
  </p:clrMapOvr>
  <p:transition spd="fast">
    <p:fade/>
  </p:transition>
</p:sld>
</file>

<file path=ppt/slides/slide3.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837670" y="1028700"/>
            <a:ext cx="16612661" cy="762000"/>
          </a:xfrm>
          <a:prstGeom prst="rect">
            <a:avLst/>
          </a:prstGeom>
        </p:spPr>
        <p:txBody>
          <a:bodyPr anchor="t" rtlCol="false" tIns="0" lIns="0" bIns="0" rIns="0">
            <a:spAutoFit/>
          </a:bodyPr>
          <a:lstStyle/>
          <a:p>
            <a:pPr algn="ctr" marL="0" indent="0" lvl="0">
              <a:lnSpc>
                <a:spcPts val="6000"/>
              </a:lnSpc>
              <a:spcBef>
                <a:spcPct val="0"/>
              </a:spcBef>
            </a:pPr>
            <a:r>
              <a:rPr lang="en-US" b="true" sz="5000">
                <a:solidFill>
                  <a:srgbClr val="15130D"/>
                </a:solidFill>
                <a:latin typeface="Cabin Bold"/>
                <a:ea typeface="Cabin Bold"/>
                <a:cs typeface="Cabin Bold"/>
                <a:sym typeface="Cabin Bold"/>
              </a:rPr>
              <a:t>I.Thiết kế đầu vào (Input Design) và đầu ra (Output Design)</a:t>
            </a:r>
          </a:p>
        </p:txBody>
      </p:sp>
      <p:sp>
        <p:nvSpPr>
          <p:cNvPr name="TextBox 3" id="3"/>
          <p:cNvSpPr txBox="true"/>
          <p:nvPr/>
        </p:nvSpPr>
        <p:spPr>
          <a:xfrm rot="0">
            <a:off x="1929349" y="2173605"/>
            <a:ext cx="12392918" cy="7661148"/>
          </a:xfrm>
          <a:prstGeom prst="rect">
            <a:avLst/>
          </a:prstGeom>
        </p:spPr>
        <p:txBody>
          <a:bodyPr anchor="t" rtlCol="false" tIns="0" lIns="0" bIns="0" rIns="0">
            <a:spAutoFit/>
          </a:bodyPr>
          <a:lstStyle/>
          <a:p>
            <a:pPr algn="l">
              <a:lnSpc>
                <a:spcPts val="5502"/>
              </a:lnSpc>
            </a:pPr>
            <a:r>
              <a:rPr lang="en-US" b="true" sz="4200">
                <a:solidFill>
                  <a:srgbClr val="000000"/>
                </a:solidFill>
                <a:latin typeface="Cabin Bold"/>
                <a:ea typeface="Cabin Bold"/>
                <a:cs typeface="Cabin Bold"/>
                <a:sym typeface="Cabin Bold"/>
              </a:rPr>
              <a:t>Thiết kế đầu vào:</a:t>
            </a:r>
          </a:p>
          <a:p>
            <a:pPr algn="l" marL="906780" indent="-453390" lvl="1">
              <a:lnSpc>
                <a:spcPts val="5502"/>
              </a:lnSpc>
              <a:buFont typeface="Arial"/>
              <a:buChar char="•"/>
            </a:pPr>
            <a:r>
              <a:rPr lang="en-US" sz="4200">
                <a:solidFill>
                  <a:srgbClr val="000000"/>
                </a:solidFill>
                <a:latin typeface="Cabin"/>
                <a:ea typeface="Cabin"/>
                <a:cs typeface="Cabin"/>
                <a:sym typeface="Cabin"/>
              </a:rPr>
              <a:t>Dữ liệu thực thể: Ví dụ: sách, khách hàng, sản phẩm.</a:t>
            </a:r>
          </a:p>
          <a:p>
            <a:pPr algn="l" marL="906780" indent="-453390" lvl="1">
              <a:lnSpc>
                <a:spcPts val="5502"/>
              </a:lnSpc>
              <a:buFont typeface="Arial"/>
              <a:buChar char="•"/>
            </a:pPr>
            <a:r>
              <a:rPr lang="en-US" sz="4200">
                <a:solidFill>
                  <a:srgbClr val="000000"/>
                </a:solidFill>
                <a:latin typeface="Cabin"/>
                <a:ea typeface="Cabin"/>
                <a:cs typeface="Cabin"/>
                <a:sym typeface="Cabin"/>
              </a:rPr>
              <a:t>Dữ liệu quan hệ: Ví dụ: mượn sách, đơn hàng.</a:t>
            </a:r>
          </a:p>
          <a:p>
            <a:pPr algn="l" marL="906780" indent="-453390" lvl="1">
              <a:lnSpc>
                <a:spcPts val="5502"/>
              </a:lnSpc>
              <a:buFont typeface="Arial"/>
              <a:buChar char="•"/>
            </a:pPr>
            <a:r>
              <a:rPr lang="en-US" sz="4200">
                <a:solidFill>
                  <a:srgbClr val="000000"/>
                </a:solidFill>
                <a:latin typeface="Cabin"/>
                <a:ea typeface="Cabin"/>
                <a:cs typeface="Cabin"/>
                <a:sym typeface="Cabin"/>
              </a:rPr>
              <a:t>Dữ liệu tìm kiếm.</a:t>
            </a:r>
          </a:p>
          <a:p>
            <a:pPr algn="l">
              <a:lnSpc>
                <a:spcPts val="5502"/>
              </a:lnSpc>
            </a:pPr>
          </a:p>
          <a:p>
            <a:pPr algn="l">
              <a:lnSpc>
                <a:spcPts val="5502"/>
              </a:lnSpc>
            </a:pPr>
            <a:r>
              <a:rPr lang="en-US" b="true" sz="4200">
                <a:solidFill>
                  <a:srgbClr val="000000"/>
                </a:solidFill>
                <a:latin typeface="Cabin Bold"/>
                <a:ea typeface="Cabin Bold"/>
                <a:cs typeface="Cabin Bold"/>
                <a:sym typeface="Cabin Bold"/>
              </a:rPr>
              <a:t>Thiết kế đầu ra:</a:t>
            </a:r>
          </a:p>
          <a:p>
            <a:pPr algn="l" marL="906780" indent="-453390" lvl="1">
              <a:lnSpc>
                <a:spcPts val="5502"/>
              </a:lnSpc>
              <a:buFont typeface="Arial"/>
              <a:buChar char="•"/>
            </a:pPr>
            <a:r>
              <a:rPr lang="en-US" sz="4200">
                <a:solidFill>
                  <a:srgbClr val="000000"/>
                </a:solidFill>
                <a:latin typeface="Cabin"/>
                <a:ea typeface="Cabin"/>
                <a:cs typeface="Cabin"/>
                <a:sym typeface="Cabin"/>
              </a:rPr>
              <a:t>Hiển thị trên màn hình.</a:t>
            </a:r>
          </a:p>
          <a:p>
            <a:pPr algn="l" marL="906780" indent="-453390" lvl="1">
              <a:lnSpc>
                <a:spcPts val="5502"/>
              </a:lnSpc>
              <a:buFont typeface="Arial"/>
              <a:buChar char="•"/>
            </a:pPr>
            <a:r>
              <a:rPr lang="en-US" sz="4200">
                <a:solidFill>
                  <a:srgbClr val="000000"/>
                </a:solidFill>
                <a:latin typeface="Cabin"/>
                <a:ea typeface="Cabin"/>
                <a:cs typeface="Cabin"/>
                <a:sym typeface="Cabin"/>
              </a:rPr>
              <a:t>In ấn báo cáo (Crystal Report, Jasper Report).</a:t>
            </a:r>
          </a:p>
          <a:p>
            <a:pPr algn="l" marL="906780" indent="-453390" lvl="1">
              <a:lnSpc>
                <a:spcPts val="5502"/>
              </a:lnSpc>
              <a:buFont typeface="Arial"/>
              <a:buChar char="•"/>
            </a:pPr>
            <a:r>
              <a:rPr lang="en-US" sz="4200">
                <a:solidFill>
                  <a:srgbClr val="000000"/>
                </a:solidFill>
                <a:latin typeface="Cabin"/>
                <a:ea typeface="Cabin"/>
                <a:cs typeface="Cabin"/>
                <a:sym typeface="Cabin"/>
              </a:rPr>
              <a:t>Xuất file (Excel, PDF).</a:t>
            </a:r>
          </a:p>
          <a:p>
            <a:pPr algn="l" marL="906780" indent="-453390" lvl="1">
              <a:lnSpc>
                <a:spcPts val="5502"/>
              </a:lnSpc>
              <a:buFont typeface="Arial"/>
              <a:buChar char="•"/>
            </a:pPr>
            <a:r>
              <a:rPr lang="en-US" sz="4200">
                <a:solidFill>
                  <a:srgbClr val="000000"/>
                </a:solidFill>
                <a:latin typeface="Cabin"/>
                <a:ea typeface="Cabin"/>
                <a:cs typeface="Cabin"/>
                <a:sym typeface="Cabin"/>
              </a:rPr>
              <a:t>Hiển thị kết quả tìm kiếm.</a:t>
            </a:r>
          </a:p>
          <a:p>
            <a:pPr algn="l">
              <a:lnSpc>
                <a:spcPts val="5880"/>
              </a:lnSpc>
            </a:pP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1486693" y="3210974"/>
            <a:ext cx="6300987" cy="6184302"/>
          </a:xfrm>
          <a:custGeom>
            <a:avLst/>
            <a:gdLst/>
            <a:ahLst/>
            <a:cxnLst/>
            <a:rect r="r" b="b" t="t" l="l"/>
            <a:pathLst>
              <a:path h="6184302" w="6300987">
                <a:moveTo>
                  <a:pt x="0" y="0"/>
                </a:moveTo>
                <a:lnTo>
                  <a:pt x="6300987" y="0"/>
                </a:lnTo>
                <a:lnTo>
                  <a:pt x="6300987" y="6184302"/>
                </a:lnTo>
                <a:lnTo>
                  <a:pt x="0" y="6184302"/>
                </a:lnTo>
                <a:lnTo>
                  <a:pt x="0" y="0"/>
                </a:lnTo>
                <a:close/>
              </a:path>
            </a:pathLst>
          </a:custGeom>
          <a:blipFill>
            <a:blip r:embed="rId2"/>
            <a:stretch>
              <a:fillRect l="0" t="0" r="0" b="0"/>
            </a:stretch>
          </a:blipFill>
        </p:spPr>
      </p:sp>
      <p:grpSp>
        <p:nvGrpSpPr>
          <p:cNvPr name="Group 3" id="3"/>
          <p:cNvGrpSpPr/>
          <p:nvPr/>
        </p:nvGrpSpPr>
        <p:grpSpPr>
          <a:xfrm rot="0">
            <a:off x="2932688" y="6862413"/>
            <a:ext cx="3408997" cy="1005840"/>
            <a:chOff x="0" y="0"/>
            <a:chExt cx="4545330" cy="1341120"/>
          </a:xfrm>
        </p:grpSpPr>
        <p:sp>
          <p:nvSpPr>
            <p:cNvPr name="Freeform 4" id="4"/>
            <p:cNvSpPr/>
            <p:nvPr/>
          </p:nvSpPr>
          <p:spPr>
            <a:xfrm flipH="false" flipV="false" rot="0">
              <a:off x="25400" y="40640"/>
              <a:ext cx="4472940" cy="1263650"/>
            </a:xfrm>
            <a:custGeom>
              <a:avLst/>
              <a:gdLst/>
              <a:ahLst/>
              <a:cxnLst/>
              <a:rect r="r" b="b" t="t" l="l"/>
              <a:pathLst>
                <a:path h="1263650" w="4472940">
                  <a:moveTo>
                    <a:pt x="231140" y="996950"/>
                  </a:moveTo>
                  <a:cubicBezTo>
                    <a:pt x="1054100" y="1002030"/>
                    <a:pt x="1107440" y="1005840"/>
                    <a:pt x="1236980" y="1019810"/>
                  </a:cubicBezTo>
                  <a:cubicBezTo>
                    <a:pt x="1466850" y="1045210"/>
                    <a:pt x="1916430" y="1122680"/>
                    <a:pt x="2189480" y="1153160"/>
                  </a:cubicBezTo>
                  <a:cubicBezTo>
                    <a:pt x="2395220" y="1176020"/>
                    <a:pt x="2545080" y="1189990"/>
                    <a:pt x="2729230" y="1197610"/>
                  </a:cubicBezTo>
                  <a:cubicBezTo>
                    <a:pt x="2923540" y="1206500"/>
                    <a:pt x="3163570" y="1214120"/>
                    <a:pt x="3328670" y="1198880"/>
                  </a:cubicBezTo>
                  <a:cubicBezTo>
                    <a:pt x="3446780" y="1187450"/>
                    <a:pt x="3554730" y="1150620"/>
                    <a:pt x="3632200" y="1143000"/>
                  </a:cubicBezTo>
                  <a:cubicBezTo>
                    <a:pt x="3679190" y="1137920"/>
                    <a:pt x="3698240" y="1144270"/>
                    <a:pt x="3746500" y="1139190"/>
                  </a:cubicBezTo>
                  <a:cubicBezTo>
                    <a:pt x="3836670" y="1127760"/>
                    <a:pt x="4030980" y="1074420"/>
                    <a:pt x="4128770" y="1062990"/>
                  </a:cubicBezTo>
                  <a:cubicBezTo>
                    <a:pt x="4188460" y="1056640"/>
                    <a:pt x="4226560" y="1064260"/>
                    <a:pt x="4274820" y="1057910"/>
                  </a:cubicBezTo>
                  <a:cubicBezTo>
                    <a:pt x="4324350" y="1052830"/>
                    <a:pt x="4399280" y="1062990"/>
                    <a:pt x="4418330" y="1028700"/>
                  </a:cubicBezTo>
                  <a:cubicBezTo>
                    <a:pt x="4448810" y="975360"/>
                    <a:pt x="4315460" y="787400"/>
                    <a:pt x="4292600" y="683260"/>
                  </a:cubicBezTo>
                  <a:cubicBezTo>
                    <a:pt x="4274820" y="600710"/>
                    <a:pt x="4284980" y="529590"/>
                    <a:pt x="4274820" y="457200"/>
                  </a:cubicBezTo>
                  <a:cubicBezTo>
                    <a:pt x="4265930" y="388620"/>
                    <a:pt x="4277360" y="307340"/>
                    <a:pt x="4239260" y="260350"/>
                  </a:cubicBezTo>
                  <a:cubicBezTo>
                    <a:pt x="4198620" y="210820"/>
                    <a:pt x="4093210" y="191770"/>
                    <a:pt x="4032250" y="176530"/>
                  </a:cubicBezTo>
                  <a:cubicBezTo>
                    <a:pt x="3987800" y="165100"/>
                    <a:pt x="3976370" y="166370"/>
                    <a:pt x="3912870" y="162560"/>
                  </a:cubicBezTo>
                  <a:cubicBezTo>
                    <a:pt x="3679190" y="148590"/>
                    <a:pt x="2526030" y="189230"/>
                    <a:pt x="2256790" y="161290"/>
                  </a:cubicBezTo>
                  <a:cubicBezTo>
                    <a:pt x="2167890" y="152400"/>
                    <a:pt x="2145030" y="133350"/>
                    <a:pt x="2082800" y="127000"/>
                  </a:cubicBezTo>
                  <a:cubicBezTo>
                    <a:pt x="2011680" y="118110"/>
                    <a:pt x="1931670" y="130810"/>
                    <a:pt x="1850390" y="121920"/>
                  </a:cubicBezTo>
                  <a:cubicBezTo>
                    <a:pt x="1758950" y="111760"/>
                    <a:pt x="1687830" y="77470"/>
                    <a:pt x="1560830" y="64770"/>
                  </a:cubicBezTo>
                  <a:cubicBezTo>
                    <a:pt x="1327150" y="41910"/>
                    <a:pt x="802640" y="46990"/>
                    <a:pt x="552450" y="60960"/>
                  </a:cubicBezTo>
                  <a:cubicBezTo>
                    <a:pt x="403860" y="68580"/>
                    <a:pt x="269240" y="87630"/>
                    <a:pt x="199390" y="101600"/>
                  </a:cubicBezTo>
                  <a:cubicBezTo>
                    <a:pt x="168910" y="106680"/>
                    <a:pt x="152400" y="106680"/>
                    <a:pt x="135890" y="116840"/>
                  </a:cubicBezTo>
                  <a:cubicBezTo>
                    <a:pt x="120650" y="127000"/>
                    <a:pt x="110490" y="137160"/>
                    <a:pt x="101600" y="156210"/>
                  </a:cubicBezTo>
                  <a:cubicBezTo>
                    <a:pt x="85090" y="190500"/>
                    <a:pt x="82550" y="246380"/>
                    <a:pt x="77470" y="320040"/>
                  </a:cubicBezTo>
                  <a:cubicBezTo>
                    <a:pt x="66040" y="472440"/>
                    <a:pt x="92710" y="953770"/>
                    <a:pt x="76200" y="1022350"/>
                  </a:cubicBezTo>
                  <a:cubicBezTo>
                    <a:pt x="72390" y="1035050"/>
                    <a:pt x="69850" y="1040130"/>
                    <a:pt x="64770" y="1043940"/>
                  </a:cubicBezTo>
                  <a:cubicBezTo>
                    <a:pt x="58420" y="1047750"/>
                    <a:pt x="46990" y="1049020"/>
                    <a:pt x="40640" y="1046480"/>
                  </a:cubicBezTo>
                  <a:cubicBezTo>
                    <a:pt x="34290" y="1043940"/>
                    <a:pt x="26670" y="1035050"/>
                    <a:pt x="25400" y="1027430"/>
                  </a:cubicBezTo>
                  <a:cubicBezTo>
                    <a:pt x="24130" y="1021080"/>
                    <a:pt x="26670" y="1009650"/>
                    <a:pt x="31750" y="1004570"/>
                  </a:cubicBezTo>
                  <a:cubicBezTo>
                    <a:pt x="38100" y="999490"/>
                    <a:pt x="54610" y="996950"/>
                    <a:pt x="62230" y="999490"/>
                  </a:cubicBezTo>
                  <a:cubicBezTo>
                    <a:pt x="68580" y="1003300"/>
                    <a:pt x="74930" y="1013460"/>
                    <a:pt x="76200" y="1019810"/>
                  </a:cubicBezTo>
                  <a:cubicBezTo>
                    <a:pt x="76200" y="1026160"/>
                    <a:pt x="72390" y="1037590"/>
                    <a:pt x="67310" y="1041400"/>
                  </a:cubicBezTo>
                  <a:cubicBezTo>
                    <a:pt x="60960" y="1046480"/>
                    <a:pt x="50800" y="1049020"/>
                    <a:pt x="43180" y="1046480"/>
                  </a:cubicBezTo>
                  <a:cubicBezTo>
                    <a:pt x="35560" y="1043940"/>
                    <a:pt x="30480" y="1037590"/>
                    <a:pt x="25400" y="1022350"/>
                  </a:cubicBezTo>
                  <a:cubicBezTo>
                    <a:pt x="0" y="949960"/>
                    <a:pt x="20320" y="447040"/>
                    <a:pt x="26670" y="318770"/>
                  </a:cubicBezTo>
                  <a:cubicBezTo>
                    <a:pt x="29210" y="269240"/>
                    <a:pt x="29210" y="252730"/>
                    <a:pt x="36830" y="218440"/>
                  </a:cubicBezTo>
                  <a:cubicBezTo>
                    <a:pt x="44450" y="179070"/>
                    <a:pt x="62230" y="115570"/>
                    <a:pt x="77470" y="91440"/>
                  </a:cubicBezTo>
                  <a:cubicBezTo>
                    <a:pt x="85090" y="81280"/>
                    <a:pt x="88900" y="77470"/>
                    <a:pt x="100330" y="72390"/>
                  </a:cubicBezTo>
                  <a:cubicBezTo>
                    <a:pt x="120650" y="62230"/>
                    <a:pt x="154940" y="57150"/>
                    <a:pt x="198120" y="50800"/>
                  </a:cubicBezTo>
                  <a:cubicBezTo>
                    <a:pt x="279400" y="36830"/>
                    <a:pt x="424180" y="17780"/>
                    <a:pt x="552450" y="10160"/>
                  </a:cubicBezTo>
                  <a:cubicBezTo>
                    <a:pt x="702310" y="1270"/>
                    <a:pt x="875030" y="8890"/>
                    <a:pt x="1041400" y="10160"/>
                  </a:cubicBezTo>
                  <a:cubicBezTo>
                    <a:pt x="1214120" y="11430"/>
                    <a:pt x="1422400" y="0"/>
                    <a:pt x="1569720" y="15240"/>
                  </a:cubicBezTo>
                  <a:cubicBezTo>
                    <a:pt x="1678940" y="26670"/>
                    <a:pt x="1761490" y="60960"/>
                    <a:pt x="1851660" y="71120"/>
                  </a:cubicBezTo>
                  <a:cubicBezTo>
                    <a:pt x="1932940" y="80010"/>
                    <a:pt x="2016760" y="67310"/>
                    <a:pt x="2089150" y="76200"/>
                  </a:cubicBezTo>
                  <a:cubicBezTo>
                    <a:pt x="2150110" y="82550"/>
                    <a:pt x="2171700" y="101600"/>
                    <a:pt x="2256790" y="110490"/>
                  </a:cubicBezTo>
                  <a:cubicBezTo>
                    <a:pt x="2517140" y="138430"/>
                    <a:pt x="3600450" y="97790"/>
                    <a:pt x="3869690" y="111760"/>
                  </a:cubicBezTo>
                  <a:cubicBezTo>
                    <a:pt x="3959860" y="115570"/>
                    <a:pt x="3989070" y="115570"/>
                    <a:pt x="4050030" y="129540"/>
                  </a:cubicBezTo>
                  <a:cubicBezTo>
                    <a:pt x="4119880" y="144780"/>
                    <a:pt x="4230370" y="181610"/>
                    <a:pt x="4263390" y="203200"/>
                  </a:cubicBezTo>
                  <a:cubicBezTo>
                    <a:pt x="4274820" y="210820"/>
                    <a:pt x="4277360" y="214630"/>
                    <a:pt x="4283710" y="224790"/>
                  </a:cubicBezTo>
                  <a:cubicBezTo>
                    <a:pt x="4293870" y="242570"/>
                    <a:pt x="4300220" y="269240"/>
                    <a:pt x="4306570" y="307340"/>
                  </a:cubicBezTo>
                  <a:cubicBezTo>
                    <a:pt x="4321810" y="384810"/>
                    <a:pt x="4314190" y="552450"/>
                    <a:pt x="4340860" y="668020"/>
                  </a:cubicBezTo>
                  <a:cubicBezTo>
                    <a:pt x="4368800" y="783590"/>
                    <a:pt x="4458970" y="942340"/>
                    <a:pt x="4469130" y="1002030"/>
                  </a:cubicBezTo>
                  <a:cubicBezTo>
                    <a:pt x="4471670" y="1022350"/>
                    <a:pt x="4472940" y="1032510"/>
                    <a:pt x="4466590" y="1045210"/>
                  </a:cubicBezTo>
                  <a:cubicBezTo>
                    <a:pt x="4461510" y="1057910"/>
                    <a:pt x="4447540" y="1069340"/>
                    <a:pt x="4434840" y="1076960"/>
                  </a:cubicBezTo>
                  <a:cubicBezTo>
                    <a:pt x="4420870" y="1084580"/>
                    <a:pt x="4406900" y="1087120"/>
                    <a:pt x="4382770" y="1092200"/>
                  </a:cubicBezTo>
                  <a:cubicBezTo>
                    <a:pt x="4330700" y="1101090"/>
                    <a:pt x="4211320" y="1102360"/>
                    <a:pt x="4138930" y="1112520"/>
                  </a:cubicBezTo>
                  <a:cubicBezTo>
                    <a:pt x="4076700" y="1122680"/>
                    <a:pt x="4019550" y="1144270"/>
                    <a:pt x="3970020" y="1150620"/>
                  </a:cubicBezTo>
                  <a:cubicBezTo>
                    <a:pt x="3933190" y="1155700"/>
                    <a:pt x="3903980" y="1149350"/>
                    <a:pt x="3868420" y="1155700"/>
                  </a:cubicBezTo>
                  <a:cubicBezTo>
                    <a:pt x="3830320" y="1162050"/>
                    <a:pt x="3789680" y="1182370"/>
                    <a:pt x="3749040" y="1188720"/>
                  </a:cubicBezTo>
                  <a:cubicBezTo>
                    <a:pt x="3707130" y="1196340"/>
                    <a:pt x="3674110" y="1189990"/>
                    <a:pt x="3623310" y="1196340"/>
                  </a:cubicBezTo>
                  <a:cubicBezTo>
                    <a:pt x="3545840" y="1205230"/>
                    <a:pt x="3445510" y="1239520"/>
                    <a:pt x="3328670" y="1249680"/>
                  </a:cubicBezTo>
                  <a:cubicBezTo>
                    <a:pt x="3164840" y="1263650"/>
                    <a:pt x="2923540" y="1257300"/>
                    <a:pt x="2729230" y="1248410"/>
                  </a:cubicBezTo>
                  <a:cubicBezTo>
                    <a:pt x="2542540" y="1240790"/>
                    <a:pt x="2388870" y="1226820"/>
                    <a:pt x="2181860" y="1203960"/>
                  </a:cubicBezTo>
                  <a:cubicBezTo>
                    <a:pt x="1908810" y="1173480"/>
                    <a:pt x="1461770" y="1096010"/>
                    <a:pt x="1233170" y="1070610"/>
                  </a:cubicBezTo>
                  <a:cubicBezTo>
                    <a:pt x="1104900" y="1056640"/>
                    <a:pt x="1052830" y="1052830"/>
                    <a:pt x="930910" y="1047750"/>
                  </a:cubicBezTo>
                  <a:cubicBezTo>
                    <a:pt x="746760" y="1041400"/>
                    <a:pt x="304800" y="1075690"/>
                    <a:pt x="231140" y="1047750"/>
                  </a:cubicBezTo>
                  <a:cubicBezTo>
                    <a:pt x="215900" y="1041400"/>
                    <a:pt x="207010" y="1033780"/>
                    <a:pt x="207010" y="1026160"/>
                  </a:cubicBezTo>
                  <a:cubicBezTo>
                    <a:pt x="205740" y="1017270"/>
                    <a:pt x="231140" y="996950"/>
                    <a:pt x="231140" y="996950"/>
                  </a:cubicBezTo>
                </a:path>
              </a:pathLst>
            </a:custGeom>
            <a:solidFill>
              <a:srgbClr val="0571D3"/>
            </a:solidFill>
            <a:ln cap="sq">
              <a:noFill/>
              <a:prstDash val="solid"/>
              <a:miter/>
            </a:ln>
          </p:spPr>
        </p:sp>
      </p:grpSp>
      <p:sp>
        <p:nvSpPr>
          <p:cNvPr name="Freeform 5" id="5"/>
          <p:cNvSpPr/>
          <p:nvPr/>
        </p:nvSpPr>
        <p:spPr>
          <a:xfrm flipH="false" flipV="false" rot="0">
            <a:off x="9954183" y="3210974"/>
            <a:ext cx="6777033" cy="2366046"/>
          </a:xfrm>
          <a:custGeom>
            <a:avLst/>
            <a:gdLst/>
            <a:ahLst/>
            <a:cxnLst/>
            <a:rect r="r" b="b" t="t" l="l"/>
            <a:pathLst>
              <a:path h="2366046" w="6777033">
                <a:moveTo>
                  <a:pt x="0" y="0"/>
                </a:moveTo>
                <a:lnTo>
                  <a:pt x="6777032" y="0"/>
                </a:lnTo>
                <a:lnTo>
                  <a:pt x="6777032" y="2366046"/>
                </a:lnTo>
                <a:lnTo>
                  <a:pt x="0" y="2366046"/>
                </a:lnTo>
                <a:lnTo>
                  <a:pt x="0" y="0"/>
                </a:lnTo>
                <a:close/>
              </a:path>
            </a:pathLst>
          </a:custGeom>
          <a:blipFill>
            <a:blip r:embed="rId3"/>
            <a:stretch>
              <a:fillRect l="0" t="0" r="0" b="0"/>
            </a:stretch>
          </a:blipFill>
        </p:spPr>
      </p:sp>
      <p:sp>
        <p:nvSpPr>
          <p:cNvPr name="Freeform 6" id="6"/>
          <p:cNvSpPr/>
          <p:nvPr/>
        </p:nvSpPr>
        <p:spPr>
          <a:xfrm flipH="false" flipV="false" rot="0">
            <a:off x="9954183" y="7198042"/>
            <a:ext cx="7305117" cy="1920949"/>
          </a:xfrm>
          <a:custGeom>
            <a:avLst/>
            <a:gdLst/>
            <a:ahLst/>
            <a:cxnLst/>
            <a:rect r="r" b="b" t="t" l="l"/>
            <a:pathLst>
              <a:path h="1920949" w="7305117">
                <a:moveTo>
                  <a:pt x="0" y="0"/>
                </a:moveTo>
                <a:lnTo>
                  <a:pt x="7305117" y="0"/>
                </a:lnTo>
                <a:lnTo>
                  <a:pt x="7305117" y="1920949"/>
                </a:lnTo>
                <a:lnTo>
                  <a:pt x="0" y="1920949"/>
                </a:lnTo>
                <a:lnTo>
                  <a:pt x="0" y="0"/>
                </a:lnTo>
                <a:close/>
              </a:path>
            </a:pathLst>
          </a:custGeom>
          <a:blipFill>
            <a:blip r:embed="rId4"/>
            <a:stretch>
              <a:fillRect l="0" t="0" r="-10719" b="0"/>
            </a:stretch>
          </a:blipFill>
        </p:spPr>
      </p:sp>
      <p:sp>
        <p:nvSpPr>
          <p:cNvPr name="TextBox 7" id="7"/>
          <p:cNvSpPr txBox="true"/>
          <p:nvPr/>
        </p:nvSpPr>
        <p:spPr>
          <a:xfrm rot="0">
            <a:off x="1028700" y="1104900"/>
            <a:ext cx="4952851" cy="575946"/>
          </a:xfrm>
          <a:prstGeom prst="rect">
            <a:avLst/>
          </a:prstGeom>
        </p:spPr>
        <p:txBody>
          <a:bodyPr anchor="t" rtlCol="false" tIns="0" lIns="0" bIns="0" rIns="0">
            <a:spAutoFit/>
          </a:bodyPr>
          <a:lstStyle/>
          <a:p>
            <a:pPr algn="ctr">
              <a:lnSpc>
                <a:spcPts val="4300"/>
              </a:lnSpc>
              <a:spcBef>
                <a:spcPct val="0"/>
              </a:spcBef>
            </a:pPr>
            <a:r>
              <a:rPr lang="en-US" b="true" sz="4300">
                <a:solidFill>
                  <a:srgbClr val="000000"/>
                </a:solidFill>
                <a:latin typeface="Cabin Bold"/>
                <a:ea typeface="Cabin Bold"/>
                <a:cs typeface="Cabin Bold"/>
                <a:sym typeface="Cabin Bold"/>
              </a:rPr>
              <a:t>Ví dụ input và output</a:t>
            </a:r>
          </a:p>
        </p:txBody>
      </p:sp>
      <p:sp>
        <p:nvSpPr>
          <p:cNvPr name="TextBox 8" id="8"/>
          <p:cNvSpPr txBox="true"/>
          <p:nvPr/>
        </p:nvSpPr>
        <p:spPr>
          <a:xfrm rot="0">
            <a:off x="1028700" y="2120247"/>
            <a:ext cx="7216973" cy="514350"/>
          </a:xfrm>
          <a:prstGeom prst="rect">
            <a:avLst/>
          </a:prstGeom>
        </p:spPr>
        <p:txBody>
          <a:bodyPr anchor="t" rtlCol="false" tIns="0" lIns="0" bIns="0" rIns="0">
            <a:spAutoFit/>
          </a:bodyPr>
          <a:lstStyle/>
          <a:p>
            <a:pPr algn="ctr">
              <a:lnSpc>
                <a:spcPts val="4079"/>
              </a:lnSpc>
              <a:spcBef>
                <a:spcPct val="0"/>
              </a:spcBef>
            </a:pPr>
            <a:r>
              <a:rPr lang="en-US" sz="3399">
                <a:solidFill>
                  <a:srgbClr val="000000"/>
                </a:solidFill>
                <a:latin typeface="Cabin"/>
                <a:ea typeface="Cabin"/>
                <a:cs typeface="Cabin"/>
                <a:sym typeface="Cabin"/>
              </a:rPr>
              <a:t>Input: Nhập email để đăng nhập vào </a:t>
            </a:r>
          </a:p>
        </p:txBody>
      </p:sp>
      <p:sp>
        <p:nvSpPr>
          <p:cNvPr name="TextBox 9" id="9"/>
          <p:cNvSpPr txBox="true"/>
          <p:nvPr/>
        </p:nvSpPr>
        <p:spPr>
          <a:xfrm rot="0">
            <a:off x="9954183" y="2045298"/>
            <a:ext cx="6952804" cy="1028700"/>
          </a:xfrm>
          <a:prstGeom prst="rect">
            <a:avLst/>
          </a:prstGeom>
        </p:spPr>
        <p:txBody>
          <a:bodyPr anchor="t" rtlCol="false" tIns="0" lIns="0" bIns="0" rIns="0">
            <a:spAutoFit/>
          </a:bodyPr>
          <a:lstStyle/>
          <a:p>
            <a:pPr algn="l">
              <a:lnSpc>
                <a:spcPts val="4079"/>
              </a:lnSpc>
            </a:pPr>
            <a:r>
              <a:rPr lang="en-US" sz="3399">
                <a:solidFill>
                  <a:srgbClr val="000000"/>
                </a:solidFill>
                <a:latin typeface="Cabin"/>
                <a:ea typeface="Cabin"/>
                <a:cs typeface="Cabin"/>
                <a:sym typeface="Cabin"/>
              </a:rPr>
              <a:t>Output:</a:t>
            </a:r>
          </a:p>
          <a:p>
            <a:pPr algn="l">
              <a:lnSpc>
                <a:spcPts val="4079"/>
              </a:lnSpc>
              <a:spcBef>
                <a:spcPct val="0"/>
              </a:spcBef>
            </a:pPr>
            <a:r>
              <a:rPr lang="en-US" sz="3399">
                <a:solidFill>
                  <a:srgbClr val="000000"/>
                </a:solidFill>
                <a:latin typeface="Cabin"/>
                <a:ea typeface="Cabin"/>
                <a:cs typeface="Cabin"/>
                <a:sym typeface="Cabin"/>
              </a:rPr>
              <a:t>Trường hợp sai email out sẽ hiển thị lỗi</a:t>
            </a:r>
          </a:p>
        </p:txBody>
      </p:sp>
      <p:sp>
        <p:nvSpPr>
          <p:cNvPr name="TextBox 10" id="10"/>
          <p:cNvSpPr txBox="true"/>
          <p:nvPr/>
        </p:nvSpPr>
        <p:spPr>
          <a:xfrm rot="0">
            <a:off x="9954183" y="5833713"/>
            <a:ext cx="6777033" cy="1028700"/>
          </a:xfrm>
          <a:prstGeom prst="rect">
            <a:avLst/>
          </a:prstGeom>
        </p:spPr>
        <p:txBody>
          <a:bodyPr anchor="t" rtlCol="false" tIns="0" lIns="0" bIns="0" rIns="0">
            <a:spAutoFit/>
          </a:bodyPr>
          <a:lstStyle/>
          <a:p>
            <a:pPr algn="l">
              <a:lnSpc>
                <a:spcPts val="4079"/>
              </a:lnSpc>
              <a:spcBef>
                <a:spcPct val="0"/>
              </a:spcBef>
            </a:pPr>
            <a:r>
              <a:rPr lang="en-US" sz="3399">
                <a:solidFill>
                  <a:srgbClr val="000000"/>
                </a:solidFill>
                <a:latin typeface="Cabin"/>
                <a:ea typeface="Cabin"/>
                <a:cs typeface="Cabin"/>
                <a:sym typeface="Cabin"/>
              </a:rPr>
              <a:t>Trường hợp đăng nhập thành công thì output sẽ trả về trang chủ</a:t>
            </a:r>
          </a:p>
        </p:txBody>
      </p:sp>
      <p:grpSp>
        <p:nvGrpSpPr>
          <p:cNvPr name="Group 11" id="11"/>
          <p:cNvGrpSpPr/>
          <p:nvPr/>
        </p:nvGrpSpPr>
        <p:grpSpPr>
          <a:xfrm rot="0">
            <a:off x="10369868" y="5246370"/>
            <a:ext cx="5657850" cy="286703"/>
            <a:chOff x="0" y="0"/>
            <a:chExt cx="7543800" cy="382270"/>
          </a:xfrm>
        </p:grpSpPr>
        <p:sp>
          <p:nvSpPr>
            <p:cNvPr name="Freeform 12" id="12"/>
            <p:cNvSpPr/>
            <p:nvPr/>
          </p:nvSpPr>
          <p:spPr>
            <a:xfrm flipH="false" flipV="false" rot="0">
              <a:off x="50800" y="7620"/>
              <a:ext cx="7444740" cy="332740"/>
            </a:xfrm>
            <a:custGeom>
              <a:avLst/>
              <a:gdLst/>
              <a:ahLst/>
              <a:cxnLst/>
              <a:rect r="r" b="b" t="t" l="l"/>
              <a:pathLst>
                <a:path h="332740" w="7444740">
                  <a:moveTo>
                    <a:pt x="71120" y="140970"/>
                  </a:moveTo>
                  <a:cubicBezTo>
                    <a:pt x="629920" y="170180"/>
                    <a:pt x="1275080" y="156210"/>
                    <a:pt x="1531620" y="163830"/>
                  </a:cubicBezTo>
                  <a:cubicBezTo>
                    <a:pt x="1658620" y="167640"/>
                    <a:pt x="1686560" y="176530"/>
                    <a:pt x="1817370" y="179070"/>
                  </a:cubicBezTo>
                  <a:cubicBezTo>
                    <a:pt x="2104390" y="186690"/>
                    <a:pt x="2950210" y="184150"/>
                    <a:pt x="3191510" y="172720"/>
                  </a:cubicBezTo>
                  <a:cubicBezTo>
                    <a:pt x="3277870" y="168910"/>
                    <a:pt x="3285490" y="161290"/>
                    <a:pt x="3368040" y="157480"/>
                  </a:cubicBezTo>
                  <a:cubicBezTo>
                    <a:pt x="3562350" y="147320"/>
                    <a:pt x="4100830" y="158750"/>
                    <a:pt x="4351020" y="142240"/>
                  </a:cubicBezTo>
                  <a:cubicBezTo>
                    <a:pt x="4505960" y="133350"/>
                    <a:pt x="4584700" y="109220"/>
                    <a:pt x="4728210" y="100330"/>
                  </a:cubicBezTo>
                  <a:cubicBezTo>
                    <a:pt x="4919980" y="87630"/>
                    <a:pt x="5201920" y="102870"/>
                    <a:pt x="5398770" y="92710"/>
                  </a:cubicBezTo>
                  <a:cubicBezTo>
                    <a:pt x="5553710" y="83820"/>
                    <a:pt x="5631180" y="60960"/>
                    <a:pt x="5814060" y="52070"/>
                  </a:cubicBezTo>
                  <a:cubicBezTo>
                    <a:pt x="6165850" y="34290"/>
                    <a:pt x="7179310" y="0"/>
                    <a:pt x="7358380" y="43180"/>
                  </a:cubicBezTo>
                  <a:cubicBezTo>
                    <a:pt x="7397750" y="53340"/>
                    <a:pt x="7414260" y="60960"/>
                    <a:pt x="7426960" y="80010"/>
                  </a:cubicBezTo>
                  <a:cubicBezTo>
                    <a:pt x="7439660" y="99060"/>
                    <a:pt x="7444740" y="137160"/>
                    <a:pt x="7435850" y="158750"/>
                  </a:cubicBezTo>
                  <a:cubicBezTo>
                    <a:pt x="7426960" y="179070"/>
                    <a:pt x="7399020" y="204470"/>
                    <a:pt x="7376160" y="208280"/>
                  </a:cubicBezTo>
                  <a:cubicBezTo>
                    <a:pt x="7353300" y="213360"/>
                    <a:pt x="7317740" y="203200"/>
                    <a:pt x="7299960" y="187960"/>
                  </a:cubicBezTo>
                  <a:cubicBezTo>
                    <a:pt x="7283450" y="171450"/>
                    <a:pt x="7272020" y="135890"/>
                    <a:pt x="7275830" y="113030"/>
                  </a:cubicBezTo>
                  <a:cubicBezTo>
                    <a:pt x="7279640" y="91440"/>
                    <a:pt x="7302500" y="60960"/>
                    <a:pt x="7322820" y="50800"/>
                  </a:cubicBezTo>
                  <a:cubicBezTo>
                    <a:pt x="7344410" y="41910"/>
                    <a:pt x="7381240" y="43180"/>
                    <a:pt x="7401560" y="55880"/>
                  </a:cubicBezTo>
                  <a:cubicBezTo>
                    <a:pt x="7420610" y="67310"/>
                    <a:pt x="7438390" y="101600"/>
                    <a:pt x="7442200" y="123190"/>
                  </a:cubicBezTo>
                  <a:cubicBezTo>
                    <a:pt x="7443470" y="140970"/>
                    <a:pt x="7438390" y="160020"/>
                    <a:pt x="7426960" y="173990"/>
                  </a:cubicBezTo>
                  <a:cubicBezTo>
                    <a:pt x="7414260" y="190500"/>
                    <a:pt x="7397750" y="200660"/>
                    <a:pt x="7358380" y="210820"/>
                  </a:cubicBezTo>
                  <a:cubicBezTo>
                    <a:pt x="7180580" y="255270"/>
                    <a:pt x="6174740" y="191770"/>
                    <a:pt x="5822950" y="205740"/>
                  </a:cubicBezTo>
                  <a:cubicBezTo>
                    <a:pt x="5637530" y="213360"/>
                    <a:pt x="5556250" y="236220"/>
                    <a:pt x="5398770" y="242570"/>
                  </a:cubicBezTo>
                  <a:cubicBezTo>
                    <a:pt x="5201920" y="250190"/>
                    <a:pt x="4955540" y="229870"/>
                    <a:pt x="4735830" y="240030"/>
                  </a:cubicBezTo>
                  <a:cubicBezTo>
                    <a:pt x="4516120" y="248920"/>
                    <a:pt x="4296410" y="290830"/>
                    <a:pt x="4081780" y="302260"/>
                  </a:cubicBezTo>
                  <a:cubicBezTo>
                    <a:pt x="3873500" y="312420"/>
                    <a:pt x="3629660" y="297180"/>
                    <a:pt x="3465830" y="303530"/>
                  </a:cubicBezTo>
                  <a:cubicBezTo>
                    <a:pt x="3356610" y="307340"/>
                    <a:pt x="3318510" y="320040"/>
                    <a:pt x="3191510" y="323850"/>
                  </a:cubicBezTo>
                  <a:cubicBezTo>
                    <a:pt x="2909570" y="332740"/>
                    <a:pt x="2139950" y="325120"/>
                    <a:pt x="1814830" y="313690"/>
                  </a:cubicBezTo>
                  <a:cubicBezTo>
                    <a:pt x="1637030" y="307340"/>
                    <a:pt x="1570990" y="293370"/>
                    <a:pt x="1403350" y="288290"/>
                  </a:cubicBezTo>
                  <a:cubicBezTo>
                    <a:pt x="1135380" y="279400"/>
                    <a:pt x="608330" y="292100"/>
                    <a:pt x="365760" y="287020"/>
                  </a:cubicBezTo>
                  <a:cubicBezTo>
                    <a:pt x="233680" y="284480"/>
                    <a:pt x="116840" y="287020"/>
                    <a:pt x="62230" y="274320"/>
                  </a:cubicBezTo>
                  <a:cubicBezTo>
                    <a:pt x="40640" y="269240"/>
                    <a:pt x="29210" y="265430"/>
                    <a:pt x="19050" y="254000"/>
                  </a:cubicBezTo>
                  <a:cubicBezTo>
                    <a:pt x="8890" y="243840"/>
                    <a:pt x="0" y="226060"/>
                    <a:pt x="0" y="210820"/>
                  </a:cubicBezTo>
                  <a:cubicBezTo>
                    <a:pt x="0" y="193040"/>
                    <a:pt x="12700" y="166370"/>
                    <a:pt x="26670" y="154940"/>
                  </a:cubicBezTo>
                  <a:cubicBezTo>
                    <a:pt x="38100" y="144780"/>
                    <a:pt x="71120" y="140970"/>
                    <a:pt x="71120" y="140970"/>
                  </a:cubicBezTo>
                </a:path>
              </a:pathLst>
            </a:custGeom>
            <a:solidFill>
              <a:srgbClr val="E7191F"/>
            </a:solidFill>
            <a:ln cap="sq">
              <a:noFill/>
              <a:prstDash val="solid"/>
              <a:miter/>
            </a:ln>
          </p:spPr>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2358015" y="2090304"/>
            <a:ext cx="14521179" cy="1052786"/>
          </a:xfrm>
          <a:custGeom>
            <a:avLst/>
            <a:gdLst/>
            <a:ahLst/>
            <a:cxnLst/>
            <a:rect r="r" b="b" t="t" l="l"/>
            <a:pathLst>
              <a:path h="1052786" w="14521179">
                <a:moveTo>
                  <a:pt x="0" y="0"/>
                </a:moveTo>
                <a:lnTo>
                  <a:pt x="14521180" y="0"/>
                </a:lnTo>
                <a:lnTo>
                  <a:pt x="14521180" y="1052786"/>
                </a:lnTo>
                <a:lnTo>
                  <a:pt x="0" y="1052786"/>
                </a:lnTo>
                <a:lnTo>
                  <a:pt x="0" y="0"/>
                </a:lnTo>
                <a:close/>
              </a:path>
            </a:pathLst>
          </a:custGeom>
          <a:blipFill>
            <a:blip r:embed="rId2"/>
            <a:stretch>
              <a:fillRect l="0" t="0" r="0" b="0"/>
            </a:stretch>
          </a:blipFill>
        </p:spPr>
      </p:sp>
      <p:sp>
        <p:nvSpPr>
          <p:cNvPr name="Freeform 3" id="3"/>
          <p:cNvSpPr/>
          <p:nvPr/>
        </p:nvSpPr>
        <p:spPr>
          <a:xfrm flipH="false" flipV="false" rot="0">
            <a:off x="2358015" y="4417327"/>
            <a:ext cx="14521179" cy="5084168"/>
          </a:xfrm>
          <a:custGeom>
            <a:avLst/>
            <a:gdLst/>
            <a:ahLst/>
            <a:cxnLst/>
            <a:rect r="r" b="b" t="t" l="l"/>
            <a:pathLst>
              <a:path h="5084168" w="14521179">
                <a:moveTo>
                  <a:pt x="0" y="0"/>
                </a:moveTo>
                <a:lnTo>
                  <a:pt x="14521180" y="0"/>
                </a:lnTo>
                <a:lnTo>
                  <a:pt x="14521180" y="5084168"/>
                </a:lnTo>
                <a:lnTo>
                  <a:pt x="0" y="5084168"/>
                </a:lnTo>
                <a:lnTo>
                  <a:pt x="0" y="0"/>
                </a:lnTo>
                <a:close/>
              </a:path>
            </a:pathLst>
          </a:custGeom>
          <a:blipFill>
            <a:blip r:embed="rId3"/>
            <a:stretch>
              <a:fillRect l="0" t="-40990" r="0" b="-56440"/>
            </a:stretch>
          </a:blipFill>
        </p:spPr>
      </p:sp>
      <p:sp>
        <p:nvSpPr>
          <p:cNvPr name="TextBox 4" id="4"/>
          <p:cNvSpPr txBox="true"/>
          <p:nvPr/>
        </p:nvSpPr>
        <p:spPr>
          <a:xfrm rot="0">
            <a:off x="1028700" y="1028700"/>
            <a:ext cx="4373463" cy="514350"/>
          </a:xfrm>
          <a:prstGeom prst="rect">
            <a:avLst/>
          </a:prstGeom>
        </p:spPr>
        <p:txBody>
          <a:bodyPr anchor="t" rtlCol="false" tIns="0" lIns="0" bIns="0" rIns="0">
            <a:spAutoFit/>
          </a:bodyPr>
          <a:lstStyle/>
          <a:p>
            <a:pPr algn="ctr">
              <a:lnSpc>
                <a:spcPts val="4079"/>
              </a:lnSpc>
              <a:spcBef>
                <a:spcPct val="0"/>
              </a:spcBef>
            </a:pPr>
            <a:r>
              <a:rPr lang="en-US" b="true" sz="3399">
                <a:solidFill>
                  <a:srgbClr val="000000"/>
                </a:solidFill>
                <a:latin typeface="Cabin Bold"/>
                <a:ea typeface="Cabin Bold"/>
                <a:cs typeface="Cabin Bold"/>
                <a:sym typeface="Cabin Bold"/>
              </a:rPr>
              <a:t>Input : dữ liệu tìm kiếm </a:t>
            </a:r>
          </a:p>
        </p:txBody>
      </p:sp>
      <p:sp>
        <p:nvSpPr>
          <p:cNvPr name="TextBox 5" id="5"/>
          <p:cNvSpPr txBox="true"/>
          <p:nvPr/>
        </p:nvSpPr>
        <p:spPr>
          <a:xfrm rot="0">
            <a:off x="1028700" y="3686015"/>
            <a:ext cx="6346627" cy="514350"/>
          </a:xfrm>
          <a:prstGeom prst="rect">
            <a:avLst/>
          </a:prstGeom>
        </p:spPr>
        <p:txBody>
          <a:bodyPr anchor="t" rtlCol="false" tIns="0" lIns="0" bIns="0" rIns="0">
            <a:spAutoFit/>
          </a:bodyPr>
          <a:lstStyle/>
          <a:p>
            <a:pPr algn="ctr">
              <a:lnSpc>
                <a:spcPts val="4079"/>
              </a:lnSpc>
              <a:spcBef>
                <a:spcPct val="0"/>
              </a:spcBef>
            </a:pPr>
            <a:r>
              <a:rPr lang="en-US" b="true" sz="3399">
                <a:solidFill>
                  <a:srgbClr val="000000"/>
                </a:solidFill>
                <a:latin typeface="Cabin Bold"/>
                <a:ea typeface="Cabin Bold"/>
                <a:cs typeface="Cabin Bold"/>
                <a:sym typeface="Cabin Bold"/>
              </a:rPr>
              <a:t>Output : trả ra dữ liệu đã tìm kiếm </a:t>
            </a:r>
          </a:p>
        </p:txBody>
      </p:sp>
      <p:grpSp>
        <p:nvGrpSpPr>
          <p:cNvPr name="Group 6" id="6"/>
          <p:cNvGrpSpPr/>
          <p:nvPr/>
        </p:nvGrpSpPr>
        <p:grpSpPr>
          <a:xfrm rot="0">
            <a:off x="4571047" y="2699385"/>
            <a:ext cx="3701415" cy="313372"/>
            <a:chOff x="0" y="0"/>
            <a:chExt cx="4935220" cy="417830"/>
          </a:xfrm>
        </p:grpSpPr>
        <p:sp>
          <p:nvSpPr>
            <p:cNvPr name="Freeform 7" id="7"/>
            <p:cNvSpPr/>
            <p:nvPr/>
          </p:nvSpPr>
          <p:spPr>
            <a:xfrm flipH="false" flipV="false" rot="0">
              <a:off x="49530" y="46990"/>
              <a:ext cx="4836160" cy="354330"/>
            </a:xfrm>
            <a:custGeom>
              <a:avLst/>
              <a:gdLst/>
              <a:ahLst/>
              <a:cxnLst/>
              <a:rect r="r" b="b" t="t" l="l"/>
              <a:pathLst>
                <a:path h="354330" w="4836160">
                  <a:moveTo>
                    <a:pt x="69850" y="15240"/>
                  </a:moveTo>
                  <a:cubicBezTo>
                    <a:pt x="1493520" y="101600"/>
                    <a:pt x="1798320" y="78740"/>
                    <a:pt x="2065020" y="93980"/>
                  </a:cubicBezTo>
                  <a:cubicBezTo>
                    <a:pt x="2288540" y="107950"/>
                    <a:pt x="2458720" y="149860"/>
                    <a:pt x="2678430" y="163830"/>
                  </a:cubicBezTo>
                  <a:cubicBezTo>
                    <a:pt x="2934970" y="179070"/>
                    <a:pt x="3255010" y="171450"/>
                    <a:pt x="3511550" y="171450"/>
                  </a:cubicBezTo>
                  <a:cubicBezTo>
                    <a:pt x="3732530" y="170180"/>
                    <a:pt x="4011930" y="184150"/>
                    <a:pt x="4126230" y="162560"/>
                  </a:cubicBezTo>
                  <a:cubicBezTo>
                    <a:pt x="4171950" y="153670"/>
                    <a:pt x="4178300" y="137160"/>
                    <a:pt x="4218940" y="127000"/>
                  </a:cubicBezTo>
                  <a:cubicBezTo>
                    <a:pt x="4286250" y="107950"/>
                    <a:pt x="4406900" y="97790"/>
                    <a:pt x="4498340" y="77470"/>
                  </a:cubicBezTo>
                  <a:cubicBezTo>
                    <a:pt x="4588510" y="57150"/>
                    <a:pt x="4712970" y="0"/>
                    <a:pt x="4763770" y="3810"/>
                  </a:cubicBezTo>
                  <a:cubicBezTo>
                    <a:pt x="4785360" y="5080"/>
                    <a:pt x="4798060" y="12700"/>
                    <a:pt x="4809490" y="22860"/>
                  </a:cubicBezTo>
                  <a:cubicBezTo>
                    <a:pt x="4820920" y="33020"/>
                    <a:pt x="4831080" y="49530"/>
                    <a:pt x="4833620" y="64770"/>
                  </a:cubicBezTo>
                  <a:cubicBezTo>
                    <a:pt x="4836160" y="80010"/>
                    <a:pt x="4833620" y="99060"/>
                    <a:pt x="4827270" y="113030"/>
                  </a:cubicBezTo>
                  <a:cubicBezTo>
                    <a:pt x="4820920" y="127000"/>
                    <a:pt x="4808220" y="142240"/>
                    <a:pt x="4792980" y="148590"/>
                  </a:cubicBezTo>
                  <a:cubicBezTo>
                    <a:pt x="4775200" y="154940"/>
                    <a:pt x="4739640" y="154940"/>
                    <a:pt x="4721860" y="146050"/>
                  </a:cubicBezTo>
                  <a:cubicBezTo>
                    <a:pt x="4706620" y="139700"/>
                    <a:pt x="4695190" y="124460"/>
                    <a:pt x="4688840" y="110490"/>
                  </a:cubicBezTo>
                  <a:cubicBezTo>
                    <a:pt x="4682490" y="96520"/>
                    <a:pt x="4679950" y="77470"/>
                    <a:pt x="4685030" y="62230"/>
                  </a:cubicBezTo>
                  <a:cubicBezTo>
                    <a:pt x="4690110" y="43180"/>
                    <a:pt x="4714240" y="16510"/>
                    <a:pt x="4732020" y="8890"/>
                  </a:cubicBezTo>
                  <a:cubicBezTo>
                    <a:pt x="4745990" y="1270"/>
                    <a:pt x="4766310" y="2540"/>
                    <a:pt x="4780280" y="6350"/>
                  </a:cubicBezTo>
                  <a:cubicBezTo>
                    <a:pt x="4795520" y="11430"/>
                    <a:pt x="4810760" y="22860"/>
                    <a:pt x="4820920" y="35560"/>
                  </a:cubicBezTo>
                  <a:cubicBezTo>
                    <a:pt x="4829810" y="46990"/>
                    <a:pt x="4836160" y="64770"/>
                    <a:pt x="4834890" y="81280"/>
                  </a:cubicBezTo>
                  <a:cubicBezTo>
                    <a:pt x="4833620" y="101600"/>
                    <a:pt x="4823460" y="125730"/>
                    <a:pt x="4800600" y="143510"/>
                  </a:cubicBezTo>
                  <a:cubicBezTo>
                    <a:pt x="4753610" y="181610"/>
                    <a:pt x="4624070" y="203200"/>
                    <a:pt x="4522470" y="231140"/>
                  </a:cubicBezTo>
                  <a:cubicBezTo>
                    <a:pt x="4403090" y="262890"/>
                    <a:pt x="4301490" y="300990"/>
                    <a:pt x="4131310" y="320040"/>
                  </a:cubicBezTo>
                  <a:cubicBezTo>
                    <a:pt x="3820160" y="354330"/>
                    <a:pt x="3011170" y="320040"/>
                    <a:pt x="2797810" y="313690"/>
                  </a:cubicBezTo>
                  <a:cubicBezTo>
                    <a:pt x="2730500" y="312420"/>
                    <a:pt x="2713990" y="313690"/>
                    <a:pt x="2664460" y="308610"/>
                  </a:cubicBezTo>
                  <a:cubicBezTo>
                    <a:pt x="2600960" y="300990"/>
                    <a:pt x="2526030" y="279400"/>
                    <a:pt x="2452370" y="270510"/>
                  </a:cubicBezTo>
                  <a:cubicBezTo>
                    <a:pt x="2373630" y="261620"/>
                    <a:pt x="2275840" y="265430"/>
                    <a:pt x="2204720" y="255270"/>
                  </a:cubicBezTo>
                  <a:cubicBezTo>
                    <a:pt x="2151380" y="248920"/>
                    <a:pt x="2132330" y="233680"/>
                    <a:pt x="2065020" y="226060"/>
                  </a:cubicBezTo>
                  <a:cubicBezTo>
                    <a:pt x="1897380" y="207010"/>
                    <a:pt x="1488440" y="219710"/>
                    <a:pt x="1174750" y="208280"/>
                  </a:cubicBezTo>
                  <a:cubicBezTo>
                    <a:pt x="824230" y="194310"/>
                    <a:pt x="181610" y="173990"/>
                    <a:pt x="62230" y="144780"/>
                  </a:cubicBezTo>
                  <a:cubicBezTo>
                    <a:pt x="36830" y="138430"/>
                    <a:pt x="29210" y="137160"/>
                    <a:pt x="19050" y="125730"/>
                  </a:cubicBezTo>
                  <a:cubicBezTo>
                    <a:pt x="8890" y="113030"/>
                    <a:pt x="0" y="85090"/>
                    <a:pt x="1270" y="68580"/>
                  </a:cubicBezTo>
                  <a:cubicBezTo>
                    <a:pt x="3810" y="53340"/>
                    <a:pt x="13970" y="36830"/>
                    <a:pt x="25400" y="27940"/>
                  </a:cubicBezTo>
                  <a:cubicBezTo>
                    <a:pt x="36830" y="20320"/>
                    <a:pt x="69850" y="15240"/>
                    <a:pt x="69850" y="15240"/>
                  </a:cubicBezTo>
                </a:path>
              </a:pathLst>
            </a:custGeom>
            <a:solidFill>
              <a:srgbClr val="E7191F"/>
            </a:solidFill>
            <a:ln cap="sq">
              <a:noFill/>
              <a:prstDash val="solid"/>
              <a:miter/>
            </a:ln>
          </p:spPr>
        </p:sp>
      </p:grpSp>
      <p:grpSp>
        <p:nvGrpSpPr>
          <p:cNvPr name="Group 8" id="8"/>
          <p:cNvGrpSpPr/>
          <p:nvPr/>
        </p:nvGrpSpPr>
        <p:grpSpPr>
          <a:xfrm rot="0">
            <a:off x="2624138" y="5670232"/>
            <a:ext cx="5261610" cy="231458"/>
            <a:chOff x="0" y="0"/>
            <a:chExt cx="7015480" cy="308610"/>
          </a:xfrm>
        </p:grpSpPr>
        <p:sp>
          <p:nvSpPr>
            <p:cNvPr name="Freeform 9" id="9"/>
            <p:cNvSpPr/>
            <p:nvPr/>
          </p:nvSpPr>
          <p:spPr>
            <a:xfrm flipH="false" flipV="false" rot="0">
              <a:off x="50800" y="50800"/>
              <a:ext cx="6916420" cy="262890"/>
            </a:xfrm>
            <a:custGeom>
              <a:avLst/>
              <a:gdLst/>
              <a:ahLst/>
              <a:cxnLst/>
              <a:rect r="r" b="b" t="t" l="l"/>
              <a:pathLst>
                <a:path h="262890" w="6916420">
                  <a:moveTo>
                    <a:pt x="62230" y="0"/>
                  </a:moveTo>
                  <a:cubicBezTo>
                    <a:pt x="2764790" y="16510"/>
                    <a:pt x="3548380" y="59690"/>
                    <a:pt x="4008120" y="71120"/>
                  </a:cubicBezTo>
                  <a:cubicBezTo>
                    <a:pt x="4272280" y="77470"/>
                    <a:pt x="4361180" y="77470"/>
                    <a:pt x="4634230" y="80010"/>
                  </a:cubicBezTo>
                  <a:cubicBezTo>
                    <a:pt x="5147310" y="82550"/>
                    <a:pt x="6653530" y="30480"/>
                    <a:pt x="6850380" y="78740"/>
                  </a:cubicBezTo>
                  <a:cubicBezTo>
                    <a:pt x="6882130" y="87630"/>
                    <a:pt x="6893560" y="92710"/>
                    <a:pt x="6902450" y="106680"/>
                  </a:cubicBezTo>
                  <a:cubicBezTo>
                    <a:pt x="6912610" y="121920"/>
                    <a:pt x="6916420" y="151130"/>
                    <a:pt x="6908800" y="166370"/>
                  </a:cubicBezTo>
                  <a:cubicBezTo>
                    <a:pt x="6902450" y="182880"/>
                    <a:pt x="6880860" y="201930"/>
                    <a:pt x="6863080" y="205740"/>
                  </a:cubicBezTo>
                  <a:cubicBezTo>
                    <a:pt x="6846570" y="209550"/>
                    <a:pt x="6818630" y="201930"/>
                    <a:pt x="6805930" y="189230"/>
                  </a:cubicBezTo>
                  <a:cubicBezTo>
                    <a:pt x="6793230" y="177800"/>
                    <a:pt x="6783070" y="149860"/>
                    <a:pt x="6786880" y="133350"/>
                  </a:cubicBezTo>
                  <a:cubicBezTo>
                    <a:pt x="6789420" y="115570"/>
                    <a:pt x="6807200" y="92710"/>
                    <a:pt x="6822440" y="85090"/>
                  </a:cubicBezTo>
                  <a:cubicBezTo>
                    <a:pt x="6838950" y="77470"/>
                    <a:pt x="6868160" y="78740"/>
                    <a:pt x="6883400" y="87630"/>
                  </a:cubicBezTo>
                  <a:cubicBezTo>
                    <a:pt x="6898640" y="97790"/>
                    <a:pt x="6911340" y="123190"/>
                    <a:pt x="6913880" y="139700"/>
                  </a:cubicBezTo>
                  <a:cubicBezTo>
                    <a:pt x="6915150" y="153670"/>
                    <a:pt x="6911340" y="168910"/>
                    <a:pt x="6902450" y="179070"/>
                  </a:cubicBezTo>
                  <a:cubicBezTo>
                    <a:pt x="6892290" y="191770"/>
                    <a:pt x="6882130" y="199390"/>
                    <a:pt x="6850380" y="207010"/>
                  </a:cubicBezTo>
                  <a:cubicBezTo>
                    <a:pt x="6623050" y="262890"/>
                    <a:pt x="4853940" y="203200"/>
                    <a:pt x="4003040" y="185420"/>
                  </a:cubicBezTo>
                  <a:cubicBezTo>
                    <a:pt x="3310890" y="170180"/>
                    <a:pt x="2763520" y="130810"/>
                    <a:pt x="2122170" y="120650"/>
                  </a:cubicBezTo>
                  <a:cubicBezTo>
                    <a:pt x="1451610" y="109220"/>
                    <a:pt x="232410" y="156210"/>
                    <a:pt x="62230" y="124460"/>
                  </a:cubicBezTo>
                  <a:cubicBezTo>
                    <a:pt x="36830" y="120650"/>
                    <a:pt x="31750" y="118110"/>
                    <a:pt x="21590" y="109220"/>
                  </a:cubicBezTo>
                  <a:cubicBezTo>
                    <a:pt x="10160" y="100330"/>
                    <a:pt x="1270" y="83820"/>
                    <a:pt x="0" y="69850"/>
                  </a:cubicBezTo>
                  <a:cubicBezTo>
                    <a:pt x="0" y="53340"/>
                    <a:pt x="8890" y="27940"/>
                    <a:pt x="21590" y="16510"/>
                  </a:cubicBezTo>
                  <a:cubicBezTo>
                    <a:pt x="30480" y="6350"/>
                    <a:pt x="62230" y="0"/>
                    <a:pt x="62230" y="0"/>
                  </a:cubicBezTo>
                </a:path>
              </a:pathLst>
            </a:custGeom>
            <a:solidFill>
              <a:srgbClr val="E7191F"/>
            </a:solidFill>
            <a:ln cap="sq">
              <a:noFill/>
              <a:prstDash val="solid"/>
              <a:miter/>
            </a:ln>
          </p:spPr>
        </p:sp>
      </p:grpSp>
      <p:grpSp>
        <p:nvGrpSpPr>
          <p:cNvPr name="Group 10" id="10"/>
          <p:cNvGrpSpPr/>
          <p:nvPr/>
        </p:nvGrpSpPr>
        <p:grpSpPr>
          <a:xfrm rot="0">
            <a:off x="2593658" y="7018020"/>
            <a:ext cx="6541770" cy="458153"/>
            <a:chOff x="0" y="0"/>
            <a:chExt cx="8722360" cy="610870"/>
          </a:xfrm>
        </p:grpSpPr>
        <p:sp>
          <p:nvSpPr>
            <p:cNvPr name="Freeform 11" id="11"/>
            <p:cNvSpPr/>
            <p:nvPr/>
          </p:nvSpPr>
          <p:spPr>
            <a:xfrm flipH="false" flipV="false" rot="0">
              <a:off x="49530" y="49530"/>
              <a:ext cx="8623300" cy="524510"/>
            </a:xfrm>
            <a:custGeom>
              <a:avLst/>
              <a:gdLst/>
              <a:ahLst/>
              <a:cxnLst/>
              <a:rect r="r" b="b" t="t" l="l"/>
              <a:pathLst>
                <a:path h="524510" w="8623300">
                  <a:moveTo>
                    <a:pt x="63500" y="198120"/>
                  </a:moveTo>
                  <a:cubicBezTo>
                    <a:pt x="2161540" y="279400"/>
                    <a:pt x="3098800" y="355600"/>
                    <a:pt x="3665220" y="372110"/>
                  </a:cubicBezTo>
                  <a:cubicBezTo>
                    <a:pt x="4033520" y="383540"/>
                    <a:pt x="4443730" y="393700"/>
                    <a:pt x="4578350" y="374650"/>
                  </a:cubicBezTo>
                  <a:cubicBezTo>
                    <a:pt x="4617720" y="369570"/>
                    <a:pt x="4618990" y="359410"/>
                    <a:pt x="4653280" y="353060"/>
                  </a:cubicBezTo>
                  <a:cubicBezTo>
                    <a:pt x="4719320" y="339090"/>
                    <a:pt x="4836160" y="328930"/>
                    <a:pt x="4958080" y="317500"/>
                  </a:cubicBezTo>
                  <a:cubicBezTo>
                    <a:pt x="5134610" y="300990"/>
                    <a:pt x="5380990" y="283210"/>
                    <a:pt x="5610860" y="274320"/>
                  </a:cubicBezTo>
                  <a:cubicBezTo>
                    <a:pt x="5868670" y="264160"/>
                    <a:pt x="6117590" y="279400"/>
                    <a:pt x="6430010" y="267970"/>
                  </a:cubicBezTo>
                  <a:cubicBezTo>
                    <a:pt x="6851650" y="252730"/>
                    <a:pt x="7551420" y="223520"/>
                    <a:pt x="7909560" y="168910"/>
                  </a:cubicBezTo>
                  <a:cubicBezTo>
                    <a:pt x="8116570" y="137160"/>
                    <a:pt x="8282940" y="86360"/>
                    <a:pt x="8395970" y="52070"/>
                  </a:cubicBezTo>
                  <a:cubicBezTo>
                    <a:pt x="8458200" y="33020"/>
                    <a:pt x="8500110" y="0"/>
                    <a:pt x="8538210" y="1270"/>
                  </a:cubicBezTo>
                  <a:cubicBezTo>
                    <a:pt x="8564880" y="2540"/>
                    <a:pt x="8591550" y="16510"/>
                    <a:pt x="8605520" y="31750"/>
                  </a:cubicBezTo>
                  <a:cubicBezTo>
                    <a:pt x="8616950" y="44450"/>
                    <a:pt x="8622030" y="63500"/>
                    <a:pt x="8622030" y="78740"/>
                  </a:cubicBezTo>
                  <a:cubicBezTo>
                    <a:pt x="8622030" y="95250"/>
                    <a:pt x="8616950" y="114300"/>
                    <a:pt x="8605520" y="127000"/>
                  </a:cubicBezTo>
                  <a:cubicBezTo>
                    <a:pt x="8592820" y="142240"/>
                    <a:pt x="8559800" y="157480"/>
                    <a:pt x="8539480" y="157480"/>
                  </a:cubicBezTo>
                  <a:cubicBezTo>
                    <a:pt x="8522970" y="158750"/>
                    <a:pt x="8505190" y="151130"/>
                    <a:pt x="8492490" y="139700"/>
                  </a:cubicBezTo>
                  <a:cubicBezTo>
                    <a:pt x="8478520" y="125730"/>
                    <a:pt x="8464550" y="91440"/>
                    <a:pt x="8464550" y="71120"/>
                  </a:cubicBezTo>
                  <a:cubicBezTo>
                    <a:pt x="8465820" y="54610"/>
                    <a:pt x="8473440" y="36830"/>
                    <a:pt x="8486140" y="25400"/>
                  </a:cubicBezTo>
                  <a:cubicBezTo>
                    <a:pt x="8501380" y="12700"/>
                    <a:pt x="8535670" y="0"/>
                    <a:pt x="8555990" y="2540"/>
                  </a:cubicBezTo>
                  <a:cubicBezTo>
                    <a:pt x="8572500" y="3810"/>
                    <a:pt x="8589010" y="13970"/>
                    <a:pt x="8600440" y="25400"/>
                  </a:cubicBezTo>
                  <a:cubicBezTo>
                    <a:pt x="8610600" y="36830"/>
                    <a:pt x="8619490" y="54610"/>
                    <a:pt x="8620760" y="71120"/>
                  </a:cubicBezTo>
                  <a:cubicBezTo>
                    <a:pt x="8623300" y="86360"/>
                    <a:pt x="8619490" y="106680"/>
                    <a:pt x="8610600" y="119380"/>
                  </a:cubicBezTo>
                  <a:cubicBezTo>
                    <a:pt x="8602980" y="133350"/>
                    <a:pt x="8592820" y="140970"/>
                    <a:pt x="8572500" y="152400"/>
                  </a:cubicBezTo>
                  <a:cubicBezTo>
                    <a:pt x="8521700" y="180340"/>
                    <a:pt x="8376920" y="219710"/>
                    <a:pt x="8271510" y="245110"/>
                  </a:cubicBezTo>
                  <a:cubicBezTo>
                    <a:pt x="8155940" y="273050"/>
                    <a:pt x="8027670" y="300990"/>
                    <a:pt x="7909560" y="312420"/>
                  </a:cubicBezTo>
                  <a:cubicBezTo>
                    <a:pt x="7797800" y="322580"/>
                    <a:pt x="7722870" y="308610"/>
                    <a:pt x="7580630" y="313690"/>
                  </a:cubicBezTo>
                  <a:cubicBezTo>
                    <a:pt x="7313930" y="322580"/>
                    <a:pt x="6827520" y="370840"/>
                    <a:pt x="6436360" y="392430"/>
                  </a:cubicBezTo>
                  <a:cubicBezTo>
                    <a:pt x="6024880" y="414020"/>
                    <a:pt x="5444490" y="424180"/>
                    <a:pt x="5168900" y="439420"/>
                  </a:cubicBezTo>
                  <a:cubicBezTo>
                    <a:pt x="5035550" y="447040"/>
                    <a:pt x="4969510" y="449580"/>
                    <a:pt x="4871720" y="461010"/>
                  </a:cubicBezTo>
                  <a:cubicBezTo>
                    <a:pt x="4772660" y="472440"/>
                    <a:pt x="4704080" y="500380"/>
                    <a:pt x="4579620" y="509270"/>
                  </a:cubicBezTo>
                  <a:cubicBezTo>
                    <a:pt x="4358640" y="524510"/>
                    <a:pt x="4029710" y="501650"/>
                    <a:pt x="3658870" y="487680"/>
                  </a:cubicBezTo>
                  <a:cubicBezTo>
                    <a:pt x="3092450" y="464820"/>
                    <a:pt x="2156460" y="394970"/>
                    <a:pt x="1510030" y="367030"/>
                  </a:cubicBezTo>
                  <a:cubicBezTo>
                    <a:pt x="980440" y="344170"/>
                    <a:pt x="203200" y="351790"/>
                    <a:pt x="63500" y="323850"/>
                  </a:cubicBezTo>
                  <a:cubicBezTo>
                    <a:pt x="39370" y="318770"/>
                    <a:pt x="33020" y="317500"/>
                    <a:pt x="22860" y="307340"/>
                  </a:cubicBezTo>
                  <a:cubicBezTo>
                    <a:pt x="11430" y="298450"/>
                    <a:pt x="3810" y="281940"/>
                    <a:pt x="1270" y="267970"/>
                  </a:cubicBezTo>
                  <a:cubicBezTo>
                    <a:pt x="0" y="255270"/>
                    <a:pt x="3810" y="236220"/>
                    <a:pt x="12700" y="224790"/>
                  </a:cubicBezTo>
                  <a:cubicBezTo>
                    <a:pt x="22860" y="212090"/>
                    <a:pt x="63500" y="198120"/>
                    <a:pt x="63500" y="198120"/>
                  </a:cubicBezTo>
                </a:path>
              </a:pathLst>
            </a:custGeom>
            <a:solidFill>
              <a:srgbClr val="E7191F"/>
            </a:solidFill>
            <a:ln cap="sq">
              <a:noFill/>
              <a:prstDash val="solid"/>
              <a:miter/>
            </a:ln>
          </p:spPr>
        </p:sp>
      </p:grpSp>
      <p:grpSp>
        <p:nvGrpSpPr>
          <p:cNvPr name="Group 12" id="12"/>
          <p:cNvGrpSpPr/>
          <p:nvPr/>
        </p:nvGrpSpPr>
        <p:grpSpPr>
          <a:xfrm rot="0">
            <a:off x="2713672" y="8734425"/>
            <a:ext cx="7046595" cy="400050"/>
            <a:chOff x="0" y="0"/>
            <a:chExt cx="9395460" cy="533400"/>
          </a:xfrm>
        </p:grpSpPr>
        <p:sp>
          <p:nvSpPr>
            <p:cNvPr name="Freeform 13" id="13"/>
            <p:cNvSpPr/>
            <p:nvPr/>
          </p:nvSpPr>
          <p:spPr>
            <a:xfrm flipH="false" flipV="false" rot="0">
              <a:off x="50800" y="31750"/>
              <a:ext cx="9295130" cy="455930"/>
            </a:xfrm>
            <a:custGeom>
              <a:avLst/>
              <a:gdLst/>
              <a:ahLst/>
              <a:cxnLst/>
              <a:rect r="r" b="b" t="t" l="l"/>
              <a:pathLst>
                <a:path h="455930" w="9295130">
                  <a:moveTo>
                    <a:pt x="50800" y="325120"/>
                  </a:moveTo>
                  <a:cubicBezTo>
                    <a:pt x="384810" y="265430"/>
                    <a:pt x="524510" y="275590"/>
                    <a:pt x="661670" y="267970"/>
                  </a:cubicBezTo>
                  <a:cubicBezTo>
                    <a:pt x="814070" y="260350"/>
                    <a:pt x="925830" y="242570"/>
                    <a:pt x="1145540" y="228600"/>
                  </a:cubicBezTo>
                  <a:cubicBezTo>
                    <a:pt x="1611630" y="199390"/>
                    <a:pt x="2668270" y="151130"/>
                    <a:pt x="3332480" y="135890"/>
                  </a:cubicBezTo>
                  <a:cubicBezTo>
                    <a:pt x="3890010" y="121920"/>
                    <a:pt x="4484370" y="121920"/>
                    <a:pt x="4867910" y="128270"/>
                  </a:cubicBezTo>
                  <a:cubicBezTo>
                    <a:pt x="5100320" y="132080"/>
                    <a:pt x="5237480" y="147320"/>
                    <a:pt x="5424170" y="149860"/>
                  </a:cubicBezTo>
                  <a:cubicBezTo>
                    <a:pt x="5612130" y="153670"/>
                    <a:pt x="5817870" y="144780"/>
                    <a:pt x="5990590" y="149860"/>
                  </a:cubicBezTo>
                  <a:cubicBezTo>
                    <a:pt x="6135370" y="153670"/>
                    <a:pt x="6220460" y="167640"/>
                    <a:pt x="6390640" y="172720"/>
                  </a:cubicBezTo>
                  <a:cubicBezTo>
                    <a:pt x="6690360" y="180340"/>
                    <a:pt x="7329170" y="176530"/>
                    <a:pt x="7630160" y="168910"/>
                  </a:cubicBezTo>
                  <a:cubicBezTo>
                    <a:pt x="7801610" y="163830"/>
                    <a:pt x="7898130" y="161290"/>
                    <a:pt x="8032750" y="148590"/>
                  </a:cubicBezTo>
                  <a:cubicBezTo>
                    <a:pt x="8171180" y="134620"/>
                    <a:pt x="8327390" y="113030"/>
                    <a:pt x="8451850" y="88900"/>
                  </a:cubicBezTo>
                  <a:cubicBezTo>
                    <a:pt x="8550910" y="69850"/>
                    <a:pt x="8655050" y="33020"/>
                    <a:pt x="8719820" y="24130"/>
                  </a:cubicBezTo>
                  <a:cubicBezTo>
                    <a:pt x="8756650" y="19050"/>
                    <a:pt x="8766810" y="21590"/>
                    <a:pt x="8806180" y="21590"/>
                  </a:cubicBezTo>
                  <a:cubicBezTo>
                    <a:pt x="8893810" y="20320"/>
                    <a:pt x="9168130" y="0"/>
                    <a:pt x="9235440" y="22860"/>
                  </a:cubicBezTo>
                  <a:cubicBezTo>
                    <a:pt x="9259570" y="31750"/>
                    <a:pt x="9269730" y="41910"/>
                    <a:pt x="9278620" y="57150"/>
                  </a:cubicBezTo>
                  <a:cubicBezTo>
                    <a:pt x="9288780" y="71120"/>
                    <a:pt x="9295130" y="92710"/>
                    <a:pt x="9293860" y="109220"/>
                  </a:cubicBezTo>
                  <a:cubicBezTo>
                    <a:pt x="9292590" y="127000"/>
                    <a:pt x="9284970" y="147320"/>
                    <a:pt x="9273540" y="160020"/>
                  </a:cubicBezTo>
                  <a:cubicBezTo>
                    <a:pt x="9262110" y="173990"/>
                    <a:pt x="9243060" y="185420"/>
                    <a:pt x="9226550" y="189230"/>
                  </a:cubicBezTo>
                  <a:cubicBezTo>
                    <a:pt x="9208770" y="193040"/>
                    <a:pt x="9187180" y="191770"/>
                    <a:pt x="9171940" y="182880"/>
                  </a:cubicBezTo>
                  <a:cubicBezTo>
                    <a:pt x="9152890" y="171450"/>
                    <a:pt x="9128760" y="140970"/>
                    <a:pt x="9122410" y="119380"/>
                  </a:cubicBezTo>
                  <a:cubicBezTo>
                    <a:pt x="9118600" y="100330"/>
                    <a:pt x="9122410" y="80010"/>
                    <a:pt x="9131300" y="64770"/>
                  </a:cubicBezTo>
                  <a:cubicBezTo>
                    <a:pt x="9144000" y="45720"/>
                    <a:pt x="9174480" y="21590"/>
                    <a:pt x="9198610" y="19050"/>
                  </a:cubicBezTo>
                  <a:cubicBezTo>
                    <a:pt x="9221470" y="16510"/>
                    <a:pt x="9257030" y="33020"/>
                    <a:pt x="9273540" y="49530"/>
                  </a:cubicBezTo>
                  <a:cubicBezTo>
                    <a:pt x="9286240" y="62230"/>
                    <a:pt x="9292590" y="82550"/>
                    <a:pt x="9293860" y="100330"/>
                  </a:cubicBezTo>
                  <a:cubicBezTo>
                    <a:pt x="9295130" y="118110"/>
                    <a:pt x="9288780" y="138430"/>
                    <a:pt x="9278620" y="153670"/>
                  </a:cubicBezTo>
                  <a:cubicBezTo>
                    <a:pt x="9269730" y="167640"/>
                    <a:pt x="9259570" y="177800"/>
                    <a:pt x="9235440" y="186690"/>
                  </a:cubicBezTo>
                  <a:cubicBezTo>
                    <a:pt x="9156700" y="213360"/>
                    <a:pt x="8846820" y="175260"/>
                    <a:pt x="8689340" y="194310"/>
                  </a:cubicBezTo>
                  <a:cubicBezTo>
                    <a:pt x="8567420" y="208280"/>
                    <a:pt x="8497570" y="246380"/>
                    <a:pt x="8366760" y="266700"/>
                  </a:cubicBezTo>
                  <a:cubicBezTo>
                    <a:pt x="8172450" y="295910"/>
                    <a:pt x="7912100" y="312420"/>
                    <a:pt x="7630160" y="323850"/>
                  </a:cubicBezTo>
                  <a:cubicBezTo>
                    <a:pt x="7247890" y="337820"/>
                    <a:pt x="6711950" y="326390"/>
                    <a:pt x="6282690" y="317500"/>
                  </a:cubicBezTo>
                  <a:cubicBezTo>
                    <a:pt x="5888990" y="311150"/>
                    <a:pt x="5595620" y="289560"/>
                    <a:pt x="5151120" y="280670"/>
                  </a:cubicBezTo>
                  <a:cubicBezTo>
                    <a:pt x="4516120" y="267970"/>
                    <a:pt x="3543300" y="252730"/>
                    <a:pt x="2833370" y="267970"/>
                  </a:cubicBezTo>
                  <a:cubicBezTo>
                    <a:pt x="2228850" y="279400"/>
                    <a:pt x="1549400" y="320040"/>
                    <a:pt x="1156970" y="346710"/>
                  </a:cubicBezTo>
                  <a:cubicBezTo>
                    <a:pt x="943610" y="360680"/>
                    <a:pt x="815340" y="381000"/>
                    <a:pt x="662940" y="391160"/>
                  </a:cubicBezTo>
                  <a:cubicBezTo>
                    <a:pt x="533400" y="398780"/>
                    <a:pt x="407670" y="393700"/>
                    <a:pt x="299720" y="405130"/>
                  </a:cubicBezTo>
                  <a:cubicBezTo>
                    <a:pt x="210820" y="415290"/>
                    <a:pt x="106680" y="455930"/>
                    <a:pt x="60960" y="449580"/>
                  </a:cubicBezTo>
                  <a:cubicBezTo>
                    <a:pt x="40640" y="448310"/>
                    <a:pt x="29210" y="441960"/>
                    <a:pt x="19050" y="431800"/>
                  </a:cubicBezTo>
                  <a:cubicBezTo>
                    <a:pt x="10160" y="422910"/>
                    <a:pt x="1270" y="405130"/>
                    <a:pt x="0" y="391160"/>
                  </a:cubicBezTo>
                  <a:cubicBezTo>
                    <a:pt x="0" y="377190"/>
                    <a:pt x="5080" y="359410"/>
                    <a:pt x="12700" y="349250"/>
                  </a:cubicBezTo>
                  <a:cubicBezTo>
                    <a:pt x="21590" y="337820"/>
                    <a:pt x="50800" y="325120"/>
                    <a:pt x="50800" y="325120"/>
                  </a:cubicBezTo>
                </a:path>
              </a:pathLst>
            </a:custGeom>
            <a:solidFill>
              <a:srgbClr val="E7191F"/>
            </a:solidFill>
            <a:ln cap="sq">
              <a:noFill/>
              <a:prstDash val="solid"/>
              <a:miter/>
            </a:ln>
          </p:spPr>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1028700" y="1123950"/>
            <a:ext cx="8668703" cy="660400"/>
          </a:xfrm>
          <a:prstGeom prst="rect">
            <a:avLst/>
          </a:prstGeom>
        </p:spPr>
        <p:txBody>
          <a:bodyPr anchor="t" rtlCol="false" tIns="0" lIns="0" bIns="0" rIns="0">
            <a:spAutoFit/>
          </a:bodyPr>
          <a:lstStyle/>
          <a:p>
            <a:pPr algn="l">
              <a:lnSpc>
                <a:spcPts val="5000"/>
              </a:lnSpc>
              <a:spcBef>
                <a:spcPct val="0"/>
              </a:spcBef>
            </a:pPr>
            <a:r>
              <a:rPr lang="en-US" b="true" sz="5000">
                <a:solidFill>
                  <a:srgbClr val="000000"/>
                </a:solidFill>
                <a:latin typeface="Cabin Bold"/>
                <a:ea typeface="Cabin Bold"/>
                <a:cs typeface="Cabin Bold"/>
                <a:sym typeface="Cabin Bold"/>
              </a:rPr>
              <a:t>Thiết kế đầu vào (Input Design) </a:t>
            </a:r>
          </a:p>
        </p:txBody>
      </p:sp>
      <p:sp>
        <p:nvSpPr>
          <p:cNvPr name="TextBox 3" id="3"/>
          <p:cNvSpPr txBox="true"/>
          <p:nvPr/>
        </p:nvSpPr>
        <p:spPr>
          <a:xfrm rot="0">
            <a:off x="1217430" y="2197477"/>
            <a:ext cx="15853139" cy="5913120"/>
          </a:xfrm>
          <a:prstGeom prst="rect">
            <a:avLst/>
          </a:prstGeom>
        </p:spPr>
        <p:txBody>
          <a:bodyPr anchor="t" rtlCol="false" tIns="0" lIns="0" bIns="0" rIns="0">
            <a:spAutoFit/>
          </a:bodyPr>
          <a:lstStyle/>
          <a:p>
            <a:pPr algn="l" marL="906780" indent="-453390" lvl="1">
              <a:lnSpc>
                <a:spcPts val="5880"/>
              </a:lnSpc>
              <a:buFont typeface="Arial"/>
              <a:buChar char="•"/>
            </a:pPr>
            <a:r>
              <a:rPr lang="en-US" sz="4200">
                <a:solidFill>
                  <a:srgbClr val="000000"/>
                </a:solidFill>
                <a:latin typeface="Cabin"/>
                <a:ea typeface="Cabin"/>
                <a:cs typeface="Cabin"/>
                <a:sym typeface="Cabin"/>
              </a:rPr>
              <a:t>Thiết kế đầu vào quyết định tính chính xác của hệ thống</a:t>
            </a:r>
          </a:p>
          <a:p>
            <a:pPr algn="l" marL="906780" indent="-453390" lvl="1">
              <a:lnSpc>
                <a:spcPts val="5880"/>
              </a:lnSpc>
              <a:buFont typeface="Arial"/>
              <a:buChar char="•"/>
            </a:pPr>
            <a:r>
              <a:rPr lang="en-US" sz="4200">
                <a:solidFill>
                  <a:srgbClr val="000000"/>
                </a:solidFill>
                <a:latin typeface="Cabin"/>
                <a:ea typeface="Cabin"/>
                <a:cs typeface="Cabin"/>
                <a:sym typeface="Cabin"/>
              </a:rPr>
              <a:t>Có 2 loại đầu vào</a:t>
            </a:r>
          </a:p>
          <a:p>
            <a:pPr algn="l" marL="1813560" indent="-604520" lvl="2">
              <a:lnSpc>
                <a:spcPts val="5880"/>
              </a:lnSpc>
              <a:buFont typeface="Arial"/>
              <a:buChar char="⚬"/>
            </a:pPr>
            <a:r>
              <a:rPr lang="en-US" sz="4200">
                <a:solidFill>
                  <a:srgbClr val="000000"/>
                </a:solidFill>
                <a:latin typeface="Cabin"/>
                <a:ea typeface="Cabin"/>
                <a:cs typeface="Cabin"/>
                <a:sym typeface="Cabin"/>
              </a:rPr>
              <a:t>Đầu vào thời gian thực (Real-time input): </a:t>
            </a:r>
          </a:p>
          <a:p>
            <a:pPr algn="l" marL="2720340" indent="-680085" lvl="3">
              <a:lnSpc>
                <a:spcPts val="5880"/>
              </a:lnSpc>
              <a:buFont typeface="Arial"/>
              <a:buChar char="￭"/>
            </a:pPr>
            <a:r>
              <a:rPr lang="en-US" sz="4200">
                <a:solidFill>
                  <a:srgbClr val="000000"/>
                </a:solidFill>
                <a:latin typeface="Cabin"/>
                <a:ea typeface="Cabin"/>
                <a:cs typeface="Cabin"/>
                <a:sym typeface="Cabin"/>
              </a:rPr>
              <a:t>Sử dụng biểu mẫu &amp; điều khiển</a:t>
            </a:r>
          </a:p>
          <a:p>
            <a:pPr algn="l" marL="1813560" indent="-604520" lvl="2">
              <a:lnSpc>
                <a:spcPts val="5880"/>
              </a:lnSpc>
              <a:buFont typeface="Arial"/>
              <a:buChar char="⚬"/>
            </a:pPr>
            <a:r>
              <a:rPr lang="en-US" sz="4200">
                <a:solidFill>
                  <a:srgbClr val="000000"/>
                </a:solidFill>
                <a:latin typeface="Cabin"/>
                <a:ea typeface="Cabin"/>
                <a:cs typeface="Cabin"/>
                <a:sym typeface="Cabin"/>
              </a:rPr>
              <a:t>Đầu vào hàng loạt (Batch input): </a:t>
            </a:r>
          </a:p>
          <a:p>
            <a:pPr algn="l" marL="2720340" indent="-680085" lvl="3">
              <a:lnSpc>
                <a:spcPts val="5880"/>
              </a:lnSpc>
              <a:buFont typeface="Arial"/>
              <a:buChar char="￭"/>
            </a:pPr>
            <a:r>
              <a:rPr lang="en-US" sz="4200">
                <a:solidFill>
                  <a:srgbClr val="000000"/>
                </a:solidFill>
                <a:latin typeface="Cabin"/>
                <a:ea typeface="Cabin"/>
                <a:cs typeface="Cabin"/>
                <a:sym typeface="Cabin"/>
              </a:rPr>
              <a:t>Nhập khối lượng lớn dữ liệu có cấu trúc</a:t>
            </a:r>
          </a:p>
          <a:p>
            <a:pPr algn="l" marL="906780" indent="-453390" lvl="1">
              <a:lnSpc>
                <a:spcPts val="5880"/>
              </a:lnSpc>
              <a:buFont typeface="Arial"/>
              <a:buChar char="•"/>
            </a:pPr>
            <a:r>
              <a:rPr lang="en-US" sz="4200">
                <a:solidFill>
                  <a:srgbClr val="000000"/>
                </a:solidFill>
                <a:latin typeface="Cabin"/>
                <a:ea typeface="Cabin"/>
                <a:cs typeface="Cabin"/>
                <a:sym typeface="Cabin"/>
              </a:rPr>
              <a:t>Thiết kế đầu vào tốt nhất là thiết kế đơn giản và tự nhiên nhất</a:t>
            </a:r>
          </a:p>
          <a:p>
            <a:pPr algn="l" marL="906780" indent="-453390" lvl="1">
              <a:lnSpc>
                <a:spcPts val="5880"/>
              </a:lnSpc>
              <a:buFont typeface="Arial"/>
              <a:buChar char="•"/>
            </a:pPr>
            <a:r>
              <a:rPr lang="en-US" sz="4200">
                <a:solidFill>
                  <a:srgbClr val="000000"/>
                </a:solidFill>
                <a:latin typeface="Cabin"/>
                <a:ea typeface="Cabin"/>
                <a:cs typeface="Cabin"/>
                <a:sym typeface="Cabin"/>
              </a:rPr>
              <a:t>Phòng tránh lỗi và xác thực dữ liệu</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5391428" y="2400935"/>
            <a:ext cx="5153293" cy="3296140"/>
          </a:xfrm>
          <a:custGeom>
            <a:avLst/>
            <a:gdLst/>
            <a:ahLst/>
            <a:cxnLst/>
            <a:rect r="r" b="b" t="t" l="l"/>
            <a:pathLst>
              <a:path h="3296140" w="5153293">
                <a:moveTo>
                  <a:pt x="0" y="0"/>
                </a:moveTo>
                <a:lnTo>
                  <a:pt x="5153293" y="0"/>
                </a:lnTo>
                <a:lnTo>
                  <a:pt x="5153293" y="3296140"/>
                </a:lnTo>
                <a:lnTo>
                  <a:pt x="0" y="3296140"/>
                </a:lnTo>
                <a:lnTo>
                  <a:pt x="0" y="0"/>
                </a:lnTo>
                <a:close/>
              </a:path>
            </a:pathLst>
          </a:custGeom>
          <a:blipFill>
            <a:blip r:embed="rId2"/>
            <a:stretch>
              <a:fillRect l="0" t="0" r="0" b="0"/>
            </a:stretch>
          </a:blipFill>
        </p:spPr>
      </p:sp>
      <p:sp>
        <p:nvSpPr>
          <p:cNvPr name="Freeform 3" id="3"/>
          <p:cNvSpPr/>
          <p:nvPr/>
        </p:nvSpPr>
        <p:spPr>
          <a:xfrm flipH="false" flipV="false" rot="0">
            <a:off x="4573441" y="6928327"/>
            <a:ext cx="10659190" cy="3063099"/>
          </a:xfrm>
          <a:custGeom>
            <a:avLst/>
            <a:gdLst/>
            <a:ahLst/>
            <a:cxnLst/>
            <a:rect r="r" b="b" t="t" l="l"/>
            <a:pathLst>
              <a:path h="3063099" w="10659190">
                <a:moveTo>
                  <a:pt x="0" y="0"/>
                </a:moveTo>
                <a:lnTo>
                  <a:pt x="10659190" y="0"/>
                </a:lnTo>
                <a:lnTo>
                  <a:pt x="10659190" y="3063098"/>
                </a:lnTo>
                <a:lnTo>
                  <a:pt x="0" y="3063098"/>
                </a:lnTo>
                <a:lnTo>
                  <a:pt x="0" y="0"/>
                </a:lnTo>
                <a:close/>
              </a:path>
            </a:pathLst>
          </a:custGeom>
          <a:blipFill>
            <a:blip r:embed="rId3"/>
            <a:stretch>
              <a:fillRect l="0" t="0" r="0" b="-32485"/>
            </a:stretch>
          </a:blipFill>
        </p:spPr>
      </p:sp>
      <p:sp>
        <p:nvSpPr>
          <p:cNvPr name="TextBox 4" id="4"/>
          <p:cNvSpPr txBox="true"/>
          <p:nvPr/>
        </p:nvSpPr>
        <p:spPr>
          <a:xfrm rot="0">
            <a:off x="1028700" y="1095375"/>
            <a:ext cx="17259300" cy="1305560"/>
          </a:xfrm>
          <a:prstGeom prst="rect">
            <a:avLst/>
          </a:prstGeom>
        </p:spPr>
        <p:txBody>
          <a:bodyPr anchor="t" rtlCol="false" tIns="0" lIns="0" bIns="0" rIns="0">
            <a:spAutoFit/>
          </a:bodyPr>
          <a:lstStyle/>
          <a:p>
            <a:pPr algn="l">
              <a:lnSpc>
                <a:spcPts val="3399"/>
              </a:lnSpc>
              <a:spcBef>
                <a:spcPct val="0"/>
              </a:spcBef>
            </a:pPr>
            <a:r>
              <a:rPr lang="en-US" sz="3399">
                <a:solidFill>
                  <a:srgbClr val="000000"/>
                </a:solidFill>
                <a:latin typeface="Cabin"/>
                <a:ea typeface="Cabin"/>
                <a:cs typeface="Cabin"/>
                <a:sym typeface="Cabin"/>
              </a:rPr>
              <a:t>Ví dụ thực tế:</a:t>
            </a:r>
          </a:p>
          <a:p>
            <a:pPr algn="l">
              <a:lnSpc>
                <a:spcPts val="3399"/>
              </a:lnSpc>
              <a:spcBef>
                <a:spcPct val="0"/>
              </a:spcBef>
            </a:pPr>
            <a:r>
              <a:rPr lang="en-US" sz="3399">
                <a:solidFill>
                  <a:srgbClr val="000000"/>
                </a:solidFill>
                <a:latin typeface="Cabin"/>
                <a:ea typeface="Cabin"/>
                <a:cs typeface="Cabin"/>
                <a:sym typeface="Cabin"/>
              </a:rPr>
              <a:t>Form đăng nhập: Chỉ cần nhập email và mật khẩu, không cần nhập lại mật khẩu hoặc các thông tin không cần thiết.</a:t>
            </a:r>
          </a:p>
        </p:txBody>
      </p:sp>
      <p:sp>
        <p:nvSpPr>
          <p:cNvPr name="TextBox 5" id="5"/>
          <p:cNvSpPr txBox="true"/>
          <p:nvPr/>
        </p:nvSpPr>
        <p:spPr>
          <a:xfrm rot="0">
            <a:off x="970589" y="6051392"/>
            <a:ext cx="16346823" cy="876935"/>
          </a:xfrm>
          <a:prstGeom prst="rect">
            <a:avLst/>
          </a:prstGeom>
        </p:spPr>
        <p:txBody>
          <a:bodyPr anchor="t" rtlCol="false" tIns="0" lIns="0" bIns="0" rIns="0">
            <a:spAutoFit/>
          </a:bodyPr>
          <a:lstStyle/>
          <a:p>
            <a:pPr algn="l">
              <a:lnSpc>
                <a:spcPts val="3399"/>
              </a:lnSpc>
              <a:spcBef>
                <a:spcPct val="0"/>
              </a:spcBef>
            </a:pPr>
            <a:r>
              <a:rPr lang="en-US" sz="3399">
                <a:solidFill>
                  <a:srgbClr val="000000"/>
                </a:solidFill>
                <a:latin typeface="Cabin"/>
                <a:ea typeface="Cabin"/>
                <a:cs typeface="Cabin"/>
                <a:sym typeface="Cabin"/>
              </a:rPr>
              <a:t>Thanh tìm kiếm: Khi người dùng gõ, hệ thống gợi ý kết quả ngay lập tức thay vì yêu cầu nhấn "Tìm kiếm".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4170718" y="3051651"/>
            <a:ext cx="4157936" cy="6206649"/>
          </a:xfrm>
          <a:custGeom>
            <a:avLst/>
            <a:gdLst/>
            <a:ahLst/>
            <a:cxnLst/>
            <a:rect r="r" b="b" t="t" l="l"/>
            <a:pathLst>
              <a:path h="6206649" w="4157936">
                <a:moveTo>
                  <a:pt x="0" y="0"/>
                </a:moveTo>
                <a:lnTo>
                  <a:pt x="4157936" y="0"/>
                </a:lnTo>
                <a:lnTo>
                  <a:pt x="4157936" y="6206649"/>
                </a:lnTo>
                <a:lnTo>
                  <a:pt x="0" y="6206649"/>
                </a:lnTo>
                <a:lnTo>
                  <a:pt x="0" y="0"/>
                </a:lnTo>
                <a:close/>
              </a:path>
            </a:pathLst>
          </a:custGeom>
          <a:blipFill>
            <a:blip r:embed="rId2"/>
            <a:stretch>
              <a:fillRect l="0" t="0" r="0" b="0"/>
            </a:stretch>
          </a:blipFill>
        </p:spPr>
      </p:sp>
      <p:sp>
        <p:nvSpPr>
          <p:cNvPr name="Freeform 3" id="3"/>
          <p:cNvSpPr/>
          <p:nvPr/>
        </p:nvSpPr>
        <p:spPr>
          <a:xfrm flipH="false" flipV="false" rot="0">
            <a:off x="11153079" y="1982669"/>
            <a:ext cx="4244999" cy="7275631"/>
          </a:xfrm>
          <a:custGeom>
            <a:avLst/>
            <a:gdLst/>
            <a:ahLst/>
            <a:cxnLst/>
            <a:rect r="r" b="b" t="t" l="l"/>
            <a:pathLst>
              <a:path h="7275631" w="4244999">
                <a:moveTo>
                  <a:pt x="0" y="0"/>
                </a:moveTo>
                <a:lnTo>
                  <a:pt x="4244999" y="0"/>
                </a:lnTo>
                <a:lnTo>
                  <a:pt x="4244999" y="7275631"/>
                </a:lnTo>
                <a:lnTo>
                  <a:pt x="0" y="7275631"/>
                </a:lnTo>
                <a:lnTo>
                  <a:pt x="0" y="0"/>
                </a:lnTo>
                <a:close/>
              </a:path>
            </a:pathLst>
          </a:custGeom>
          <a:blipFill>
            <a:blip r:embed="rId3"/>
            <a:stretch>
              <a:fillRect l="0" t="0" r="0" b="-15286"/>
            </a:stretch>
          </a:blipFill>
        </p:spPr>
      </p:sp>
      <p:sp>
        <p:nvSpPr>
          <p:cNvPr name="TextBox 4" id="4"/>
          <p:cNvSpPr txBox="true"/>
          <p:nvPr/>
        </p:nvSpPr>
        <p:spPr>
          <a:xfrm rot="0">
            <a:off x="1028700" y="952500"/>
            <a:ext cx="16230600" cy="1348740"/>
          </a:xfrm>
          <a:prstGeom prst="rect">
            <a:avLst/>
          </a:prstGeom>
        </p:spPr>
        <p:txBody>
          <a:bodyPr anchor="t" rtlCol="false" tIns="0" lIns="0" bIns="0" rIns="0">
            <a:spAutoFit/>
          </a:bodyPr>
          <a:lstStyle/>
          <a:p>
            <a:pPr algn="l">
              <a:lnSpc>
                <a:spcPts val="5459"/>
              </a:lnSpc>
            </a:pPr>
            <a:r>
              <a:rPr lang="en-US" b="true" sz="3899">
                <a:solidFill>
                  <a:srgbClr val="000000"/>
                </a:solidFill>
                <a:latin typeface="Cabin Bold"/>
                <a:ea typeface="Cabin Bold"/>
                <a:cs typeface="Cabin Bold"/>
                <a:sym typeface="Cabin Bold"/>
              </a:rPr>
              <a:t>Đầu vào thời gian thực (Real-time input): - Sử dụng biểu mẫu &amp; điều khiển</a:t>
            </a:r>
          </a:p>
          <a:p>
            <a:pPr algn="l" marL="842007" indent="-421003" lvl="1">
              <a:lnSpc>
                <a:spcPts val="5459"/>
              </a:lnSpc>
              <a:buFont typeface="Arial"/>
              <a:buChar char="•"/>
            </a:pPr>
            <a:r>
              <a:rPr lang="en-US" sz="3899">
                <a:solidFill>
                  <a:srgbClr val="000000"/>
                </a:solidFill>
                <a:latin typeface="Cabin"/>
                <a:ea typeface="Cabin"/>
                <a:cs typeface="Cabin"/>
                <a:sym typeface="Cabin"/>
              </a:rPr>
              <a:t>ví dụ: nhập biểu mẫu đăng ký tài khoản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3434235" y="2739273"/>
            <a:ext cx="10645326" cy="3105488"/>
          </a:xfrm>
          <a:custGeom>
            <a:avLst/>
            <a:gdLst/>
            <a:ahLst/>
            <a:cxnLst/>
            <a:rect r="r" b="b" t="t" l="l"/>
            <a:pathLst>
              <a:path h="3105488" w="10645326">
                <a:moveTo>
                  <a:pt x="0" y="0"/>
                </a:moveTo>
                <a:lnTo>
                  <a:pt x="10645326" y="0"/>
                </a:lnTo>
                <a:lnTo>
                  <a:pt x="10645326" y="3105489"/>
                </a:lnTo>
                <a:lnTo>
                  <a:pt x="0" y="3105489"/>
                </a:lnTo>
                <a:lnTo>
                  <a:pt x="0" y="0"/>
                </a:lnTo>
                <a:close/>
              </a:path>
            </a:pathLst>
          </a:custGeom>
          <a:blipFill>
            <a:blip r:embed="rId2"/>
            <a:stretch>
              <a:fillRect l="0" t="0" r="0" b="0"/>
            </a:stretch>
          </a:blipFill>
        </p:spPr>
      </p:sp>
      <p:sp>
        <p:nvSpPr>
          <p:cNvPr name="Freeform 3" id="3"/>
          <p:cNvSpPr/>
          <p:nvPr/>
        </p:nvSpPr>
        <p:spPr>
          <a:xfrm flipH="false" flipV="false" rot="0">
            <a:off x="3434235" y="6282912"/>
            <a:ext cx="10739864" cy="3337150"/>
          </a:xfrm>
          <a:custGeom>
            <a:avLst/>
            <a:gdLst/>
            <a:ahLst/>
            <a:cxnLst/>
            <a:rect r="r" b="b" t="t" l="l"/>
            <a:pathLst>
              <a:path h="3337150" w="10739864">
                <a:moveTo>
                  <a:pt x="0" y="0"/>
                </a:moveTo>
                <a:lnTo>
                  <a:pt x="10739865" y="0"/>
                </a:lnTo>
                <a:lnTo>
                  <a:pt x="10739865" y="3337150"/>
                </a:lnTo>
                <a:lnTo>
                  <a:pt x="0" y="3337150"/>
                </a:lnTo>
                <a:lnTo>
                  <a:pt x="0" y="0"/>
                </a:lnTo>
                <a:close/>
              </a:path>
            </a:pathLst>
          </a:custGeom>
          <a:blipFill>
            <a:blip r:embed="rId3"/>
            <a:stretch>
              <a:fillRect l="0" t="0" r="0" b="0"/>
            </a:stretch>
          </a:blipFill>
        </p:spPr>
      </p:sp>
      <p:sp>
        <p:nvSpPr>
          <p:cNvPr name="TextBox 4" id="4"/>
          <p:cNvSpPr txBox="true"/>
          <p:nvPr/>
        </p:nvSpPr>
        <p:spPr>
          <a:xfrm rot="0">
            <a:off x="1028700" y="952500"/>
            <a:ext cx="15456396" cy="1348740"/>
          </a:xfrm>
          <a:prstGeom prst="rect">
            <a:avLst/>
          </a:prstGeom>
        </p:spPr>
        <p:txBody>
          <a:bodyPr anchor="t" rtlCol="false" tIns="0" lIns="0" bIns="0" rIns="0">
            <a:spAutoFit/>
          </a:bodyPr>
          <a:lstStyle/>
          <a:p>
            <a:pPr algn="l">
              <a:lnSpc>
                <a:spcPts val="5459"/>
              </a:lnSpc>
            </a:pPr>
            <a:r>
              <a:rPr lang="en-US" b="true" sz="3900">
                <a:solidFill>
                  <a:srgbClr val="000000"/>
                </a:solidFill>
                <a:latin typeface="Cabin Bold"/>
                <a:ea typeface="Cabin Bold"/>
                <a:cs typeface="Cabin Bold"/>
                <a:sym typeface="Cabin Bold"/>
              </a:rPr>
              <a:t>Đầu vào hàng loạt (Batch input) - Nhập khối lượng lớn dữ liệu có cấu trúc</a:t>
            </a:r>
          </a:p>
          <a:p>
            <a:pPr algn="l" marL="842010" indent="-421005" lvl="1">
              <a:lnSpc>
                <a:spcPts val="5459"/>
              </a:lnSpc>
              <a:buFont typeface="Arial"/>
              <a:buChar char="•"/>
            </a:pPr>
            <a:r>
              <a:rPr lang="en-US" sz="3900">
                <a:solidFill>
                  <a:srgbClr val="000000"/>
                </a:solidFill>
                <a:latin typeface="Cabin"/>
                <a:ea typeface="Cabin"/>
                <a:cs typeface="Cabin"/>
                <a:sym typeface="Cabin"/>
              </a:rPr>
              <a:t>ví dụ: nút import file excel dữ liệu vào hệ thống quản lý kho</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045195" y="1940792"/>
          <a:ext cx="14197610" cy="7976049"/>
        </p:xfrm>
        <a:graphic>
          <a:graphicData uri="http://schemas.openxmlformats.org/drawingml/2006/table">
            <a:tbl>
              <a:tblPr/>
              <a:tblGrid>
                <a:gridCol w="1737503"/>
                <a:gridCol w="5884855"/>
                <a:gridCol w="6575253"/>
              </a:tblGrid>
              <a:tr h="917688">
                <a:tc>
                  <a:txBody>
                    <a:bodyPr anchor="t" rtlCol="false"/>
                    <a:lstStyle/>
                    <a:p>
                      <a:pPr algn="l">
                        <a:lnSpc>
                          <a:spcPts val="3359"/>
                        </a:lnSpc>
                        <a:defRPr/>
                      </a:pPr>
                      <a:r>
                        <a:rPr lang="en-US" sz="2400">
                          <a:solidFill>
                            <a:srgbClr val="000000"/>
                          </a:solidFill>
                          <a:latin typeface="Cabin"/>
                          <a:ea typeface="Cabin"/>
                          <a:cs typeface="Cabin"/>
                          <a:sym typeface="Cabin"/>
                        </a:rPr>
                        <a:t>Tiêu chí</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400" b="true">
                          <a:solidFill>
                            <a:srgbClr val="000000"/>
                          </a:solidFill>
                          <a:latin typeface="Cabin Bold"/>
                          <a:ea typeface="Cabin Bold"/>
                          <a:cs typeface="Cabin Bold"/>
                          <a:sym typeface="Cabin Bold"/>
                        </a:rPr>
                        <a:t>Đầu vào hàng loạt</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400" b="true">
                          <a:solidFill>
                            <a:srgbClr val="000000"/>
                          </a:solidFill>
                          <a:latin typeface="Cabin Bold"/>
                          <a:ea typeface="Cabin Bold"/>
                          <a:cs typeface="Cabin Bold"/>
                          <a:sym typeface="Cabin Bold"/>
                        </a:rPr>
                        <a:t>Đầu vào thời gian thực</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758901">
                <a:tc>
                  <a:txBody>
                    <a:bodyPr anchor="t" rtlCol="false"/>
                    <a:lstStyle/>
                    <a:p>
                      <a:pPr algn="l">
                        <a:lnSpc>
                          <a:spcPts val="3359"/>
                        </a:lnSpc>
                        <a:defRPr/>
                      </a:pPr>
                      <a:r>
                        <a:rPr lang="en-US" sz="2400">
                          <a:solidFill>
                            <a:srgbClr val="000000"/>
                          </a:solidFill>
                          <a:latin typeface="Cabin"/>
                          <a:ea typeface="Cabin"/>
                          <a:cs typeface="Cabin"/>
                          <a:sym typeface="Cabin"/>
                        </a:rPr>
                        <a:t>Cách nhập dữ liệu</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Cabin"/>
                          <a:ea typeface="Cabin"/>
                          <a:cs typeface="Cabin"/>
                          <a:sym typeface="Cabin"/>
                        </a:rPr>
                        <a:t>Xử lý nhiều dữ liệu một lần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Cabin"/>
                          <a:ea typeface="Cabin"/>
                          <a:cs typeface="Cabin"/>
                          <a:sym typeface="Cabin"/>
                        </a:rPr>
                        <a:t>Xử lý từng dữ liệu ngay khi nhập</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338295">
                <a:tc>
                  <a:txBody>
                    <a:bodyPr anchor="t" rtlCol="false"/>
                    <a:lstStyle/>
                    <a:p>
                      <a:pPr algn="l">
                        <a:lnSpc>
                          <a:spcPts val="3359"/>
                        </a:lnSpc>
                        <a:defRPr/>
                      </a:pPr>
                      <a:r>
                        <a:rPr lang="en-US" sz="2400">
                          <a:solidFill>
                            <a:srgbClr val="000000"/>
                          </a:solidFill>
                          <a:latin typeface="Cabin"/>
                          <a:ea typeface="Cabin"/>
                          <a:cs typeface="Cabin"/>
                          <a:sym typeface="Cabin"/>
                        </a:rPr>
                        <a:t>Tốc độ phản hồi</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Cabin"/>
                          <a:ea typeface="Cabin"/>
                          <a:cs typeface="Cabin"/>
                          <a:sym typeface="Cabin"/>
                        </a:rPr>
                        <a:t>Chậm hơn, cần đợi xử lý xong</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Cabin"/>
                          <a:ea typeface="Cabin"/>
                          <a:cs typeface="Cabin"/>
                          <a:sym typeface="Cabin"/>
                        </a:rPr>
                        <a:t>Phản hồi ngay lập tức</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338295">
                <a:tc>
                  <a:txBody>
                    <a:bodyPr anchor="t" rtlCol="false"/>
                    <a:lstStyle/>
                    <a:p>
                      <a:pPr algn="l">
                        <a:lnSpc>
                          <a:spcPts val="3359"/>
                        </a:lnSpc>
                        <a:defRPr/>
                      </a:pPr>
                      <a:r>
                        <a:rPr lang="en-US" sz="2400">
                          <a:solidFill>
                            <a:srgbClr val="000000"/>
                          </a:solidFill>
                          <a:latin typeface="Cabin"/>
                          <a:ea typeface="Cabin"/>
                          <a:cs typeface="Cabin"/>
                          <a:sym typeface="Cabin"/>
                        </a:rPr>
                        <a:t>Tính tự động hóa</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Cabin"/>
                          <a:ea typeface="Cabin"/>
                          <a:cs typeface="Cabin"/>
                          <a:sym typeface="Cabin"/>
                        </a:rPr>
                        <a:t>Cao, ít cần sự can thiệp của người dùng</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Cabin"/>
                          <a:ea typeface="Cabin"/>
                          <a:cs typeface="Cabin"/>
                          <a:sym typeface="Cabin"/>
                        </a:rPr>
                        <a:t>Thường yêu cầu thao tác trực tiếp</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2622870">
                <a:tc>
                  <a:txBody>
                    <a:bodyPr anchor="t" rtlCol="false"/>
                    <a:lstStyle/>
                    <a:p>
                      <a:pPr algn="l">
                        <a:lnSpc>
                          <a:spcPts val="3359"/>
                        </a:lnSpc>
                        <a:defRPr/>
                      </a:pPr>
                      <a:r>
                        <a:rPr lang="en-US" sz="2400">
                          <a:solidFill>
                            <a:srgbClr val="000000"/>
                          </a:solidFill>
                          <a:latin typeface="Cabin"/>
                          <a:ea typeface="Cabin"/>
                          <a:cs typeface="Cabin"/>
                          <a:sym typeface="Cabin"/>
                        </a:rPr>
                        <a:t>Ứng dụng</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Cabin"/>
                          <a:ea typeface="Cabin"/>
                          <a:cs typeface="Cabin"/>
                          <a:sym typeface="Cabin"/>
                        </a:rPr>
                        <a:t>Nhập dữ liệu từ file, xử lý hóa đơn hàng loạt</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Cabin"/>
                          <a:ea typeface="Cabin"/>
                          <a:cs typeface="Cabin"/>
                          <a:sym typeface="Cabin"/>
                        </a:rPr>
                        <a:t>Nhập form đăng ký, tìm kiếm trực tuyến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2135830" y="836939"/>
            <a:ext cx="14378880"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So sánh đầu vào thời gian thực và đầu vào hàng loạt  </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815504" y="1123950"/>
            <a:ext cx="16656993" cy="660400"/>
          </a:xfrm>
          <a:prstGeom prst="rect">
            <a:avLst/>
          </a:prstGeom>
        </p:spPr>
        <p:txBody>
          <a:bodyPr anchor="t" rtlCol="false" tIns="0" lIns="0" bIns="0" rIns="0">
            <a:spAutoFit/>
          </a:bodyPr>
          <a:lstStyle/>
          <a:p>
            <a:pPr algn="l">
              <a:lnSpc>
                <a:spcPts val="5000"/>
              </a:lnSpc>
              <a:spcBef>
                <a:spcPct val="0"/>
              </a:spcBef>
            </a:pPr>
            <a:r>
              <a:rPr lang="en-US" b="true" sz="5000">
                <a:solidFill>
                  <a:srgbClr val="000000"/>
                </a:solidFill>
                <a:latin typeface="Cabin Bold"/>
                <a:ea typeface="Cabin Bold"/>
                <a:cs typeface="Cabin Bold"/>
                <a:sym typeface="Cabin Bold"/>
              </a:rPr>
              <a:t>Thiết kế đầu vào tốt nhất là thiết kế đơn giản và tự nhiên nhất</a:t>
            </a:r>
          </a:p>
        </p:txBody>
      </p:sp>
      <p:sp>
        <p:nvSpPr>
          <p:cNvPr name="TextBox 3" id="3"/>
          <p:cNvSpPr txBox="true"/>
          <p:nvPr/>
        </p:nvSpPr>
        <p:spPr>
          <a:xfrm rot="0">
            <a:off x="815504" y="2140585"/>
            <a:ext cx="16443796" cy="6875780"/>
          </a:xfrm>
          <a:prstGeom prst="rect">
            <a:avLst/>
          </a:prstGeom>
        </p:spPr>
        <p:txBody>
          <a:bodyPr anchor="t" rtlCol="false" tIns="0" lIns="0" bIns="0" rIns="0">
            <a:spAutoFit/>
          </a:bodyPr>
          <a:lstStyle/>
          <a:p>
            <a:pPr algn="l">
              <a:lnSpc>
                <a:spcPts val="4619"/>
              </a:lnSpc>
            </a:pPr>
            <a:r>
              <a:rPr lang="en-US" sz="3299">
                <a:solidFill>
                  <a:srgbClr val="000000"/>
                </a:solidFill>
                <a:latin typeface="Cabin"/>
                <a:ea typeface="Cabin"/>
                <a:cs typeface="Cabin"/>
                <a:sym typeface="Cabin"/>
              </a:rPr>
              <a:t> Một thiết kế đầu vào tốt cần đơn giản và tự nhiên, giúp người dùng dễ dàng hiểu và thao tác mà không cần suy nghĩ nhiều.</a:t>
            </a:r>
          </a:p>
          <a:p>
            <a:pPr algn="l">
              <a:lnSpc>
                <a:spcPts val="4619"/>
              </a:lnSpc>
            </a:pPr>
            <a:r>
              <a:rPr lang="en-US" sz="3299">
                <a:solidFill>
                  <a:srgbClr val="000000"/>
                </a:solidFill>
                <a:latin typeface="Cabin"/>
                <a:ea typeface="Cabin"/>
                <a:cs typeface="Cabin"/>
                <a:sym typeface="Cabin"/>
              </a:rPr>
              <a:t>Nguyên tắc thiết kế đầu vào tốt:</a:t>
            </a:r>
          </a:p>
          <a:p>
            <a:pPr algn="l" marL="712467" indent="-356233" lvl="1">
              <a:lnSpc>
                <a:spcPts val="4619"/>
              </a:lnSpc>
              <a:buFont typeface="Arial"/>
              <a:buChar char="•"/>
            </a:pPr>
            <a:r>
              <a:rPr lang="en-US" sz="3299">
                <a:solidFill>
                  <a:srgbClr val="000000"/>
                </a:solidFill>
                <a:latin typeface="Cabin"/>
                <a:ea typeface="Cabin"/>
                <a:cs typeface="Cabin"/>
                <a:sym typeface="Cabin"/>
              </a:rPr>
              <a:t>Trực quan: Sử dụng các thành phần quen thuộc như textbox, button, dropdown để người dùng dễ nhận biết.</a:t>
            </a:r>
          </a:p>
          <a:p>
            <a:pPr algn="l" marL="712467" indent="-356233" lvl="1">
              <a:lnSpc>
                <a:spcPts val="4619"/>
              </a:lnSpc>
              <a:buFont typeface="Arial"/>
              <a:buChar char="•"/>
            </a:pPr>
            <a:r>
              <a:rPr lang="en-US" sz="3299">
                <a:solidFill>
                  <a:srgbClr val="000000"/>
                </a:solidFill>
                <a:latin typeface="Cabin"/>
                <a:ea typeface="Cabin"/>
                <a:cs typeface="Cabin"/>
                <a:sym typeface="Cabin"/>
              </a:rPr>
              <a:t> Tối giản: Chỉ hiển thị các trường thông tin cần thiết, tránh rườm rà.</a:t>
            </a:r>
          </a:p>
          <a:p>
            <a:pPr algn="l" marL="712467" indent="-356233" lvl="1">
              <a:lnSpc>
                <a:spcPts val="4619"/>
              </a:lnSpc>
              <a:buFont typeface="Arial"/>
              <a:buChar char="•"/>
            </a:pPr>
            <a:r>
              <a:rPr lang="en-US" sz="3299">
                <a:solidFill>
                  <a:srgbClr val="000000"/>
                </a:solidFill>
                <a:latin typeface="Cabin"/>
                <a:ea typeface="Cabin"/>
                <a:cs typeface="Cabin"/>
                <a:sym typeface="Cabin"/>
              </a:rPr>
              <a:t> Hướng dẫn rõ ràng: Dùng placeholder, nhãn (label), hoặc ví dụ minh họa giúp người dùng nhập liệu đúng.</a:t>
            </a:r>
          </a:p>
          <a:p>
            <a:pPr algn="l" marL="712467" indent="-356233" lvl="1">
              <a:lnSpc>
                <a:spcPts val="4619"/>
              </a:lnSpc>
              <a:buFont typeface="Arial"/>
              <a:buChar char="•"/>
            </a:pPr>
            <a:r>
              <a:rPr lang="en-US" sz="3299">
                <a:solidFill>
                  <a:srgbClr val="000000"/>
                </a:solidFill>
                <a:latin typeface="Cabin"/>
                <a:ea typeface="Cabin"/>
                <a:cs typeface="Cabin"/>
                <a:sym typeface="Cabin"/>
              </a:rPr>
              <a:t> Giảm thao tác: Hạn chế số lần nhập bằng cách sử dụng danh sách chọn, tự động điền thông tin khi có thể.</a:t>
            </a:r>
          </a:p>
          <a:p>
            <a:pPr algn="l" marL="712467" indent="-356233" lvl="1">
              <a:lnSpc>
                <a:spcPts val="4619"/>
              </a:lnSpc>
              <a:buFont typeface="Arial"/>
              <a:buChar char="•"/>
            </a:pPr>
            <a:r>
              <a:rPr lang="en-US" sz="3299">
                <a:solidFill>
                  <a:srgbClr val="000000"/>
                </a:solidFill>
                <a:latin typeface="Cabin"/>
                <a:ea typeface="Cabin"/>
                <a:cs typeface="Cabin"/>
                <a:sym typeface="Cabin"/>
              </a:rPr>
              <a:t> Phản hồi nhanh: Hiển thị thông báo lỗi ngay khi có sai sót để người dùng sửa ngay lập tức.</a:t>
            </a:r>
          </a:p>
          <a:p>
            <a:pPr algn="l">
              <a:lnSpc>
                <a:spcPts val="3919"/>
              </a:lnSpc>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1028700" y="1123950"/>
            <a:ext cx="9350127"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Phòng tránh lỗi và xác thực dữ liệu</a:t>
            </a:r>
          </a:p>
        </p:txBody>
      </p:sp>
      <p:sp>
        <p:nvSpPr>
          <p:cNvPr name="TextBox 3" id="3"/>
          <p:cNvSpPr txBox="true"/>
          <p:nvPr/>
        </p:nvSpPr>
        <p:spPr>
          <a:xfrm rot="0">
            <a:off x="1028700" y="2171881"/>
            <a:ext cx="16230600" cy="7420991"/>
          </a:xfrm>
          <a:prstGeom prst="rect">
            <a:avLst/>
          </a:prstGeom>
        </p:spPr>
        <p:txBody>
          <a:bodyPr anchor="t" rtlCol="false" tIns="0" lIns="0" bIns="0" rIns="0">
            <a:spAutoFit/>
          </a:bodyPr>
          <a:lstStyle/>
          <a:p>
            <a:pPr algn="l">
              <a:lnSpc>
                <a:spcPts val="4521"/>
              </a:lnSpc>
            </a:pPr>
            <a:r>
              <a:rPr lang="en-US" sz="3399">
                <a:solidFill>
                  <a:srgbClr val="000000"/>
                </a:solidFill>
                <a:latin typeface="Cabin"/>
                <a:ea typeface="Cabin"/>
                <a:cs typeface="Cabin"/>
                <a:sym typeface="Cabin"/>
              </a:rPr>
              <a:t>Phòng tránh lỗi tập trung vào ngăn chặn người dùng nhập sai ngay từ đầu thay vì chỉ hiển thị lỗi sau khi nhập xong.</a:t>
            </a:r>
          </a:p>
          <a:p>
            <a:pPr algn="l">
              <a:lnSpc>
                <a:spcPts val="4521"/>
              </a:lnSpc>
            </a:pPr>
          </a:p>
          <a:p>
            <a:pPr algn="l">
              <a:lnSpc>
                <a:spcPts val="4521"/>
              </a:lnSpc>
            </a:pPr>
            <a:r>
              <a:rPr lang="en-US" sz="3399">
                <a:solidFill>
                  <a:srgbClr val="000000"/>
                </a:solidFill>
                <a:latin typeface="Cabin"/>
                <a:ea typeface="Cabin"/>
                <a:cs typeface="Cabin"/>
                <a:sym typeface="Cabin"/>
              </a:rPr>
              <a:t>Cách phòng tránh lỗi hiệu quả:</a:t>
            </a:r>
          </a:p>
          <a:p>
            <a:pPr algn="l" marL="734059" indent="-367030" lvl="1">
              <a:lnSpc>
                <a:spcPts val="4521"/>
              </a:lnSpc>
              <a:buFont typeface="Arial"/>
              <a:buChar char="•"/>
            </a:pPr>
            <a:r>
              <a:rPr lang="en-US" sz="3399">
                <a:solidFill>
                  <a:srgbClr val="000000"/>
                </a:solidFill>
                <a:latin typeface="Cabin"/>
                <a:ea typeface="Cabin"/>
                <a:cs typeface="Cabin"/>
                <a:sym typeface="Cabin"/>
              </a:rPr>
              <a:t>Hạn chế nhập liệu thủ công – Dùng dropdown, radio button, hoặc checkbox thay vì textbox khi có thể.</a:t>
            </a:r>
          </a:p>
          <a:p>
            <a:pPr algn="l" marL="734059" indent="-367030" lvl="1">
              <a:lnSpc>
                <a:spcPts val="4521"/>
              </a:lnSpc>
              <a:buFont typeface="Arial"/>
              <a:buChar char="•"/>
            </a:pPr>
            <a:r>
              <a:rPr lang="en-US" sz="3399">
                <a:solidFill>
                  <a:srgbClr val="000000"/>
                </a:solidFill>
                <a:latin typeface="Cabin"/>
                <a:ea typeface="Cabin"/>
                <a:cs typeface="Cabin"/>
                <a:sym typeface="Cabin"/>
              </a:rPr>
              <a:t>Tự động điền dữ liệu – Gợi ý thông tin có sẵn để tránh nhập sai.</a:t>
            </a:r>
          </a:p>
          <a:p>
            <a:pPr algn="l" marL="734059" indent="-367030" lvl="1">
              <a:lnSpc>
                <a:spcPts val="4521"/>
              </a:lnSpc>
              <a:buFont typeface="Arial"/>
              <a:buChar char="•"/>
            </a:pPr>
            <a:r>
              <a:rPr lang="en-US" sz="3399">
                <a:solidFill>
                  <a:srgbClr val="000000"/>
                </a:solidFill>
                <a:latin typeface="Cabin"/>
                <a:ea typeface="Cabin"/>
                <a:cs typeface="Cabin"/>
                <a:sym typeface="Cabin"/>
              </a:rPr>
              <a:t> Hiển thị placeholder hoặc hướng dẫn – Cung cấp ví dụ ngay trong trường nhập.</a:t>
            </a:r>
          </a:p>
          <a:p>
            <a:pPr algn="l" marL="734059" indent="-367030" lvl="1">
              <a:lnSpc>
                <a:spcPts val="4521"/>
              </a:lnSpc>
              <a:buFont typeface="Arial"/>
              <a:buChar char="•"/>
            </a:pPr>
            <a:r>
              <a:rPr lang="en-US" sz="3399">
                <a:solidFill>
                  <a:srgbClr val="000000"/>
                </a:solidFill>
                <a:latin typeface="Cabin"/>
                <a:ea typeface="Cabin"/>
                <a:cs typeface="Cabin"/>
                <a:sym typeface="Cabin"/>
              </a:rPr>
              <a:t> Kiểm tra ngay khi nhập – Thông báo lỗi ngay lập tức thay vì đợi người dùng nhấn “Gửi” mới báo sai.</a:t>
            </a:r>
          </a:p>
          <a:p>
            <a:pPr algn="l" marL="734059" indent="-367030" lvl="1">
              <a:lnSpc>
                <a:spcPts val="4521"/>
              </a:lnSpc>
              <a:buFont typeface="Arial"/>
              <a:buChar char="•"/>
            </a:pPr>
            <a:r>
              <a:rPr lang="en-US" sz="3399">
                <a:solidFill>
                  <a:srgbClr val="000000"/>
                </a:solidFill>
                <a:latin typeface="Cabin"/>
                <a:ea typeface="Cabin"/>
                <a:cs typeface="Cabin"/>
                <a:sym typeface="Cabin"/>
              </a:rPr>
              <a:t> Yêu cầu xác nhận với thao tác quan trọng – Ví dụ: Hộp thoại xác nhận khi xóa dữ liệu quan trọng.</a:t>
            </a:r>
          </a:p>
          <a:p>
            <a:pPr algn="l">
              <a:lnSpc>
                <a:spcPts val="4521"/>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4151255" y="2821577"/>
            <a:ext cx="9300368" cy="2490607"/>
          </a:xfrm>
          <a:custGeom>
            <a:avLst/>
            <a:gdLst/>
            <a:ahLst/>
            <a:cxnLst/>
            <a:rect r="r" b="b" t="t" l="l"/>
            <a:pathLst>
              <a:path h="2490607" w="9300368">
                <a:moveTo>
                  <a:pt x="0" y="0"/>
                </a:moveTo>
                <a:lnTo>
                  <a:pt x="9300369" y="0"/>
                </a:lnTo>
                <a:lnTo>
                  <a:pt x="9300369" y="2490607"/>
                </a:lnTo>
                <a:lnTo>
                  <a:pt x="0" y="2490607"/>
                </a:lnTo>
                <a:lnTo>
                  <a:pt x="0" y="0"/>
                </a:lnTo>
                <a:close/>
              </a:path>
            </a:pathLst>
          </a:custGeom>
          <a:blipFill>
            <a:blip r:embed="rId2"/>
            <a:stretch>
              <a:fillRect l="0" t="0" r="0" b="0"/>
            </a:stretch>
          </a:blipFill>
        </p:spPr>
      </p:sp>
      <p:sp>
        <p:nvSpPr>
          <p:cNvPr name="Freeform 3" id="3"/>
          <p:cNvSpPr/>
          <p:nvPr/>
        </p:nvSpPr>
        <p:spPr>
          <a:xfrm flipH="false" flipV="false" rot="0">
            <a:off x="4437329" y="5941347"/>
            <a:ext cx="7701074" cy="3868964"/>
          </a:xfrm>
          <a:custGeom>
            <a:avLst/>
            <a:gdLst/>
            <a:ahLst/>
            <a:cxnLst/>
            <a:rect r="r" b="b" t="t" l="l"/>
            <a:pathLst>
              <a:path h="3868964" w="7701074">
                <a:moveTo>
                  <a:pt x="0" y="0"/>
                </a:moveTo>
                <a:lnTo>
                  <a:pt x="7701074" y="0"/>
                </a:lnTo>
                <a:lnTo>
                  <a:pt x="7701074" y="3868964"/>
                </a:lnTo>
                <a:lnTo>
                  <a:pt x="0" y="3868964"/>
                </a:lnTo>
                <a:lnTo>
                  <a:pt x="0" y="0"/>
                </a:lnTo>
                <a:close/>
              </a:path>
            </a:pathLst>
          </a:custGeom>
          <a:blipFill>
            <a:blip r:embed="rId3"/>
            <a:stretch>
              <a:fillRect l="-11861" t="-14335" r="0" b="-24875"/>
            </a:stretch>
          </a:blipFill>
        </p:spPr>
      </p:sp>
      <p:sp>
        <p:nvSpPr>
          <p:cNvPr name="TextBox 4" id="4"/>
          <p:cNvSpPr txBox="true"/>
          <p:nvPr/>
        </p:nvSpPr>
        <p:spPr>
          <a:xfrm rot="0">
            <a:off x="1028700" y="1123950"/>
            <a:ext cx="1542306"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Ví dụ:</a:t>
            </a:r>
          </a:p>
        </p:txBody>
      </p:sp>
      <p:sp>
        <p:nvSpPr>
          <p:cNvPr name="TextBox 5" id="5"/>
          <p:cNvSpPr txBox="true"/>
          <p:nvPr/>
        </p:nvSpPr>
        <p:spPr>
          <a:xfrm rot="0">
            <a:off x="1028700" y="2029760"/>
            <a:ext cx="14518332" cy="448310"/>
          </a:xfrm>
          <a:prstGeom prst="rect">
            <a:avLst/>
          </a:prstGeom>
        </p:spPr>
        <p:txBody>
          <a:bodyPr anchor="t" rtlCol="false" tIns="0" lIns="0" bIns="0" rIns="0">
            <a:spAutoFit/>
          </a:bodyPr>
          <a:lstStyle/>
          <a:p>
            <a:pPr algn="l" marL="734059" indent="-367030" lvl="1">
              <a:lnSpc>
                <a:spcPts val="3399"/>
              </a:lnSpc>
              <a:buFont typeface="Arial"/>
              <a:buChar char="•"/>
            </a:pPr>
            <a:r>
              <a:rPr lang="en-US" sz="3399">
                <a:solidFill>
                  <a:srgbClr val="000000"/>
                </a:solidFill>
                <a:latin typeface="Cabin"/>
                <a:ea typeface="Cabin"/>
                <a:cs typeface="Cabin"/>
                <a:sym typeface="Cabin"/>
              </a:rPr>
              <a:t>Trên form đăng ký, nếu nhập email sai định dạng, hệ thống báo ngay lập tức.</a:t>
            </a:r>
          </a:p>
        </p:txBody>
      </p:sp>
      <p:sp>
        <p:nvSpPr>
          <p:cNvPr name="TextBox 6" id="6"/>
          <p:cNvSpPr txBox="true"/>
          <p:nvPr/>
        </p:nvSpPr>
        <p:spPr>
          <a:xfrm rot="0">
            <a:off x="1268611" y="5435948"/>
            <a:ext cx="14377541" cy="448310"/>
          </a:xfrm>
          <a:prstGeom prst="rect">
            <a:avLst/>
          </a:prstGeom>
        </p:spPr>
        <p:txBody>
          <a:bodyPr anchor="t" rtlCol="false" tIns="0" lIns="0" bIns="0" rIns="0">
            <a:spAutoFit/>
          </a:bodyPr>
          <a:lstStyle/>
          <a:p>
            <a:pPr algn="ctr" marL="734059" indent="-367030" lvl="1">
              <a:lnSpc>
                <a:spcPts val="3399"/>
              </a:lnSpc>
              <a:buFont typeface="Arial"/>
              <a:buChar char="•"/>
            </a:pPr>
            <a:r>
              <a:rPr lang="en-US" sz="3399">
                <a:solidFill>
                  <a:srgbClr val="000000"/>
                </a:solidFill>
                <a:latin typeface="Cabin"/>
                <a:ea typeface="Cabin"/>
                <a:cs typeface="Cabin"/>
                <a:sym typeface="Cabin"/>
              </a:rPr>
              <a:t>Khi chọn ngày tháng, dùng combobox thay vì để người dùng nhập bằng tay.</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1028700" y="1123950"/>
            <a:ext cx="6807845" cy="660400"/>
          </a:xfrm>
          <a:prstGeom prst="rect">
            <a:avLst/>
          </a:prstGeom>
        </p:spPr>
        <p:txBody>
          <a:bodyPr anchor="t" rtlCol="false" tIns="0" lIns="0" bIns="0" rIns="0">
            <a:spAutoFit/>
          </a:bodyPr>
          <a:lstStyle/>
          <a:p>
            <a:pPr algn="l">
              <a:lnSpc>
                <a:spcPts val="5000"/>
              </a:lnSpc>
            </a:pPr>
            <a:r>
              <a:rPr lang="en-US" b="true" sz="5000">
                <a:solidFill>
                  <a:srgbClr val="000000"/>
                </a:solidFill>
                <a:latin typeface="Cabin Bold"/>
                <a:ea typeface="Cabin Bold"/>
                <a:cs typeface="Cabin Bold"/>
                <a:sym typeface="Cabin Bold"/>
              </a:rPr>
              <a:t>Hướng dẫn thiết kế Input</a:t>
            </a:r>
          </a:p>
        </p:txBody>
      </p:sp>
      <p:sp>
        <p:nvSpPr>
          <p:cNvPr name="TextBox 3" id="3"/>
          <p:cNvSpPr txBox="true"/>
          <p:nvPr/>
        </p:nvSpPr>
        <p:spPr>
          <a:xfrm rot="0">
            <a:off x="1272183" y="2489200"/>
            <a:ext cx="14131826" cy="5913120"/>
          </a:xfrm>
          <a:prstGeom prst="rect">
            <a:avLst/>
          </a:prstGeom>
        </p:spPr>
        <p:txBody>
          <a:bodyPr anchor="t" rtlCol="false" tIns="0" lIns="0" bIns="0" rIns="0">
            <a:spAutoFit/>
          </a:bodyPr>
          <a:lstStyle/>
          <a:p>
            <a:pPr algn="l" marL="906780" indent="-453390" lvl="1">
              <a:lnSpc>
                <a:spcPts val="5880"/>
              </a:lnSpc>
              <a:buFont typeface="Arial"/>
              <a:buChar char="•"/>
            </a:pPr>
            <a:r>
              <a:rPr lang="en-US" sz="4200">
                <a:solidFill>
                  <a:srgbClr val="000000"/>
                </a:solidFill>
                <a:latin typeface="Cabin"/>
                <a:ea typeface="Cabin"/>
                <a:cs typeface="Cabin"/>
                <a:sym typeface="Cabin"/>
              </a:rPr>
              <a:t>Khớp form với tài liệu nguồn thực tế</a:t>
            </a:r>
          </a:p>
          <a:p>
            <a:pPr algn="l" marL="906780" indent="-453390" lvl="1">
              <a:lnSpc>
                <a:spcPts val="5880"/>
              </a:lnSpc>
              <a:buFont typeface="Arial"/>
              <a:buChar char="•"/>
            </a:pPr>
            <a:r>
              <a:rPr lang="en-US" sz="4200">
                <a:solidFill>
                  <a:srgbClr val="000000"/>
                </a:solidFill>
                <a:latin typeface="Cabin"/>
                <a:ea typeface="Cabin"/>
                <a:cs typeface="Cabin"/>
                <a:sym typeface="Cabin"/>
              </a:rPr>
              <a:t>Chỉ nhập dữ liệu cần thiết</a:t>
            </a:r>
          </a:p>
          <a:p>
            <a:pPr algn="l" marL="906780" indent="-453390" lvl="1">
              <a:lnSpc>
                <a:spcPts val="5880"/>
              </a:lnSpc>
              <a:buFont typeface="Arial"/>
              <a:buChar char="•"/>
            </a:pPr>
            <a:r>
              <a:rPr lang="en-US" sz="4200">
                <a:solidFill>
                  <a:srgbClr val="000000"/>
                </a:solidFill>
                <a:latin typeface="Cabin"/>
                <a:ea typeface="Cabin"/>
                <a:cs typeface="Cabin"/>
                <a:sym typeface="Cabin"/>
              </a:rPr>
              <a:t>Có giá trị mặc định</a:t>
            </a:r>
          </a:p>
          <a:p>
            <a:pPr algn="l" marL="906780" indent="-453390" lvl="1">
              <a:lnSpc>
                <a:spcPts val="5880"/>
              </a:lnSpc>
              <a:buFont typeface="Arial"/>
              <a:buChar char="•"/>
            </a:pPr>
            <a:r>
              <a:rPr lang="en-US" sz="4200">
                <a:solidFill>
                  <a:srgbClr val="000000"/>
                </a:solidFill>
                <a:latin typeface="Cabin"/>
                <a:ea typeface="Cabin"/>
                <a:cs typeface="Cabin"/>
                <a:sym typeface="Cabin"/>
              </a:rPr>
              <a:t>Hiển thị danh sách giá trị cho các trường có thể chọn</a:t>
            </a:r>
          </a:p>
          <a:p>
            <a:pPr algn="l" marL="906780" indent="-453390" lvl="1">
              <a:lnSpc>
                <a:spcPts val="5880"/>
              </a:lnSpc>
              <a:buFont typeface="Arial"/>
              <a:buChar char="•"/>
            </a:pPr>
            <a:r>
              <a:rPr lang="en-US" sz="4200">
                <a:solidFill>
                  <a:srgbClr val="000000"/>
                </a:solidFill>
                <a:latin typeface="Cabin"/>
                <a:ea typeface="Cabin"/>
                <a:cs typeface="Cabin"/>
                <a:sym typeface="Cabin"/>
              </a:rPr>
              <a:t>Thiết lập thứ tự tab đúng</a:t>
            </a:r>
          </a:p>
          <a:p>
            <a:pPr algn="l" marL="906780" indent="-453390" lvl="1">
              <a:lnSpc>
                <a:spcPts val="5880"/>
              </a:lnSpc>
              <a:buFont typeface="Arial"/>
              <a:buChar char="•"/>
            </a:pPr>
            <a:r>
              <a:rPr lang="en-US" sz="4200">
                <a:solidFill>
                  <a:srgbClr val="000000"/>
                </a:solidFill>
                <a:latin typeface="Cabin"/>
                <a:ea typeface="Cabin"/>
                <a:cs typeface="Cabin"/>
                <a:sym typeface="Cabin"/>
              </a:rPr>
              <a:t>Cung cấp nhãn mô tả cho mỗi trường</a:t>
            </a:r>
          </a:p>
          <a:p>
            <a:pPr algn="l" marL="906780" indent="-453390" lvl="1">
              <a:lnSpc>
                <a:spcPts val="5880"/>
              </a:lnSpc>
              <a:buFont typeface="Arial"/>
              <a:buChar char="•"/>
            </a:pPr>
            <a:r>
              <a:rPr lang="en-US" sz="4200">
                <a:solidFill>
                  <a:srgbClr val="000000"/>
                </a:solidFill>
                <a:latin typeface="Cabin"/>
                <a:ea typeface="Cabin"/>
                <a:cs typeface="Cabin"/>
                <a:sym typeface="Cabin"/>
              </a:rPr>
              <a:t>Đưa ra ví dụ cho yêu cầu đặc biệt (ví dụ: định dạng đặc biệt)</a:t>
            </a:r>
          </a:p>
          <a:p>
            <a:pPr algn="l" marL="906780" indent="-453390" lvl="1">
              <a:lnSpc>
                <a:spcPts val="5880"/>
              </a:lnSpc>
              <a:buFont typeface="Arial"/>
              <a:buChar char="•"/>
            </a:pPr>
            <a:r>
              <a:rPr lang="en-US" sz="4200">
                <a:solidFill>
                  <a:srgbClr val="000000"/>
                </a:solidFill>
                <a:latin typeface="Cabin"/>
                <a:ea typeface="Cabin"/>
                <a:cs typeface="Cabin"/>
                <a:sym typeface="Cabin"/>
              </a:rPr>
              <a:t>Luôn cho phép thoát màn hình nhập liệu mà không lưu</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5391301" y="4295561"/>
            <a:ext cx="7309649" cy="4962739"/>
          </a:xfrm>
          <a:custGeom>
            <a:avLst/>
            <a:gdLst/>
            <a:ahLst/>
            <a:cxnLst/>
            <a:rect r="r" b="b" t="t" l="l"/>
            <a:pathLst>
              <a:path h="4962739" w="7309649">
                <a:moveTo>
                  <a:pt x="0" y="0"/>
                </a:moveTo>
                <a:lnTo>
                  <a:pt x="7309649" y="0"/>
                </a:lnTo>
                <a:lnTo>
                  <a:pt x="7309649" y="4962739"/>
                </a:lnTo>
                <a:lnTo>
                  <a:pt x="0" y="4962739"/>
                </a:lnTo>
                <a:lnTo>
                  <a:pt x="0" y="0"/>
                </a:lnTo>
                <a:close/>
              </a:path>
            </a:pathLst>
          </a:custGeom>
          <a:blipFill>
            <a:blip r:embed="rId2"/>
            <a:stretch>
              <a:fillRect l="0" t="0" r="0" b="0"/>
            </a:stretch>
          </a:blipFill>
        </p:spPr>
      </p:sp>
      <p:sp>
        <p:nvSpPr>
          <p:cNvPr name="TextBox 3" id="3"/>
          <p:cNvSpPr txBox="true"/>
          <p:nvPr/>
        </p:nvSpPr>
        <p:spPr>
          <a:xfrm rot="0">
            <a:off x="1028700" y="1123950"/>
            <a:ext cx="9809857"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Khớp form với tài liệu nguồn thực tế</a:t>
            </a:r>
          </a:p>
        </p:txBody>
      </p:sp>
      <p:sp>
        <p:nvSpPr>
          <p:cNvPr name="TextBox 4" id="4"/>
          <p:cNvSpPr txBox="true"/>
          <p:nvPr/>
        </p:nvSpPr>
        <p:spPr>
          <a:xfrm rot="0">
            <a:off x="1028700" y="2330917"/>
            <a:ext cx="16230600" cy="1734185"/>
          </a:xfrm>
          <a:prstGeom prst="rect">
            <a:avLst/>
          </a:prstGeom>
        </p:spPr>
        <p:txBody>
          <a:bodyPr anchor="t" rtlCol="false" tIns="0" lIns="0" bIns="0" rIns="0">
            <a:spAutoFit/>
          </a:bodyPr>
          <a:lstStyle/>
          <a:p>
            <a:pPr algn="l" marL="734059" indent="-367030" lvl="1">
              <a:lnSpc>
                <a:spcPts val="3399"/>
              </a:lnSpc>
              <a:buFont typeface="Arial"/>
              <a:buChar char="•"/>
            </a:pPr>
            <a:r>
              <a:rPr lang="en-US" sz="3399">
                <a:solidFill>
                  <a:srgbClr val="000000"/>
                </a:solidFill>
                <a:latin typeface="Cabin"/>
                <a:ea typeface="Cabin"/>
                <a:cs typeface="Cabin"/>
                <a:sym typeface="Cabin"/>
              </a:rPr>
              <a:t>Thiết kế form nên phù hợp với cách người dùng nhập liệu ngoài đời thực.</a:t>
            </a:r>
          </a:p>
          <a:p>
            <a:pPr algn="l" marL="734059" indent="-367030" lvl="1">
              <a:lnSpc>
                <a:spcPts val="3399"/>
              </a:lnSpc>
              <a:buFont typeface="Arial"/>
              <a:buChar char="•"/>
            </a:pPr>
            <a:r>
              <a:rPr lang="en-US" sz="3399">
                <a:solidFill>
                  <a:srgbClr val="000000"/>
                </a:solidFill>
                <a:latin typeface="Cabin"/>
                <a:ea typeface="Cabin"/>
                <a:cs typeface="Cabin"/>
                <a:sym typeface="Cabin"/>
              </a:rPr>
              <a:t> Sắp xếp các trường theo thứ tự logic giống như trên giấy tờ hoặc quy trình kinh doanh thực tế.</a:t>
            </a:r>
          </a:p>
          <a:p>
            <a:pPr algn="l" marL="1468119" indent="-489373" lvl="2">
              <a:lnSpc>
                <a:spcPts val="3399"/>
              </a:lnSpc>
              <a:buFont typeface="Arial"/>
              <a:buChar char="⚬"/>
            </a:pPr>
            <a:r>
              <a:rPr lang="en-US" sz="3399">
                <a:solidFill>
                  <a:srgbClr val="000000"/>
                </a:solidFill>
                <a:latin typeface="Cabin"/>
                <a:ea typeface="Cabin"/>
                <a:cs typeface="Cabin"/>
                <a:sym typeface="Cabin"/>
              </a:rPr>
              <a:t> Ví dụ: Trường nhập địa chỉ nên theo thứ tự: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8801439" y="3968728"/>
            <a:ext cx="6807319" cy="5289572"/>
          </a:xfrm>
          <a:custGeom>
            <a:avLst/>
            <a:gdLst/>
            <a:ahLst/>
            <a:cxnLst/>
            <a:rect r="r" b="b" t="t" l="l"/>
            <a:pathLst>
              <a:path h="5289572" w="6807319">
                <a:moveTo>
                  <a:pt x="0" y="0"/>
                </a:moveTo>
                <a:lnTo>
                  <a:pt x="6807319" y="0"/>
                </a:lnTo>
                <a:lnTo>
                  <a:pt x="6807319" y="5289572"/>
                </a:lnTo>
                <a:lnTo>
                  <a:pt x="0" y="5289572"/>
                </a:lnTo>
                <a:lnTo>
                  <a:pt x="0" y="0"/>
                </a:lnTo>
                <a:close/>
              </a:path>
            </a:pathLst>
          </a:custGeom>
          <a:blipFill>
            <a:blip r:embed="rId2"/>
            <a:stretch>
              <a:fillRect l="0" t="0" r="0" b="0"/>
            </a:stretch>
          </a:blipFill>
        </p:spPr>
      </p:sp>
      <p:sp>
        <p:nvSpPr>
          <p:cNvPr name="TextBox 3" id="3"/>
          <p:cNvSpPr txBox="true"/>
          <p:nvPr/>
        </p:nvSpPr>
        <p:spPr>
          <a:xfrm rot="0">
            <a:off x="1028700" y="1123950"/>
            <a:ext cx="6914555"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Chỉ nhập dữ liệu cần thiết</a:t>
            </a:r>
          </a:p>
        </p:txBody>
      </p:sp>
      <p:sp>
        <p:nvSpPr>
          <p:cNvPr name="TextBox 4" id="4"/>
          <p:cNvSpPr txBox="true"/>
          <p:nvPr/>
        </p:nvSpPr>
        <p:spPr>
          <a:xfrm rot="0">
            <a:off x="1028700" y="1979654"/>
            <a:ext cx="17259300" cy="238061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Cabin"/>
                <a:ea typeface="Cabin"/>
                <a:cs typeface="Cabin"/>
                <a:sym typeface="Cabin"/>
              </a:rPr>
              <a:t>Không yêu cầu người dùng nhập những thông tin không cần thiết.</a:t>
            </a:r>
          </a:p>
          <a:p>
            <a:pPr algn="l" marL="734059" indent="-367030" lvl="1">
              <a:lnSpc>
                <a:spcPts val="4759"/>
              </a:lnSpc>
              <a:buFont typeface="Arial"/>
              <a:buChar char="•"/>
            </a:pPr>
            <a:r>
              <a:rPr lang="en-US" sz="3399">
                <a:solidFill>
                  <a:srgbClr val="000000"/>
                </a:solidFill>
                <a:latin typeface="Cabin"/>
                <a:ea typeface="Cabin"/>
                <a:cs typeface="Cabin"/>
                <a:sym typeface="Cabin"/>
              </a:rPr>
              <a:t>Hạn chế các trường bắt buộc để giảm tải việc nhập liệu.</a:t>
            </a:r>
          </a:p>
          <a:p>
            <a:pPr algn="l" marL="1468119" indent="-489373" lvl="2">
              <a:lnSpc>
                <a:spcPts val="4759"/>
              </a:lnSpc>
              <a:buFont typeface="Arial"/>
              <a:buChar char="⚬"/>
            </a:pPr>
            <a:r>
              <a:rPr lang="en-US" sz="3399">
                <a:solidFill>
                  <a:srgbClr val="000000"/>
                </a:solidFill>
                <a:latin typeface="Cabin"/>
                <a:ea typeface="Cabin"/>
                <a:cs typeface="Cabin"/>
                <a:sym typeface="Cabin"/>
              </a:rPr>
              <a:t>Ví dụ: Nếu email không cần thiết, thì trên label không có (</a:t>
            </a:r>
            <a:r>
              <a:rPr lang="en-US" sz="3399">
                <a:solidFill>
                  <a:srgbClr val="E7191F"/>
                </a:solidFill>
                <a:latin typeface="Cabin"/>
                <a:ea typeface="Cabin"/>
                <a:cs typeface="Cabin"/>
                <a:sym typeface="Cabin"/>
              </a:rPr>
              <a:t>*</a:t>
            </a:r>
            <a:r>
              <a:rPr lang="en-US" sz="3399">
                <a:solidFill>
                  <a:srgbClr val="000000"/>
                </a:solidFill>
                <a:latin typeface="Cabin"/>
                <a:ea typeface="Cabin"/>
                <a:cs typeface="Cabin"/>
                <a:sym typeface="Cabin"/>
              </a:rPr>
              <a:t>). Để người dùng biết không trường email là không bắt buộc</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6367137" y="4111312"/>
            <a:ext cx="4803355" cy="5489548"/>
          </a:xfrm>
          <a:custGeom>
            <a:avLst/>
            <a:gdLst/>
            <a:ahLst/>
            <a:cxnLst/>
            <a:rect r="r" b="b" t="t" l="l"/>
            <a:pathLst>
              <a:path h="5489548" w="4803355">
                <a:moveTo>
                  <a:pt x="0" y="0"/>
                </a:moveTo>
                <a:lnTo>
                  <a:pt x="4803355" y="0"/>
                </a:lnTo>
                <a:lnTo>
                  <a:pt x="4803355" y="5489549"/>
                </a:lnTo>
                <a:lnTo>
                  <a:pt x="0" y="5489549"/>
                </a:lnTo>
                <a:lnTo>
                  <a:pt x="0" y="0"/>
                </a:lnTo>
                <a:close/>
              </a:path>
            </a:pathLst>
          </a:custGeom>
          <a:blipFill>
            <a:blip r:embed="rId2"/>
            <a:stretch>
              <a:fillRect l="0" t="0" r="0" b="0"/>
            </a:stretch>
          </a:blipFill>
        </p:spPr>
      </p:sp>
      <p:sp>
        <p:nvSpPr>
          <p:cNvPr name="TextBox 3" id="3"/>
          <p:cNvSpPr txBox="true"/>
          <p:nvPr/>
        </p:nvSpPr>
        <p:spPr>
          <a:xfrm rot="0">
            <a:off x="1028700" y="1123950"/>
            <a:ext cx="5061793"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Có giá trị mặc định</a:t>
            </a:r>
          </a:p>
        </p:txBody>
      </p:sp>
      <p:sp>
        <p:nvSpPr>
          <p:cNvPr name="TextBox 4" id="4"/>
          <p:cNvSpPr txBox="true"/>
          <p:nvPr/>
        </p:nvSpPr>
        <p:spPr>
          <a:xfrm rot="0">
            <a:off x="1028700" y="2190033"/>
            <a:ext cx="16349067" cy="17805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Cabin"/>
                <a:ea typeface="Cabin"/>
                <a:cs typeface="Cabin"/>
                <a:sym typeface="Cabin"/>
              </a:rPr>
              <a:t>Cung cấp giá trị mặc định hợp lý để người dùng không phải nhập lại.</a:t>
            </a:r>
          </a:p>
          <a:p>
            <a:pPr algn="l" marL="734059" indent="-367030" lvl="1">
              <a:lnSpc>
                <a:spcPts val="4759"/>
              </a:lnSpc>
              <a:buFont typeface="Arial"/>
              <a:buChar char="•"/>
            </a:pPr>
            <a:r>
              <a:rPr lang="en-US" sz="3399">
                <a:solidFill>
                  <a:srgbClr val="000000"/>
                </a:solidFill>
                <a:latin typeface="Cabin"/>
                <a:ea typeface="Cabin"/>
                <a:cs typeface="Cabin"/>
                <a:sym typeface="Cabin"/>
              </a:rPr>
              <a:t>Tự động điền dữ liệu dựa trên thông tin trước đó hoặc vị trí hiện tại.</a:t>
            </a:r>
          </a:p>
          <a:p>
            <a:pPr algn="l" marL="1468119" indent="-489373" lvl="2">
              <a:lnSpc>
                <a:spcPts val="4759"/>
              </a:lnSpc>
              <a:buFont typeface="Arial"/>
              <a:buChar char="⚬"/>
            </a:pPr>
            <a:r>
              <a:rPr lang="en-US" sz="3399">
                <a:solidFill>
                  <a:srgbClr val="000000"/>
                </a:solidFill>
                <a:latin typeface="Cabin"/>
                <a:ea typeface="Cabin"/>
                <a:cs typeface="Cabin"/>
                <a:sym typeface="Cabin"/>
              </a:rPr>
              <a:t>Ví dụ: Khi điền thông tin, quốc gia mặc định có thể là nơi người dùng đang truy cập.</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6711262" y="4403135"/>
            <a:ext cx="3723606" cy="5471712"/>
          </a:xfrm>
          <a:custGeom>
            <a:avLst/>
            <a:gdLst/>
            <a:ahLst/>
            <a:cxnLst/>
            <a:rect r="r" b="b" t="t" l="l"/>
            <a:pathLst>
              <a:path h="5471712" w="3723606">
                <a:moveTo>
                  <a:pt x="0" y="0"/>
                </a:moveTo>
                <a:lnTo>
                  <a:pt x="3723607" y="0"/>
                </a:lnTo>
                <a:lnTo>
                  <a:pt x="3723607" y="5471712"/>
                </a:lnTo>
                <a:lnTo>
                  <a:pt x="0" y="5471712"/>
                </a:lnTo>
                <a:lnTo>
                  <a:pt x="0" y="0"/>
                </a:lnTo>
                <a:close/>
              </a:path>
            </a:pathLst>
          </a:custGeom>
          <a:blipFill>
            <a:blip r:embed="rId2"/>
            <a:stretch>
              <a:fillRect l="0" t="0" r="0" b="0"/>
            </a:stretch>
          </a:blipFill>
        </p:spPr>
      </p:sp>
      <p:sp>
        <p:nvSpPr>
          <p:cNvPr name="TextBox 3" id="3"/>
          <p:cNvSpPr txBox="true"/>
          <p:nvPr/>
        </p:nvSpPr>
        <p:spPr>
          <a:xfrm rot="0">
            <a:off x="1028700" y="1123950"/>
            <a:ext cx="14298811"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 Hiển thị danh sách giá trị cho các trường có thể chọn</a:t>
            </a:r>
          </a:p>
        </p:txBody>
      </p:sp>
      <p:sp>
        <p:nvSpPr>
          <p:cNvPr name="TextBox 4" id="4"/>
          <p:cNvSpPr txBox="true"/>
          <p:nvPr/>
        </p:nvSpPr>
        <p:spPr>
          <a:xfrm rot="0">
            <a:off x="1028700" y="2022520"/>
            <a:ext cx="16230600" cy="238061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Cabin"/>
                <a:ea typeface="Cabin"/>
                <a:cs typeface="Cabin"/>
                <a:sym typeface="Cabin"/>
              </a:rPr>
              <a:t>Dùng dropdown, radio button hoặc autocomplete thay vì yêu cầu nhập tay.</a:t>
            </a:r>
          </a:p>
          <a:p>
            <a:pPr algn="l" marL="734059" indent="-367030" lvl="1">
              <a:lnSpc>
                <a:spcPts val="4759"/>
              </a:lnSpc>
              <a:buFont typeface="Arial"/>
              <a:buChar char="•"/>
            </a:pPr>
            <a:r>
              <a:rPr lang="en-US" sz="3399">
                <a:solidFill>
                  <a:srgbClr val="000000"/>
                </a:solidFill>
                <a:latin typeface="Cabin"/>
                <a:ea typeface="Cabin"/>
                <a:cs typeface="Cabin"/>
                <a:sym typeface="Cabin"/>
              </a:rPr>
              <a:t> Giúp tránh lỗi chính tả và tăng tốc độ nhập dữ liệu.</a:t>
            </a:r>
          </a:p>
          <a:p>
            <a:pPr algn="l" marL="1468119" indent="-489373" lvl="2">
              <a:lnSpc>
                <a:spcPts val="4759"/>
              </a:lnSpc>
              <a:buFont typeface="Arial"/>
              <a:buChar char="⚬"/>
            </a:pPr>
            <a:r>
              <a:rPr lang="en-US" sz="3399">
                <a:solidFill>
                  <a:srgbClr val="000000"/>
                </a:solidFill>
                <a:latin typeface="Cabin"/>
                <a:ea typeface="Cabin"/>
                <a:cs typeface="Cabin"/>
                <a:sym typeface="Cabin"/>
              </a:rPr>
              <a:t> Ví dụ: Trường chọn tỉnh/thành phố nên có danh sách dropdown thay vì để người dùng nhập tay.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6928432" y="4827258"/>
            <a:ext cx="3704873" cy="5062509"/>
          </a:xfrm>
          <a:custGeom>
            <a:avLst/>
            <a:gdLst/>
            <a:ahLst/>
            <a:cxnLst/>
            <a:rect r="r" b="b" t="t" l="l"/>
            <a:pathLst>
              <a:path h="5062509" w="3704873">
                <a:moveTo>
                  <a:pt x="0" y="0"/>
                </a:moveTo>
                <a:lnTo>
                  <a:pt x="3704873" y="0"/>
                </a:lnTo>
                <a:lnTo>
                  <a:pt x="3704873" y="5062509"/>
                </a:lnTo>
                <a:lnTo>
                  <a:pt x="0" y="5062509"/>
                </a:lnTo>
                <a:lnTo>
                  <a:pt x="0" y="0"/>
                </a:lnTo>
                <a:close/>
              </a:path>
            </a:pathLst>
          </a:custGeom>
          <a:blipFill>
            <a:blip r:embed="rId2"/>
            <a:stretch>
              <a:fillRect l="0" t="0" r="0" b="0"/>
            </a:stretch>
          </a:blipFill>
        </p:spPr>
      </p:sp>
      <p:sp>
        <p:nvSpPr>
          <p:cNvPr name="TextBox 3" id="3"/>
          <p:cNvSpPr txBox="true"/>
          <p:nvPr/>
        </p:nvSpPr>
        <p:spPr>
          <a:xfrm rot="0">
            <a:off x="1028700" y="1123950"/>
            <a:ext cx="6729115"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Thiết lập thứ tự tab đúng</a:t>
            </a:r>
          </a:p>
        </p:txBody>
      </p:sp>
      <p:sp>
        <p:nvSpPr>
          <p:cNvPr name="TextBox 4" id="4"/>
          <p:cNvSpPr txBox="true"/>
          <p:nvPr/>
        </p:nvSpPr>
        <p:spPr>
          <a:xfrm rot="0">
            <a:off x="1028700" y="2218269"/>
            <a:ext cx="16230600" cy="238061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Cabin"/>
                <a:ea typeface="Cabin"/>
                <a:cs typeface="Cabin"/>
                <a:sym typeface="Cabin"/>
              </a:rPr>
              <a:t>Khi nhấn phím Tab, con trỏ cần di chuyển đúng thứ tự các trường.</a:t>
            </a:r>
          </a:p>
          <a:p>
            <a:pPr algn="l" marL="734059" indent="-367030" lvl="1">
              <a:lnSpc>
                <a:spcPts val="4759"/>
              </a:lnSpc>
              <a:buFont typeface="Arial"/>
              <a:buChar char="•"/>
            </a:pPr>
            <a:r>
              <a:rPr lang="en-US" sz="3399">
                <a:solidFill>
                  <a:srgbClr val="000000"/>
                </a:solidFill>
                <a:latin typeface="Cabin"/>
                <a:ea typeface="Cabin"/>
                <a:cs typeface="Cabin"/>
                <a:sym typeface="Cabin"/>
              </a:rPr>
              <a:t>Tránh nhảy lung tung gây khó chịu khi nhập liệu.</a:t>
            </a:r>
          </a:p>
          <a:p>
            <a:pPr algn="l" marL="1468119" indent="-489373" lvl="2">
              <a:lnSpc>
                <a:spcPts val="4759"/>
              </a:lnSpc>
              <a:buFont typeface="Arial"/>
              <a:buChar char="⚬"/>
            </a:pPr>
            <a:r>
              <a:rPr lang="en-US" sz="3399">
                <a:solidFill>
                  <a:srgbClr val="000000"/>
                </a:solidFill>
                <a:latin typeface="Cabin"/>
                <a:ea typeface="Cabin"/>
                <a:cs typeface="Cabin"/>
                <a:sym typeface="Cabin"/>
              </a:rPr>
              <a:t>Ví dụ: Sau khi nhập họ tên, nhấn Tab nên chuyển sang Ngày sinh, không phải xuống phần sđt hoặc email</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1918312" y="5143500"/>
            <a:ext cx="4939634" cy="1234909"/>
          </a:xfrm>
          <a:custGeom>
            <a:avLst/>
            <a:gdLst/>
            <a:ahLst/>
            <a:cxnLst/>
            <a:rect r="r" b="b" t="t" l="l"/>
            <a:pathLst>
              <a:path h="1234909" w="4939634">
                <a:moveTo>
                  <a:pt x="0" y="0"/>
                </a:moveTo>
                <a:lnTo>
                  <a:pt x="4939634" y="0"/>
                </a:lnTo>
                <a:lnTo>
                  <a:pt x="4939634" y="1234909"/>
                </a:lnTo>
                <a:lnTo>
                  <a:pt x="0" y="1234909"/>
                </a:lnTo>
                <a:lnTo>
                  <a:pt x="0" y="0"/>
                </a:lnTo>
                <a:close/>
              </a:path>
            </a:pathLst>
          </a:custGeom>
          <a:blipFill>
            <a:blip r:embed="rId2"/>
            <a:stretch>
              <a:fillRect l="0" t="0" r="0" b="0"/>
            </a:stretch>
          </a:blipFill>
        </p:spPr>
      </p:sp>
      <p:sp>
        <p:nvSpPr>
          <p:cNvPr name="Freeform 3" id="3"/>
          <p:cNvSpPr/>
          <p:nvPr/>
        </p:nvSpPr>
        <p:spPr>
          <a:xfrm flipH="false" flipV="false" rot="0">
            <a:off x="8170328" y="5218474"/>
            <a:ext cx="7686670" cy="1084961"/>
          </a:xfrm>
          <a:custGeom>
            <a:avLst/>
            <a:gdLst/>
            <a:ahLst/>
            <a:cxnLst/>
            <a:rect r="r" b="b" t="t" l="l"/>
            <a:pathLst>
              <a:path h="1084961" w="7686670">
                <a:moveTo>
                  <a:pt x="0" y="0"/>
                </a:moveTo>
                <a:lnTo>
                  <a:pt x="7686670" y="0"/>
                </a:lnTo>
                <a:lnTo>
                  <a:pt x="7686670" y="1084961"/>
                </a:lnTo>
                <a:lnTo>
                  <a:pt x="0" y="1084961"/>
                </a:lnTo>
                <a:lnTo>
                  <a:pt x="0" y="0"/>
                </a:lnTo>
                <a:close/>
              </a:path>
            </a:pathLst>
          </a:custGeom>
          <a:blipFill>
            <a:blip r:embed="rId3"/>
            <a:stretch>
              <a:fillRect l="0" t="0" r="0" b="0"/>
            </a:stretch>
          </a:blipFill>
        </p:spPr>
      </p:sp>
      <p:sp>
        <p:nvSpPr>
          <p:cNvPr name="TextBox 4" id="4"/>
          <p:cNvSpPr txBox="true"/>
          <p:nvPr/>
        </p:nvSpPr>
        <p:spPr>
          <a:xfrm rot="0">
            <a:off x="1028700" y="1123950"/>
            <a:ext cx="10065097"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Cung cấp nhãn mô tả cho mỗi trường</a:t>
            </a:r>
          </a:p>
        </p:txBody>
      </p:sp>
      <p:sp>
        <p:nvSpPr>
          <p:cNvPr name="TextBox 5" id="5"/>
          <p:cNvSpPr txBox="true"/>
          <p:nvPr/>
        </p:nvSpPr>
        <p:spPr>
          <a:xfrm rot="0">
            <a:off x="1028700" y="2249355"/>
            <a:ext cx="16230600" cy="1905635"/>
          </a:xfrm>
          <a:prstGeom prst="rect">
            <a:avLst/>
          </a:prstGeom>
        </p:spPr>
        <p:txBody>
          <a:bodyPr anchor="t" rtlCol="false" tIns="0" lIns="0" bIns="0" rIns="0">
            <a:spAutoFit/>
          </a:bodyPr>
          <a:lstStyle/>
          <a:p>
            <a:pPr algn="l" marL="734059" indent="-367030" lvl="1">
              <a:lnSpc>
                <a:spcPts val="3399"/>
              </a:lnSpc>
              <a:buFont typeface="Arial"/>
              <a:buChar char="•"/>
            </a:pPr>
            <a:r>
              <a:rPr lang="en-US" sz="3399">
                <a:solidFill>
                  <a:srgbClr val="000000"/>
                </a:solidFill>
                <a:latin typeface="Cabin"/>
                <a:ea typeface="Cabin"/>
                <a:cs typeface="Cabin"/>
                <a:sym typeface="Cabin"/>
              </a:rPr>
              <a:t> Mỗi trường cần có nhãn rõ ràng để người dùng hiểu phải nhập gì.</a:t>
            </a:r>
          </a:p>
          <a:p>
            <a:pPr algn="l" marL="734059" indent="-367030" lvl="1">
              <a:lnSpc>
                <a:spcPts val="4759"/>
              </a:lnSpc>
              <a:buFont typeface="Arial"/>
              <a:buChar char="•"/>
            </a:pPr>
            <a:r>
              <a:rPr lang="en-US" sz="3399">
                <a:solidFill>
                  <a:srgbClr val="000000"/>
                </a:solidFill>
                <a:latin typeface="Cabin"/>
                <a:ea typeface="Cabin"/>
                <a:cs typeface="Cabin"/>
                <a:sym typeface="Cabin"/>
              </a:rPr>
              <a:t> Tránh chỉ dùng placeholder vì khi nhập xong, placeholder biến mất.</a:t>
            </a:r>
          </a:p>
          <a:p>
            <a:pPr algn="l" marL="1468119" indent="-489373" lvl="2">
              <a:lnSpc>
                <a:spcPts val="3399"/>
              </a:lnSpc>
              <a:buFont typeface="Arial"/>
              <a:buChar char="⚬"/>
            </a:pPr>
            <a:r>
              <a:rPr lang="en-US" sz="3399">
                <a:solidFill>
                  <a:srgbClr val="000000"/>
                </a:solidFill>
                <a:latin typeface="Cabin"/>
                <a:ea typeface="Cabin"/>
                <a:cs typeface="Cabin"/>
                <a:sym typeface="Cabin"/>
              </a:rPr>
              <a:t> Ví dụ: Trường nhập email nên có nhãn “Email” thay vì chỉ hiển thị trong placeholder.</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4312907" y="5512421"/>
            <a:ext cx="9009690" cy="2687765"/>
          </a:xfrm>
          <a:custGeom>
            <a:avLst/>
            <a:gdLst/>
            <a:ahLst/>
            <a:cxnLst/>
            <a:rect r="r" b="b" t="t" l="l"/>
            <a:pathLst>
              <a:path h="2687765" w="9009690">
                <a:moveTo>
                  <a:pt x="0" y="0"/>
                </a:moveTo>
                <a:lnTo>
                  <a:pt x="9009689" y="0"/>
                </a:lnTo>
                <a:lnTo>
                  <a:pt x="9009689" y="2687765"/>
                </a:lnTo>
                <a:lnTo>
                  <a:pt x="0" y="2687765"/>
                </a:lnTo>
                <a:lnTo>
                  <a:pt x="0" y="0"/>
                </a:lnTo>
                <a:close/>
              </a:path>
            </a:pathLst>
          </a:custGeom>
          <a:blipFill>
            <a:blip r:embed="rId2"/>
            <a:stretch>
              <a:fillRect l="0" t="0" r="0" b="0"/>
            </a:stretch>
          </a:blipFill>
        </p:spPr>
      </p:sp>
      <p:sp>
        <p:nvSpPr>
          <p:cNvPr name="TextBox 3" id="3"/>
          <p:cNvSpPr txBox="true"/>
          <p:nvPr/>
        </p:nvSpPr>
        <p:spPr>
          <a:xfrm rot="0">
            <a:off x="1028700" y="1123950"/>
            <a:ext cx="9127927"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 Đưa ra ví dụ cho yêu cầu đặc biệt</a:t>
            </a:r>
          </a:p>
        </p:txBody>
      </p:sp>
      <p:sp>
        <p:nvSpPr>
          <p:cNvPr name="TextBox 4" id="4"/>
          <p:cNvSpPr txBox="true"/>
          <p:nvPr/>
        </p:nvSpPr>
        <p:spPr>
          <a:xfrm rot="0">
            <a:off x="1028700" y="2356302"/>
            <a:ext cx="16230600" cy="238061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Cabin"/>
                <a:ea typeface="Cabin"/>
                <a:cs typeface="Cabin"/>
                <a:sym typeface="Cabin"/>
              </a:rPr>
              <a:t>Nếu một trường có yêu cầu định dạng đặc biệt, hãy hiển thị ví dụ.</a:t>
            </a:r>
          </a:p>
          <a:p>
            <a:pPr algn="l" marL="734059" indent="-367030" lvl="1">
              <a:lnSpc>
                <a:spcPts val="4759"/>
              </a:lnSpc>
              <a:buFont typeface="Arial"/>
              <a:buChar char="•"/>
            </a:pPr>
            <a:r>
              <a:rPr lang="en-US" sz="3399">
                <a:solidFill>
                  <a:srgbClr val="000000"/>
                </a:solidFill>
                <a:latin typeface="Cabin"/>
                <a:ea typeface="Cabin"/>
                <a:cs typeface="Cabin"/>
                <a:sym typeface="Cabin"/>
              </a:rPr>
              <a:t>Tránh để người dùng đoán cách nhập liệu.</a:t>
            </a:r>
          </a:p>
          <a:p>
            <a:pPr algn="l" marL="1468119" indent="-489373" lvl="2">
              <a:lnSpc>
                <a:spcPts val="4759"/>
              </a:lnSpc>
              <a:buFont typeface="Arial"/>
              <a:buChar char="⚬"/>
            </a:pPr>
            <a:r>
              <a:rPr lang="en-US" sz="3399">
                <a:solidFill>
                  <a:srgbClr val="000000"/>
                </a:solidFill>
                <a:latin typeface="Cabin"/>
                <a:ea typeface="Cabin"/>
                <a:cs typeface="Cabin"/>
                <a:sym typeface="Cabin"/>
              </a:rPr>
              <a:t>Ví dụ:</a:t>
            </a:r>
          </a:p>
          <a:p>
            <a:pPr algn="l" marL="2202178" indent="-550545" lvl="3">
              <a:lnSpc>
                <a:spcPts val="4759"/>
              </a:lnSpc>
              <a:buFont typeface="Arial"/>
              <a:buChar char="￭"/>
            </a:pPr>
            <a:r>
              <a:rPr lang="en-US" sz="3399">
                <a:solidFill>
                  <a:srgbClr val="000000"/>
                </a:solidFill>
                <a:latin typeface="Cabin"/>
                <a:ea typeface="Cabin"/>
                <a:cs typeface="Cabin"/>
                <a:sym typeface="Cabin"/>
              </a:rPr>
              <a:t>Mật khẩu: “Ít nhất 8 ký tự”</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6425470" y="4815716"/>
            <a:ext cx="4939513" cy="4576785"/>
          </a:xfrm>
          <a:custGeom>
            <a:avLst/>
            <a:gdLst/>
            <a:ahLst/>
            <a:cxnLst/>
            <a:rect r="r" b="b" t="t" l="l"/>
            <a:pathLst>
              <a:path h="4576785" w="4939513">
                <a:moveTo>
                  <a:pt x="0" y="0"/>
                </a:moveTo>
                <a:lnTo>
                  <a:pt x="4939513" y="0"/>
                </a:lnTo>
                <a:lnTo>
                  <a:pt x="4939513" y="4576784"/>
                </a:lnTo>
                <a:lnTo>
                  <a:pt x="0" y="4576784"/>
                </a:lnTo>
                <a:lnTo>
                  <a:pt x="0" y="0"/>
                </a:lnTo>
                <a:close/>
              </a:path>
            </a:pathLst>
          </a:custGeom>
          <a:blipFill>
            <a:blip r:embed="rId2"/>
            <a:stretch>
              <a:fillRect l="0" t="0" r="0" b="0"/>
            </a:stretch>
          </a:blipFill>
        </p:spPr>
      </p:sp>
      <p:sp>
        <p:nvSpPr>
          <p:cNvPr name="TextBox 3" id="3"/>
          <p:cNvSpPr txBox="true"/>
          <p:nvPr/>
        </p:nvSpPr>
        <p:spPr>
          <a:xfrm rot="0">
            <a:off x="1028700" y="1223257"/>
            <a:ext cx="14899481"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Luôn cho phép thoát màn hình nhập liệu mà không lưu</a:t>
            </a:r>
          </a:p>
        </p:txBody>
      </p:sp>
      <p:sp>
        <p:nvSpPr>
          <p:cNvPr name="TextBox 4" id="4"/>
          <p:cNvSpPr txBox="true"/>
          <p:nvPr/>
        </p:nvSpPr>
        <p:spPr>
          <a:xfrm rot="0">
            <a:off x="1028700" y="2735877"/>
            <a:ext cx="16230600" cy="238061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Cabin"/>
                <a:ea typeface="Cabin"/>
                <a:cs typeface="Cabin"/>
                <a:sym typeface="Cabin"/>
              </a:rPr>
              <a:t> Người dùng nên có tùy chọn hủy hoặc thoát mà không bắt buộc lưu dữ liệu.</a:t>
            </a:r>
          </a:p>
          <a:p>
            <a:pPr algn="l" marL="734059" indent="-367030" lvl="1">
              <a:lnSpc>
                <a:spcPts val="4759"/>
              </a:lnSpc>
              <a:buFont typeface="Arial"/>
              <a:buChar char="•"/>
            </a:pPr>
            <a:r>
              <a:rPr lang="en-US" sz="3399">
                <a:solidFill>
                  <a:srgbClr val="000000"/>
                </a:solidFill>
                <a:latin typeface="Cabin"/>
                <a:ea typeface="Cabin"/>
                <a:cs typeface="Cabin"/>
                <a:sym typeface="Cabin"/>
              </a:rPr>
              <a:t> Tránh ép buộc nhập liệu hoặc làm mất dữ liệu nếu đóng cửa sổ.</a:t>
            </a:r>
          </a:p>
          <a:p>
            <a:pPr algn="l" marL="1468119" indent="-489373" lvl="2">
              <a:lnSpc>
                <a:spcPts val="4759"/>
              </a:lnSpc>
              <a:buFont typeface="Arial"/>
              <a:buChar char="⚬"/>
            </a:pPr>
            <a:r>
              <a:rPr lang="en-US" sz="3399">
                <a:solidFill>
                  <a:srgbClr val="000000"/>
                </a:solidFill>
                <a:latin typeface="Cabin"/>
                <a:ea typeface="Cabin"/>
                <a:cs typeface="Cabin"/>
                <a:sym typeface="Cabin"/>
              </a:rPr>
              <a:t> Ví dụ: Nút “Hủy” hoặc “Quay lại” giúp người dùng thoát mà không bị mất quyền kiểm soát.</a:t>
            </a:r>
          </a:p>
        </p:txBody>
      </p:sp>
      <p:grpSp>
        <p:nvGrpSpPr>
          <p:cNvPr name="Group 5" id="5"/>
          <p:cNvGrpSpPr/>
          <p:nvPr/>
        </p:nvGrpSpPr>
        <p:grpSpPr>
          <a:xfrm rot="0">
            <a:off x="7375207" y="8650605"/>
            <a:ext cx="1102995" cy="832485"/>
            <a:chOff x="0" y="0"/>
            <a:chExt cx="1470660" cy="1109980"/>
          </a:xfrm>
        </p:grpSpPr>
        <p:sp>
          <p:nvSpPr>
            <p:cNvPr name="Freeform 6" id="6"/>
            <p:cNvSpPr/>
            <p:nvPr/>
          </p:nvSpPr>
          <p:spPr>
            <a:xfrm flipH="false" flipV="false" rot="0">
              <a:off x="24130" y="46990"/>
              <a:ext cx="1404620" cy="1016000"/>
            </a:xfrm>
            <a:custGeom>
              <a:avLst/>
              <a:gdLst/>
              <a:ahLst/>
              <a:cxnLst/>
              <a:rect r="r" b="b" t="t" l="l"/>
              <a:pathLst>
                <a:path h="1016000" w="1404620">
                  <a:moveTo>
                    <a:pt x="115570" y="830580"/>
                  </a:moveTo>
                  <a:cubicBezTo>
                    <a:pt x="1016000" y="848360"/>
                    <a:pt x="1028700" y="845820"/>
                    <a:pt x="1065530" y="831850"/>
                  </a:cubicBezTo>
                  <a:cubicBezTo>
                    <a:pt x="1117600" y="814070"/>
                    <a:pt x="1196340" y="769620"/>
                    <a:pt x="1242060" y="739140"/>
                  </a:cubicBezTo>
                  <a:cubicBezTo>
                    <a:pt x="1275080" y="718820"/>
                    <a:pt x="1303020" y="698500"/>
                    <a:pt x="1320800" y="678180"/>
                  </a:cubicBezTo>
                  <a:cubicBezTo>
                    <a:pt x="1333500" y="665480"/>
                    <a:pt x="1341120" y="657860"/>
                    <a:pt x="1344930" y="641350"/>
                  </a:cubicBezTo>
                  <a:cubicBezTo>
                    <a:pt x="1352550" y="613410"/>
                    <a:pt x="1347470" y="563880"/>
                    <a:pt x="1334770" y="521970"/>
                  </a:cubicBezTo>
                  <a:cubicBezTo>
                    <a:pt x="1316990" y="467360"/>
                    <a:pt x="1273810" y="398780"/>
                    <a:pt x="1238250" y="346710"/>
                  </a:cubicBezTo>
                  <a:cubicBezTo>
                    <a:pt x="1207770" y="302260"/>
                    <a:pt x="1178560" y="264160"/>
                    <a:pt x="1139190" y="227330"/>
                  </a:cubicBezTo>
                  <a:cubicBezTo>
                    <a:pt x="1096010" y="187960"/>
                    <a:pt x="1032510" y="144780"/>
                    <a:pt x="986790" y="119380"/>
                  </a:cubicBezTo>
                  <a:cubicBezTo>
                    <a:pt x="952500" y="100330"/>
                    <a:pt x="937260" y="88900"/>
                    <a:pt x="890270" y="78740"/>
                  </a:cubicBezTo>
                  <a:cubicBezTo>
                    <a:pt x="781050" y="53340"/>
                    <a:pt x="412750" y="16510"/>
                    <a:pt x="321310" y="53340"/>
                  </a:cubicBezTo>
                  <a:cubicBezTo>
                    <a:pt x="285750" y="67310"/>
                    <a:pt x="281940" y="87630"/>
                    <a:pt x="260350" y="116840"/>
                  </a:cubicBezTo>
                  <a:cubicBezTo>
                    <a:pt x="220980" y="170180"/>
                    <a:pt x="157480" y="269240"/>
                    <a:pt x="127000" y="351790"/>
                  </a:cubicBezTo>
                  <a:cubicBezTo>
                    <a:pt x="96520" y="434340"/>
                    <a:pt x="86360" y="528320"/>
                    <a:pt x="77470" y="613410"/>
                  </a:cubicBezTo>
                  <a:cubicBezTo>
                    <a:pt x="69850" y="693420"/>
                    <a:pt x="59690" y="800100"/>
                    <a:pt x="74930" y="848360"/>
                  </a:cubicBezTo>
                  <a:cubicBezTo>
                    <a:pt x="82550" y="872490"/>
                    <a:pt x="90170" y="881380"/>
                    <a:pt x="109220" y="896620"/>
                  </a:cubicBezTo>
                  <a:cubicBezTo>
                    <a:pt x="146050" y="923290"/>
                    <a:pt x="278130" y="939800"/>
                    <a:pt x="303530" y="963930"/>
                  </a:cubicBezTo>
                  <a:cubicBezTo>
                    <a:pt x="312420" y="974090"/>
                    <a:pt x="316230" y="985520"/>
                    <a:pt x="314960" y="993140"/>
                  </a:cubicBezTo>
                  <a:cubicBezTo>
                    <a:pt x="312420" y="999490"/>
                    <a:pt x="304800" y="1008380"/>
                    <a:pt x="298450" y="1010920"/>
                  </a:cubicBezTo>
                  <a:cubicBezTo>
                    <a:pt x="289560" y="1012190"/>
                    <a:pt x="274320" y="1007110"/>
                    <a:pt x="269240" y="1000760"/>
                  </a:cubicBezTo>
                  <a:cubicBezTo>
                    <a:pt x="264160" y="994410"/>
                    <a:pt x="262890" y="982980"/>
                    <a:pt x="266700" y="976630"/>
                  </a:cubicBezTo>
                  <a:cubicBezTo>
                    <a:pt x="270510" y="969010"/>
                    <a:pt x="284480" y="958850"/>
                    <a:pt x="293370" y="961390"/>
                  </a:cubicBezTo>
                  <a:cubicBezTo>
                    <a:pt x="300990" y="962660"/>
                    <a:pt x="316230" y="981710"/>
                    <a:pt x="314960" y="990600"/>
                  </a:cubicBezTo>
                  <a:cubicBezTo>
                    <a:pt x="313690" y="998220"/>
                    <a:pt x="303530" y="1008380"/>
                    <a:pt x="292100" y="1010920"/>
                  </a:cubicBezTo>
                  <a:cubicBezTo>
                    <a:pt x="274320" y="1016000"/>
                    <a:pt x="234950" y="1002030"/>
                    <a:pt x="207010" y="991870"/>
                  </a:cubicBezTo>
                  <a:cubicBezTo>
                    <a:pt x="177800" y="981710"/>
                    <a:pt x="147320" y="971550"/>
                    <a:pt x="119380" y="951230"/>
                  </a:cubicBezTo>
                  <a:cubicBezTo>
                    <a:pt x="86360" y="928370"/>
                    <a:pt x="44450" y="901700"/>
                    <a:pt x="26670" y="855980"/>
                  </a:cubicBezTo>
                  <a:cubicBezTo>
                    <a:pt x="0" y="789940"/>
                    <a:pt x="20320" y="657860"/>
                    <a:pt x="30480" y="570230"/>
                  </a:cubicBezTo>
                  <a:cubicBezTo>
                    <a:pt x="38100" y="492760"/>
                    <a:pt x="55880" y="412750"/>
                    <a:pt x="74930" y="354330"/>
                  </a:cubicBezTo>
                  <a:cubicBezTo>
                    <a:pt x="87630" y="311150"/>
                    <a:pt x="102870" y="275590"/>
                    <a:pt x="121920" y="246380"/>
                  </a:cubicBezTo>
                  <a:cubicBezTo>
                    <a:pt x="135890" y="223520"/>
                    <a:pt x="154940" y="212090"/>
                    <a:pt x="170180" y="189230"/>
                  </a:cubicBezTo>
                  <a:cubicBezTo>
                    <a:pt x="189230" y="160020"/>
                    <a:pt x="199390" y="113030"/>
                    <a:pt x="223520" y="82550"/>
                  </a:cubicBezTo>
                  <a:cubicBezTo>
                    <a:pt x="247650" y="52070"/>
                    <a:pt x="287020" y="15240"/>
                    <a:pt x="313690" y="5080"/>
                  </a:cubicBezTo>
                  <a:cubicBezTo>
                    <a:pt x="328930" y="0"/>
                    <a:pt x="332740" y="3810"/>
                    <a:pt x="354330" y="3810"/>
                  </a:cubicBezTo>
                  <a:cubicBezTo>
                    <a:pt x="433070" y="3810"/>
                    <a:pt x="783590" y="2540"/>
                    <a:pt x="897890" y="27940"/>
                  </a:cubicBezTo>
                  <a:cubicBezTo>
                    <a:pt x="952500" y="40640"/>
                    <a:pt x="974090" y="54610"/>
                    <a:pt x="1016000" y="77470"/>
                  </a:cubicBezTo>
                  <a:cubicBezTo>
                    <a:pt x="1068070" y="106680"/>
                    <a:pt x="1134110" y="154940"/>
                    <a:pt x="1179830" y="198120"/>
                  </a:cubicBezTo>
                  <a:cubicBezTo>
                    <a:pt x="1221740" y="236220"/>
                    <a:pt x="1249680" y="274320"/>
                    <a:pt x="1281430" y="321310"/>
                  </a:cubicBezTo>
                  <a:cubicBezTo>
                    <a:pt x="1319530" y="377190"/>
                    <a:pt x="1366520" y="453390"/>
                    <a:pt x="1384300" y="514350"/>
                  </a:cubicBezTo>
                  <a:cubicBezTo>
                    <a:pt x="1398270" y="562610"/>
                    <a:pt x="1404620" y="617220"/>
                    <a:pt x="1394460" y="652780"/>
                  </a:cubicBezTo>
                  <a:cubicBezTo>
                    <a:pt x="1388110" y="679450"/>
                    <a:pt x="1372870" y="697230"/>
                    <a:pt x="1355090" y="716280"/>
                  </a:cubicBezTo>
                  <a:cubicBezTo>
                    <a:pt x="1330960" y="741680"/>
                    <a:pt x="1299210" y="763270"/>
                    <a:pt x="1262380" y="786130"/>
                  </a:cubicBezTo>
                  <a:cubicBezTo>
                    <a:pt x="1210310" y="817880"/>
                    <a:pt x="1125220" y="863600"/>
                    <a:pt x="1069340" y="882650"/>
                  </a:cubicBezTo>
                  <a:cubicBezTo>
                    <a:pt x="1031240" y="895350"/>
                    <a:pt x="1017270" y="897890"/>
                    <a:pt x="966470" y="902970"/>
                  </a:cubicBezTo>
                  <a:cubicBezTo>
                    <a:pt x="820420" y="915670"/>
                    <a:pt x="198120" y="919480"/>
                    <a:pt x="115570" y="881380"/>
                  </a:cubicBezTo>
                  <a:cubicBezTo>
                    <a:pt x="99060" y="872490"/>
                    <a:pt x="90170" y="861060"/>
                    <a:pt x="90170" y="852170"/>
                  </a:cubicBezTo>
                  <a:cubicBezTo>
                    <a:pt x="91440" y="844550"/>
                    <a:pt x="115570" y="830580"/>
                    <a:pt x="115570" y="830580"/>
                  </a:cubicBezTo>
                </a:path>
              </a:pathLst>
            </a:custGeom>
            <a:solidFill>
              <a:srgbClr val="0571D3"/>
            </a:solidFill>
            <a:ln cap="sq">
              <a:noFill/>
              <a:prstDash val="solid"/>
              <a:miter/>
            </a:ln>
          </p:spPr>
        </p:sp>
      </p:grpSp>
    </p:spTree>
  </p:cSld>
  <p:clrMapOvr>
    <a:masterClrMapping/>
  </p:clrMapOvr>
</p:sld>
</file>

<file path=ppt/slides/slide23.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1028700" y="1123950"/>
            <a:ext cx="9289019" cy="660400"/>
          </a:xfrm>
          <a:prstGeom prst="rect">
            <a:avLst/>
          </a:prstGeom>
        </p:spPr>
        <p:txBody>
          <a:bodyPr anchor="t" rtlCol="false" tIns="0" lIns="0" bIns="0" rIns="0">
            <a:spAutoFit/>
          </a:bodyPr>
          <a:lstStyle/>
          <a:p>
            <a:pPr algn="l">
              <a:lnSpc>
                <a:spcPts val="5000"/>
              </a:lnSpc>
              <a:spcBef>
                <a:spcPct val="0"/>
              </a:spcBef>
            </a:pPr>
            <a:r>
              <a:rPr lang="en-US" b="true" sz="5000">
                <a:solidFill>
                  <a:srgbClr val="000000"/>
                </a:solidFill>
                <a:latin typeface="Cabin Bold"/>
                <a:ea typeface="Cabin Bold"/>
                <a:cs typeface="Cabin Bold"/>
                <a:sym typeface="Cabin Bold"/>
              </a:rPr>
              <a:t>Thiết kế đầu ra (Output Design)</a:t>
            </a:r>
          </a:p>
        </p:txBody>
      </p:sp>
      <p:sp>
        <p:nvSpPr>
          <p:cNvPr name="TextBox 3" id="3"/>
          <p:cNvSpPr txBox="true"/>
          <p:nvPr/>
        </p:nvSpPr>
        <p:spPr>
          <a:xfrm rot="0">
            <a:off x="1028700" y="2141230"/>
            <a:ext cx="16230600" cy="4427220"/>
          </a:xfrm>
          <a:prstGeom prst="rect">
            <a:avLst/>
          </a:prstGeom>
        </p:spPr>
        <p:txBody>
          <a:bodyPr anchor="t" rtlCol="false" tIns="0" lIns="0" bIns="0" rIns="0">
            <a:spAutoFit/>
          </a:bodyPr>
          <a:lstStyle/>
          <a:p>
            <a:pPr algn="l" marL="906780" indent="-453390" lvl="1">
              <a:lnSpc>
                <a:spcPts val="5880"/>
              </a:lnSpc>
              <a:buFont typeface="Arial"/>
              <a:buChar char="•"/>
            </a:pPr>
            <a:r>
              <a:rPr lang="en-US" sz="4200">
                <a:solidFill>
                  <a:srgbClr val="000000"/>
                </a:solidFill>
                <a:latin typeface="Cabin"/>
                <a:ea typeface="Cabin"/>
                <a:cs typeface="Cabin"/>
                <a:sym typeface="Cabin"/>
              </a:rPr>
              <a:t>Các đầu ra khác nhau: màn hình, giấy in hoặc cả hai</a:t>
            </a:r>
          </a:p>
          <a:p>
            <a:pPr algn="l" marL="906780" indent="-453390" lvl="1">
              <a:lnSpc>
                <a:spcPts val="5880"/>
              </a:lnSpc>
              <a:buFont typeface="Arial"/>
              <a:buChar char="•"/>
            </a:pPr>
            <a:r>
              <a:rPr lang="en-US" sz="4200">
                <a:solidFill>
                  <a:srgbClr val="000000"/>
                </a:solidFill>
                <a:latin typeface="Cabin"/>
                <a:ea typeface="Cabin"/>
                <a:cs typeface="Cabin"/>
                <a:sym typeface="Cabin"/>
              </a:rPr>
              <a:t>Đầu ra màn hình</a:t>
            </a:r>
          </a:p>
          <a:p>
            <a:pPr algn="l" marL="1813560" indent="-604520" lvl="2">
              <a:lnSpc>
                <a:spcPts val="5880"/>
              </a:lnSpc>
              <a:buFont typeface="Arial"/>
              <a:buChar char="⚬"/>
            </a:pPr>
            <a:r>
              <a:rPr lang="en-US" sz="4200">
                <a:solidFill>
                  <a:srgbClr val="000000"/>
                </a:solidFill>
                <a:latin typeface="Cabin"/>
                <a:ea typeface="Cabin"/>
                <a:cs typeface="Cabin"/>
                <a:sym typeface="Cabin"/>
              </a:rPr>
              <a:t>Đặc biệt là điều khiển lưới (bảng)</a:t>
            </a:r>
          </a:p>
          <a:p>
            <a:pPr algn="l" marL="1813560" indent="-604520" lvl="2">
              <a:lnSpc>
                <a:spcPts val="5880"/>
              </a:lnSpc>
              <a:buFont typeface="Arial"/>
              <a:buChar char="⚬"/>
            </a:pPr>
            <a:r>
              <a:rPr lang="en-US" sz="4200">
                <a:solidFill>
                  <a:srgbClr val="000000"/>
                </a:solidFill>
                <a:latin typeface="Cabin"/>
                <a:ea typeface="Cabin"/>
                <a:cs typeface="Cabin"/>
                <a:sym typeface="Cabin"/>
              </a:rPr>
              <a:t>Liên kết dữ liệu</a:t>
            </a:r>
          </a:p>
          <a:p>
            <a:pPr algn="l" marL="906780" indent="-453390" lvl="1">
              <a:lnSpc>
                <a:spcPts val="5880"/>
              </a:lnSpc>
              <a:buFont typeface="Arial"/>
              <a:buChar char="•"/>
            </a:pPr>
            <a:r>
              <a:rPr lang="en-US" sz="4200">
                <a:solidFill>
                  <a:srgbClr val="000000"/>
                </a:solidFill>
                <a:latin typeface="Cabin"/>
                <a:ea typeface="Cabin"/>
                <a:cs typeface="Cabin"/>
                <a:sym typeface="Cabin"/>
              </a:rPr>
              <a:t>Đầu ra giấy in: báo cáo</a:t>
            </a:r>
          </a:p>
          <a:p>
            <a:pPr algn="l" marL="1813560" indent="-604520" lvl="2">
              <a:lnSpc>
                <a:spcPts val="5880"/>
              </a:lnSpc>
              <a:buFont typeface="Arial"/>
              <a:buChar char="⚬"/>
            </a:pPr>
            <a:r>
              <a:rPr lang="en-US" sz="4200">
                <a:solidFill>
                  <a:srgbClr val="000000"/>
                </a:solidFill>
                <a:latin typeface="Cabin"/>
                <a:ea typeface="Cabin"/>
                <a:cs typeface="Cabin"/>
                <a:sym typeface="Cabin"/>
              </a:rPr>
              <a:t>Các công cụ báo cáo: Ví dụ: Crystal Report, Jasper Report</a:t>
            </a: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1028908" y="1123950"/>
            <a:ext cx="7329785"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Hướng dẫn thiết kế Output</a:t>
            </a:r>
          </a:p>
        </p:txBody>
      </p:sp>
      <p:sp>
        <p:nvSpPr>
          <p:cNvPr name="TextBox 3" id="3"/>
          <p:cNvSpPr txBox="true"/>
          <p:nvPr/>
        </p:nvSpPr>
        <p:spPr>
          <a:xfrm rot="0">
            <a:off x="1028700" y="2588043"/>
            <a:ext cx="11902827" cy="4427220"/>
          </a:xfrm>
          <a:prstGeom prst="rect">
            <a:avLst/>
          </a:prstGeom>
        </p:spPr>
        <p:txBody>
          <a:bodyPr anchor="t" rtlCol="false" tIns="0" lIns="0" bIns="0" rIns="0">
            <a:spAutoFit/>
          </a:bodyPr>
          <a:lstStyle/>
          <a:p>
            <a:pPr algn="l" marL="906780" indent="-453390" lvl="1">
              <a:lnSpc>
                <a:spcPts val="5880"/>
              </a:lnSpc>
              <a:buFont typeface="Arial"/>
              <a:buChar char="•"/>
            </a:pPr>
            <a:r>
              <a:rPr lang="en-US" sz="4200">
                <a:solidFill>
                  <a:srgbClr val="000000"/>
                </a:solidFill>
                <a:latin typeface="Cabin"/>
                <a:ea typeface="Cabin"/>
                <a:cs typeface="Cabin"/>
                <a:sym typeface="Cabin"/>
              </a:rPr>
              <a:t>Dựa trên các báo cáo hiện có</a:t>
            </a:r>
          </a:p>
          <a:p>
            <a:pPr algn="l" marL="906780" indent="-453390" lvl="1">
              <a:lnSpc>
                <a:spcPts val="5880"/>
              </a:lnSpc>
              <a:buFont typeface="Arial"/>
              <a:buChar char="•"/>
            </a:pPr>
            <a:r>
              <a:rPr lang="en-US" sz="4200">
                <a:solidFill>
                  <a:srgbClr val="000000"/>
                </a:solidFill>
                <a:latin typeface="Cabin"/>
                <a:ea typeface="Cabin"/>
                <a:cs typeface="Cabin"/>
                <a:sym typeface="Cabin"/>
              </a:rPr>
              <a:t>Cần được người dùng đánh giá càng sớm càng tốt</a:t>
            </a:r>
          </a:p>
          <a:p>
            <a:pPr algn="l" marL="906780" indent="-453390" lvl="1">
              <a:lnSpc>
                <a:spcPts val="5880"/>
              </a:lnSpc>
              <a:buFont typeface="Arial"/>
              <a:buChar char="•"/>
            </a:pPr>
            <a:r>
              <a:rPr lang="en-US" sz="4200">
                <a:solidFill>
                  <a:srgbClr val="000000"/>
                </a:solidFill>
                <a:latin typeface="Cabin"/>
                <a:ea typeface="Cabin"/>
                <a:cs typeface="Cabin"/>
                <a:sym typeface="Cabin"/>
              </a:rPr>
              <a:t>Lưu ý header/footer của báo cáo &amp; trang</a:t>
            </a:r>
          </a:p>
          <a:p>
            <a:pPr algn="l" marL="906780" indent="-453390" lvl="1">
              <a:lnSpc>
                <a:spcPts val="5880"/>
              </a:lnSpc>
              <a:buFont typeface="Arial"/>
              <a:buChar char="•"/>
            </a:pPr>
            <a:r>
              <a:rPr lang="en-US" sz="4200">
                <a:solidFill>
                  <a:srgbClr val="000000"/>
                </a:solidFill>
                <a:latin typeface="Cabin"/>
                <a:ea typeface="Cabin"/>
                <a:cs typeface="Cabin"/>
                <a:sym typeface="Cabin"/>
              </a:rPr>
              <a:t>Khoảng cách giữa các phần rất quan trọng</a:t>
            </a:r>
          </a:p>
          <a:p>
            <a:pPr algn="l" marL="906780" indent="-453390" lvl="1">
              <a:lnSpc>
                <a:spcPts val="5880"/>
              </a:lnSpc>
              <a:buFont typeface="Arial"/>
              <a:buChar char="•"/>
            </a:pPr>
            <a:r>
              <a:rPr lang="en-US" sz="4200">
                <a:solidFill>
                  <a:srgbClr val="000000"/>
                </a:solidFill>
                <a:latin typeface="Cabin"/>
                <a:ea typeface="Cabin"/>
                <a:cs typeface="Cabin"/>
                <a:sym typeface="Cabin"/>
              </a:rPr>
              <a:t>Nhóm thông tin hợp lý</a:t>
            </a:r>
          </a:p>
          <a:p>
            <a:pPr algn="l" marL="906780" indent="-453390" lvl="1">
              <a:lnSpc>
                <a:spcPts val="5880"/>
              </a:lnSpc>
              <a:buFont typeface="Arial"/>
              <a:buChar char="•"/>
            </a:pPr>
            <a:r>
              <a:rPr lang="en-US" sz="4200">
                <a:solidFill>
                  <a:srgbClr val="000000"/>
                </a:solidFill>
                <a:latin typeface="Cabin"/>
                <a:ea typeface="Cabin"/>
                <a:cs typeface="Cabin"/>
                <a:sym typeface="Cabin"/>
              </a:rPr>
              <a:t>Thiết kế đồng bộ &amp; nhất quán</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1028700" y="933450"/>
            <a:ext cx="16230600" cy="4536440"/>
          </a:xfrm>
          <a:prstGeom prst="rect">
            <a:avLst/>
          </a:prstGeom>
        </p:spPr>
        <p:txBody>
          <a:bodyPr anchor="t" rtlCol="false" tIns="0" lIns="0" bIns="0" rIns="0">
            <a:spAutoFit/>
          </a:bodyPr>
          <a:lstStyle/>
          <a:p>
            <a:pPr algn="l">
              <a:lnSpc>
                <a:spcPts val="7559"/>
              </a:lnSpc>
            </a:pPr>
            <a:r>
              <a:rPr lang="en-US" b="true" sz="5400">
                <a:solidFill>
                  <a:srgbClr val="000000"/>
                </a:solidFill>
                <a:latin typeface="Cabin Bold"/>
                <a:ea typeface="Cabin Bold"/>
                <a:cs typeface="Cabin Bold"/>
                <a:sym typeface="Cabin Bold"/>
              </a:rPr>
              <a:t>Dựa trên các báo cáo hiện có</a:t>
            </a:r>
          </a:p>
          <a:p>
            <a:pPr algn="l" marL="734059" indent="-367030" lvl="1">
              <a:lnSpc>
                <a:spcPts val="4759"/>
              </a:lnSpc>
              <a:buFont typeface="Arial"/>
              <a:buChar char="•"/>
            </a:pPr>
            <a:r>
              <a:rPr lang="en-US" sz="3399">
                <a:solidFill>
                  <a:srgbClr val="000000"/>
                </a:solidFill>
                <a:latin typeface="Cabin"/>
                <a:ea typeface="Cabin"/>
                <a:cs typeface="Cabin"/>
                <a:sym typeface="Cabin"/>
              </a:rPr>
              <a:t>Khi thiết kế output, hãy tham khảo các báo cáo hoặc biểu mẫu hiện có để đảm bảo phù hợp với nhu cầu thực tế.</a:t>
            </a:r>
          </a:p>
          <a:p>
            <a:pPr algn="l" marL="734059" indent="-367030" lvl="1">
              <a:lnSpc>
                <a:spcPts val="4759"/>
              </a:lnSpc>
              <a:buFont typeface="Arial"/>
              <a:buChar char="•"/>
            </a:pPr>
            <a:r>
              <a:rPr lang="en-US" sz="3399">
                <a:solidFill>
                  <a:srgbClr val="000000"/>
                </a:solidFill>
                <a:latin typeface="Cabin"/>
                <a:ea typeface="Cabin"/>
                <a:cs typeface="Cabin"/>
                <a:sym typeface="Cabin"/>
              </a:rPr>
              <a:t> Tránh thay đổi cách trình bày quá nhiều nếu người dùng đã quen với một định dạng cụ thể.</a:t>
            </a:r>
          </a:p>
          <a:p>
            <a:pPr algn="l" marL="1468119" indent="-489373" lvl="2">
              <a:lnSpc>
                <a:spcPts val="4759"/>
              </a:lnSpc>
              <a:buFont typeface="Arial"/>
              <a:buChar char="⚬"/>
            </a:pPr>
            <a:r>
              <a:rPr lang="en-US" sz="3399">
                <a:solidFill>
                  <a:srgbClr val="000000"/>
                </a:solidFill>
                <a:latin typeface="Cabin"/>
                <a:ea typeface="Cabin"/>
                <a:cs typeface="Cabin"/>
                <a:sym typeface="Cabin"/>
              </a:rPr>
              <a:t> Ví dụ: Báo cáo doanh thu hằng tháng nên có định dạng tương tự các báo cáo tài chính trước đó để dễ so sánh.</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1028700" y="933450"/>
            <a:ext cx="16230600" cy="4536440"/>
          </a:xfrm>
          <a:prstGeom prst="rect">
            <a:avLst/>
          </a:prstGeom>
        </p:spPr>
        <p:txBody>
          <a:bodyPr anchor="t" rtlCol="false" tIns="0" lIns="0" bIns="0" rIns="0">
            <a:spAutoFit/>
          </a:bodyPr>
          <a:lstStyle/>
          <a:p>
            <a:pPr algn="l">
              <a:lnSpc>
                <a:spcPts val="7559"/>
              </a:lnSpc>
            </a:pPr>
            <a:r>
              <a:rPr lang="en-US" b="true" sz="5400">
                <a:solidFill>
                  <a:srgbClr val="000000"/>
                </a:solidFill>
                <a:latin typeface="Cabin Bold"/>
                <a:ea typeface="Cabin Bold"/>
                <a:cs typeface="Cabin Bold"/>
                <a:sym typeface="Cabin Bold"/>
              </a:rPr>
              <a:t>Cần được người dùng đánh giá càng sớm càng tốt</a:t>
            </a:r>
          </a:p>
          <a:p>
            <a:pPr algn="l" marL="734059" indent="-367030" lvl="1">
              <a:lnSpc>
                <a:spcPts val="4759"/>
              </a:lnSpc>
              <a:buFont typeface="Arial"/>
              <a:buChar char="•"/>
            </a:pPr>
            <a:r>
              <a:rPr lang="en-US" sz="3399">
                <a:solidFill>
                  <a:srgbClr val="000000"/>
                </a:solidFill>
                <a:latin typeface="Cabin"/>
                <a:ea typeface="Cabin"/>
                <a:cs typeface="Cabin"/>
                <a:sym typeface="Cabin"/>
              </a:rPr>
              <a:t>Trước khi hoàn thiện thiết kế, hãy thu thập ý kiến người dùng để đảm bảo họ có thể hiểu và sử dụng thông tin dễ dàng.</a:t>
            </a:r>
          </a:p>
          <a:p>
            <a:pPr algn="l" marL="734059" indent="-367030" lvl="1">
              <a:lnSpc>
                <a:spcPts val="4759"/>
              </a:lnSpc>
              <a:buFont typeface="Arial"/>
              <a:buChar char="•"/>
            </a:pPr>
            <a:r>
              <a:rPr lang="en-US" sz="3399">
                <a:solidFill>
                  <a:srgbClr val="000000"/>
                </a:solidFill>
                <a:latin typeface="Cabin"/>
                <a:ea typeface="Cabin"/>
                <a:cs typeface="Cabin"/>
                <a:sym typeface="Cabin"/>
              </a:rPr>
              <a:t> Tránh trường hợp thiết kế xong mới nhận ra không phù hợp, gây mất thời gian sửa đổi.</a:t>
            </a:r>
          </a:p>
          <a:p>
            <a:pPr algn="l" marL="1468119" indent="-489373" lvl="2">
              <a:lnSpc>
                <a:spcPts val="4759"/>
              </a:lnSpc>
              <a:buFont typeface="Arial"/>
              <a:buChar char="⚬"/>
            </a:pPr>
            <a:r>
              <a:rPr lang="en-US" sz="3399">
                <a:solidFill>
                  <a:srgbClr val="000000"/>
                </a:solidFill>
                <a:latin typeface="Cabin"/>
                <a:ea typeface="Cabin"/>
                <a:cs typeface="Cabin"/>
                <a:sym typeface="Cabin"/>
              </a:rPr>
              <a:t> Ví dụ: Một dashboard quản lý cần được nhân viên tài chính kiểm tra xem họ có thể đọc số liệu nhanh chóng hay không.</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1028700" y="1573910"/>
            <a:ext cx="16230600" cy="5922010"/>
          </a:xfrm>
          <a:prstGeom prst="rect">
            <a:avLst/>
          </a:prstGeom>
        </p:spPr>
        <p:txBody>
          <a:bodyPr anchor="t" rtlCol="false" tIns="0" lIns="0" bIns="0" rIns="0">
            <a:spAutoFit/>
          </a:bodyPr>
          <a:lstStyle/>
          <a:p>
            <a:pPr algn="l">
              <a:lnSpc>
                <a:spcPts val="5400"/>
              </a:lnSpc>
            </a:pPr>
            <a:r>
              <a:rPr lang="en-US" b="true" sz="5400">
                <a:solidFill>
                  <a:srgbClr val="000000"/>
                </a:solidFill>
                <a:latin typeface="Cabin Bold"/>
                <a:ea typeface="Cabin Bold"/>
                <a:cs typeface="Cabin Bold"/>
                <a:sym typeface="Cabin Bold"/>
              </a:rPr>
              <a:t>Lưu ý header/footer của báo cáo &amp; trang</a:t>
            </a:r>
          </a:p>
          <a:p>
            <a:pPr algn="l" marL="734059" indent="-367030" lvl="1">
              <a:lnSpc>
                <a:spcPts val="4759"/>
              </a:lnSpc>
              <a:buFont typeface="Arial"/>
              <a:buChar char="•"/>
            </a:pPr>
            <a:r>
              <a:rPr lang="en-US" sz="3399">
                <a:solidFill>
                  <a:srgbClr val="000000"/>
                </a:solidFill>
                <a:latin typeface="Cabin"/>
                <a:ea typeface="Cabin"/>
                <a:cs typeface="Cabin"/>
                <a:sym typeface="Cabin"/>
              </a:rPr>
              <a:t>Header (đầu trang) cần chứa thông tin quan trọng như tên báo cáo, ngày xuất, tên người tạo báo cáo.</a:t>
            </a:r>
          </a:p>
          <a:p>
            <a:pPr algn="l" marL="734059" indent="-367030" lvl="1">
              <a:lnSpc>
                <a:spcPts val="4759"/>
              </a:lnSpc>
              <a:buFont typeface="Arial"/>
              <a:buChar char="•"/>
            </a:pPr>
            <a:r>
              <a:rPr lang="en-US" sz="3399">
                <a:solidFill>
                  <a:srgbClr val="000000"/>
                </a:solidFill>
                <a:latin typeface="Cabin"/>
                <a:ea typeface="Cabin"/>
                <a:cs typeface="Cabin"/>
                <a:sym typeface="Cabin"/>
              </a:rPr>
              <a:t> Footer (chân trang) có thể chứa số trang, ghi chú, nguồn dữ liệu hoặc thông tin bảo mật.</a:t>
            </a:r>
          </a:p>
          <a:p>
            <a:pPr algn="l" marL="1468119" indent="-489373" lvl="2">
              <a:lnSpc>
                <a:spcPts val="4759"/>
              </a:lnSpc>
              <a:buFont typeface="Arial"/>
              <a:buChar char="⚬"/>
            </a:pPr>
            <a:r>
              <a:rPr lang="en-US" sz="3399">
                <a:solidFill>
                  <a:srgbClr val="000000"/>
                </a:solidFill>
                <a:latin typeface="Cabin"/>
                <a:ea typeface="Cabin"/>
                <a:cs typeface="Cabin"/>
                <a:sym typeface="Cabin"/>
              </a:rPr>
              <a:t> Ví dụ:</a:t>
            </a:r>
          </a:p>
          <a:p>
            <a:pPr algn="l" marL="2202178" indent="-550545" lvl="3">
              <a:lnSpc>
                <a:spcPts val="4759"/>
              </a:lnSpc>
              <a:buFont typeface="Arial"/>
              <a:buChar char="￭"/>
            </a:pPr>
            <a:r>
              <a:rPr lang="en-US" sz="3399">
                <a:solidFill>
                  <a:srgbClr val="000000"/>
                </a:solidFill>
                <a:latin typeface="Cabin"/>
                <a:ea typeface="Cabin"/>
                <a:cs typeface="Cabin"/>
                <a:sym typeface="Cabin"/>
              </a:rPr>
              <a:t>Header: "Báo cáo bán hàng tháng 03/2025 - Công ty ABC"</a:t>
            </a:r>
          </a:p>
          <a:p>
            <a:pPr algn="l" marL="2202178" indent="-550545" lvl="3">
              <a:lnSpc>
                <a:spcPts val="4759"/>
              </a:lnSpc>
              <a:buFont typeface="Arial"/>
              <a:buChar char="￭"/>
            </a:pPr>
            <a:r>
              <a:rPr lang="en-US" sz="3399">
                <a:solidFill>
                  <a:srgbClr val="000000"/>
                </a:solidFill>
                <a:latin typeface="Cabin"/>
                <a:ea typeface="Cabin"/>
                <a:cs typeface="Cabin"/>
                <a:sym typeface="Cabin"/>
              </a:rPr>
              <a:t>Footer: "Trang 1/10 | Dữ liệu tổng hợp từ hệ thống ERP"</a:t>
            </a:r>
          </a:p>
          <a:p>
            <a:pPr algn="l">
              <a:lnSpc>
                <a:spcPts val="4759"/>
              </a:lnSpc>
            </a:pPr>
          </a:p>
          <a:p>
            <a:pPr algn="l">
              <a:lnSpc>
                <a:spcPts val="3399"/>
              </a:lnSpc>
            </a:pP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1028700" y="1357573"/>
            <a:ext cx="16230600" cy="3936365"/>
          </a:xfrm>
          <a:prstGeom prst="rect">
            <a:avLst/>
          </a:prstGeom>
        </p:spPr>
        <p:txBody>
          <a:bodyPr anchor="t" rtlCol="false" tIns="0" lIns="0" bIns="0" rIns="0">
            <a:spAutoFit/>
          </a:bodyPr>
          <a:lstStyle/>
          <a:p>
            <a:pPr algn="l">
              <a:lnSpc>
                <a:spcPts val="7559"/>
              </a:lnSpc>
            </a:pPr>
            <a:r>
              <a:rPr lang="en-US" b="true" sz="5400">
                <a:solidFill>
                  <a:srgbClr val="000000"/>
                </a:solidFill>
                <a:latin typeface="Cabin Bold"/>
                <a:ea typeface="Cabin Bold"/>
                <a:cs typeface="Cabin Bold"/>
                <a:sym typeface="Cabin Bold"/>
              </a:rPr>
              <a:t>Khoảng cách giữa các phần rất quan trọng</a:t>
            </a:r>
          </a:p>
          <a:p>
            <a:pPr algn="l" marL="734059" indent="-367030" lvl="1">
              <a:lnSpc>
                <a:spcPts val="4759"/>
              </a:lnSpc>
              <a:buFont typeface="Arial"/>
              <a:buChar char="•"/>
            </a:pPr>
            <a:r>
              <a:rPr lang="en-US" sz="3399">
                <a:solidFill>
                  <a:srgbClr val="000000"/>
                </a:solidFill>
                <a:latin typeface="Cabin"/>
                <a:ea typeface="Cabin"/>
                <a:cs typeface="Cabin"/>
                <a:sym typeface="Cabin"/>
              </a:rPr>
              <a:t>✔ Sử dụng khoảng trắng hợp lý để phân tách các phần, giúp người dùng dễ đọc hơn.</a:t>
            </a:r>
          </a:p>
          <a:p>
            <a:pPr algn="l" marL="734059" indent="-367030" lvl="1">
              <a:lnSpc>
                <a:spcPts val="4759"/>
              </a:lnSpc>
              <a:buFont typeface="Arial"/>
              <a:buChar char="•"/>
            </a:pPr>
            <a:r>
              <a:rPr lang="en-US" sz="3399">
                <a:solidFill>
                  <a:srgbClr val="000000"/>
                </a:solidFill>
                <a:latin typeface="Cabin"/>
                <a:ea typeface="Cabin"/>
                <a:cs typeface="Cabin"/>
                <a:sym typeface="Cabin"/>
              </a:rPr>
              <a:t> ✔ Tránh hiển thị quá nhiều thông tin dày đặc trên một trang, gây khó chịu khi theo dõi.</a:t>
            </a:r>
          </a:p>
          <a:p>
            <a:pPr algn="l" marL="1468119" indent="-489373" lvl="2">
              <a:lnSpc>
                <a:spcPts val="4759"/>
              </a:lnSpc>
              <a:buFont typeface="Arial"/>
              <a:buChar char="⚬"/>
            </a:pPr>
            <a:r>
              <a:rPr lang="en-US" sz="3399">
                <a:solidFill>
                  <a:srgbClr val="000000"/>
                </a:solidFill>
                <a:latin typeface="Cabin"/>
                <a:ea typeface="Cabin"/>
                <a:cs typeface="Cabin"/>
                <a:sym typeface="Cabin"/>
              </a:rPr>
              <a:t> Ví dụ: Báo cáo doanh thu có thể chia ra từng phần: tổng doanh thu, doanh thu theo khu vực, doanh thu theo sản phẩm, mỗi phần có khoảng cách đủ rộng.</a:t>
            </a: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1028700" y="1390198"/>
            <a:ext cx="16230600" cy="3936365"/>
          </a:xfrm>
          <a:prstGeom prst="rect">
            <a:avLst/>
          </a:prstGeom>
        </p:spPr>
        <p:txBody>
          <a:bodyPr anchor="t" rtlCol="false" tIns="0" lIns="0" bIns="0" rIns="0">
            <a:spAutoFit/>
          </a:bodyPr>
          <a:lstStyle/>
          <a:p>
            <a:pPr algn="l">
              <a:lnSpc>
                <a:spcPts val="7559"/>
              </a:lnSpc>
            </a:pPr>
            <a:r>
              <a:rPr lang="en-US" b="true" sz="5400">
                <a:solidFill>
                  <a:srgbClr val="000000"/>
                </a:solidFill>
                <a:latin typeface="Cabin Bold"/>
                <a:ea typeface="Cabin Bold"/>
                <a:cs typeface="Cabin Bold"/>
                <a:sym typeface="Cabin Bold"/>
              </a:rPr>
              <a:t>Nhóm thông tin hợp lý</a:t>
            </a:r>
          </a:p>
          <a:p>
            <a:pPr algn="l" marL="734059" indent="-367030" lvl="1">
              <a:lnSpc>
                <a:spcPts val="4759"/>
              </a:lnSpc>
              <a:buFont typeface="Arial"/>
              <a:buChar char="•"/>
            </a:pPr>
            <a:r>
              <a:rPr lang="en-US" sz="3399">
                <a:solidFill>
                  <a:srgbClr val="000000"/>
                </a:solidFill>
                <a:latin typeface="Cabin"/>
                <a:ea typeface="Cabin"/>
                <a:cs typeface="Cabin"/>
                <a:sym typeface="Cabin"/>
              </a:rPr>
              <a:t>Các dữ liệu liên quan nên được nhóm lại để dễ theo dõi.</a:t>
            </a:r>
          </a:p>
          <a:p>
            <a:pPr algn="l" marL="734059" indent="-367030" lvl="1">
              <a:lnSpc>
                <a:spcPts val="4759"/>
              </a:lnSpc>
              <a:buFont typeface="Arial"/>
              <a:buChar char="•"/>
            </a:pPr>
            <a:r>
              <a:rPr lang="en-US" sz="3399">
                <a:solidFill>
                  <a:srgbClr val="000000"/>
                </a:solidFill>
                <a:latin typeface="Cabin"/>
                <a:ea typeface="Cabin"/>
                <a:cs typeface="Cabin"/>
                <a:sym typeface="Cabin"/>
              </a:rPr>
              <a:t> Sử dụng bảng, biểu đồ hoặc màu sắc nhẹ để phân biệt các nhóm thông tin.</a:t>
            </a:r>
          </a:p>
          <a:p>
            <a:pPr algn="l" marL="1468119" indent="-489373" lvl="2">
              <a:lnSpc>
                <a:spcPts val="4759"/>
              </a:lnSpc>
              <a:buFont typeface="Arial"/>
              <a:buChar char="⚬"/>
            </a:pPr>
            <a:r>
              <a:rPr lang="en-US" sz="3399">
                <a:solidFill>
                  <a:srgbClr val="000000"/>
                </a:solidFill>
                <a:latin typeface="Cabin"/>
                <a:ea typeface="Cabin"/>
                <a:cs typeface="Cabin"/>
                <a:sym typeface="Cabin"/>
              </a:rPr>
              <a:t> Ví dụ: Trong báo cáo nhân sự, thông tin nhân viên nên được nhóm theo phòng ban, chức vụ hoặc thâm niên thay vì liệt kê ngẫu nhiên.</a:t>
            </a:r>
          </a:p>
          <a:p>
            <a:pPr algn="l">
              <a:lnSpc>
                <a:spcPts val="4759"/>
              </a:lnSpc>
            </a:pPr>
          </a:p>
        </p:txBody>
      </p:sp>
    </p:spTree>
  </p:cSld>
  <p:clrMapOvr>
    <a:masterClrMapping/>
  </p:clrMapOvr>
</p:sld>
</file>

<file path=ppt/slides/slide30.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195749" y="1224117"/>
            <a:ext cx="18092251" cy="3851275"/>
          </a:xfrm>
          <a:prstGeom prst="rect">
            <a:avLst/>
          </a:prstGeom>
        </p:spPr>
        <p:txBody>
          <a:bodyPr anchor="t" rtlCol="false" tIns="0" lIns="0" bIns="0" rIns="0">
            <a:spAutoFit/>
          </a:bodyPr>
          <a:lstStyle/>
          <a:p>
            <a:pPr algn="l">
              <a:lnSpc>
                <a:spcPts val="7559"/>
              </a:lnSpc>
            </a:pPr>
            <a:r>
              <a:rPr lang="en-US" sz="5400" b="true">
                <a:solidFill>
                  <a:srgbClr val="000000"/>
                </a:solidFill>
                <a:latin typeface="Cabin Bold"/>
                <a:ea typeface="Cabin Bold"/>
                <a:cs typeface="Cabin Bold"/>
                <a:sym typeface="Cabin Bold"/>
              </a:rPr>
              <a:t>Thiết kế đồng bộ &amp; nhất quán</a:t>
            </a:r>
          </a:p>
          <a:p>
            <a:pPr algn="l" marL="734059" indent="-367030" lvl="1">
              <a:lnSpc>
                <a:spcPts val="4759"/>
              </a:lnSpc>
              <a:buFont typeface="Arial"/>
              <a:buChar char="•"/>
            </a:pPr>
            <a:r>
              <a:rPr lang="en-US" sz="3399">
                <a:solidFill>
                  <a:srgbClr val="000000"/>
                </a:solidFill>
                <a:latin typeface="Cabin"/>
                <a:ea typeface="Cabin"/>
                <a:cs typeface="Cabin"/>
                <a:sym typeface="Cabin"/>
              </a:rPr>
              <a:t>Tất cả các báo cáo, biểu mẫu và trang hiển thị cần có cách trình bày nhất quán.</a:t>
            </a:r>
          </a:p>
          <a:p>
            <a:pPr algn="l" marL="734059" indent="-367030" lvl="1">
              <a:lnSpc>
                <a:spcPts val="4759"/>
              </a:lnSpc>
              <a:buFont typeface="Arial"/>
              <a:buChar char="•"/>
            </a:pPr>
            <a:r>
              <a:rPr lang="en-US" sz="3399">
                <a:solidFill>
                  <a:srgbClr val="000000"/>
                </a:solidFill>
                <a:latin typeface="Cabin"/>
                <a:ea typeface="Cabin"/>
                <a:cs typeface="Cabin"/>
                <a:sym typeface="Cabin"/>
              </a:rPr>
              <a:t> Font chữ, màu sắc, khoảng cách, kích thước tiêu đề cần thống nhất trên tất cả các trang.</a:t>
            </a:r>
          </a:p>
          <a:p>
            <a:pPr algn="l" marL="1468119" indent="-489373" lvl="2">
              <a:lnSpc>
                <a:spcPts val="4759"/>
              </a:lnSpc>
              <a:buFont typeface="Arial"/>
              <a:buChar char="⚬"/>
            </a:pPr>
            <a:r>
              <a:rPr lang="en-US" sz="3399">
                <a:solidFill>
                  <a:srgbClr val="000000"/>
                </a:solidFill>
                <a:latin typeface="Cabin"/>
                <a:ea typeface="Cabin"/>
                <a:cs typeface="Cabin"/>
                <a:sym typeface="Cabin"/>
              </a:rPr>
              <a:t> Ví dụ: Nếu dùng font Arial 12pt cho tiêu đề và 10pt cho nội dung, hãy áp dụng nhất quán trên toàn bộ hệ thống báo cáo.</a:t>
            </a:r>
          </a:p>
          <a:p>
            <a:pPr algn="l">
              <a:lnSpc>
                <a:spcPts val="3399"/>
              </a:lnSpc>
            </a:pP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1123950"/>
            <a:ext cx="10111383"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II.Controls (Các điều khiển giao diện):</a:t>
            </a:r>
          </a:p>
        </p:txBody>
      </p:sp>
      <p:sp>
        <p:nvSpPr>
          <p:cNvPr name="TextBox 4" id="4"/>
          <p:cNvSpPr txBox="true"/>
          <p:nvPr/>
        </p:nvSpPr>
        <p:spPr>
          <a:xfrm rot="0">
            <a:off x="1028700" y="3753548"/>
            <a:ext cx="3145750"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1.Giới thiệu:</a:t>
            </a:r>
          </a:p>
        </p:txBody>
      </p:sp>
      <p:sp>
        <p:nvSpPr>
          <p:cNvPr name="TextBox 5" id="5"/>
          <p:cNvSpPr txBox="true"/>
          <p:nvPr/>
        </p:nvSpPr>
        <p:spPr>
          <a:xfrm rot="0">
            <a:off x="1028700" y="4585398"/>
            <a:ext cx="16230600" cy="4427220"/>
          </a:xfrm>
          <a:prstGeom prst="rect">
            <a:avLst/>
          </a:prstGeom>
        </p:spPr>
        <p:txBody>
          <a:bodyPr anchor="t" rtlCol="false" tIns="0" lIns="0" bIns="0" rIns="0">
            <a:spAutoFit/>
          </a:bodyPr>
          <a:lstStyle/>
          <a:p>
            <a:pPr algn="l">
              <a:lnSpc>
                <a:spcPts val="5880"/>
              </a:lnSpc>
            </a:pPr>
            <a:r>
              <a:rPr lang="en-US" sz="4200">
                <a:solidFill>
                  <a:srgbClr val="000000"/>
                </a:solidFill>
                <a:latin typeface="Cabin"/>
                <a:ea typeface="Cabin"/>
                <a:cs typeface="Cabin"/>
                <a:sym typeface="Cabin"/>
              </a:rPr>
              <a:t>Controls là gì?</a:t>
            </a:r>
          </a:p>
          <a:p>
            <a:pPr algn="l" marL="906780" indent="-453390" lvl="1">
              <a:lnSpc>
                <a:spcPts val="5880"/>
              </a:lnSpc>
              <a:buFont typeface="Arial"/>
              <a:buChar char="•"/>
            </a:pPr>
            <a:r>
              <a:rPr lang="en-US" sz="4200">
                <a:solidFill>
                  <a:srgbClr val="000000"/>
                </a:solidFill>
                <a:latin typeface="Cabin"/>
                <a:ea typeface="Cabin"/>
                <a:cs typeface="Cabin"/>
                <a:sym typeface="Cabin"/>
              </a:rPr>
              <a:t>Controls (hay còn gọi là widgets) là các thành phần giao diện người dùng có thể tái sử dụng.</a:t>
            </a:r>
          </a:p>
          <a:p>
            <a:pPr algn="l" marL="906780" indent="-453390" lvl="1">
              <a:lnSpc>
                <a:spcPts val="5880"/>
              </a:lnSpc>
              <a:buFont typeface="Arial"/>
              <a:buChar char="•"/>
            </a:pPr>
            <a:r>
              <a:rPr lang="en-US" sz="4200">
                <a:solidFill>
                  <a:srgbClr val="000000"/>
                </a:solidFill>
                <a:latin typeface="Cabin"/>
                <a:ea typeface="Cabin"/>
                <a:cs typeface="Cabin"/>
                <a:sym typeface="Cabin"/>
              </a:rPr>
              <a:t>Chúng giúp người dùng tương tác với phần mềm hoặc website bằng cách nhập dữ liệu (input) hoặc nhận thông tin (output).</a:t>
            </a:r>
          </a:p>
          <a:p>
            <a:pPr algn="l">
              <a:lnSpc>
                <a:spcPts val="5880"/>
              </a:lnSpc>
            </a:pPr>
          </a:p>
        </p:txBody>
      </p:sp>
      <p:sp>
        <p:nvSpPr>
          <p:cNvPr name="Freeform 6" id="6"/>
          <p:cNvSpPr/>
          <p:nvPr/>
        </p:nvSpPr>
        <p:spPr>
          <a:xfrm flipH="false" flipV="false" rot="1204596">
            <a:off x="15134761" y="733495"/>
            <a:ext cx="2814955" cy="1346060"/>
          </a:xfrm>
          <a:custGeom>
            <a:avLst/>
            <a:gdLst/>
            <a:ahLst/>
            <a:cxnLst/>
            <a:rect r="r" b="b" t="t" l="l"/>
            <a:pathLst>
              <a:path h="1346060" w="2814955">
                <a:moveTo>
                  <a:pt x="0" y="0"/>
                </a:moveTo>
                <a:lnTo>
                  <a:pt x="2814954" y="0"/>
                </a:lnTo>
                <a:lnTo>
                  <a:pt x="2814954" y="1346060"/>
                </a:lnTo>
                <a:lnTo>
                  <a:pt x="0" y="13460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1028700" y="1536700"/>
            <a:ext cx="17259300" cy="6072505"/>
          </a:xfrm>
          <a:prstGeom prst="rect">
            <a:avLst/>
          </a:prstGeom>
        </p:spPr>
        <p:txBody>
          <a:bodyPr anchor="t" rtlCol="false" tIns="0" lIns="0" bIns="0" rIns="0">
            <a:spAutoFit/>
          </a:bodyPr>
          <a:lstStyle/>
          <a:p>
            <a:pPr algn="l">
              <a:lnSpc>
                <a:spcPts val="6019"/>
              </a:lnSpc>
            </a:pPr>
            <a:r>
              <a:rPr lang="en-US" b="true" sz="4299">
                <a:solidFill>
                  <a:srgbClr val="000000"/>
                </a:solidFill>
                <a:latin typeface="Cabin Bold"/>
                <a:ea typeface="Cabin Bold"/>
                <a:cs typeface="Cabin Bold"/>
                <a:sym typeface="Cabin Bold"/>
              </a:rPr>
              <a:t>Chức năng của Controls</a:t>
            </a:r>
          </a:p>
          <a:p>
            <a:pPr algn="l" marL="928369" indent="-464185" lvl="1">
              <a:lnSpc>
                <a:spcPts val="6019"/>
              </a:lnSpc>
              <a:buFont typeface="Arial"/>
              <a:buChar char="•"/>
            </a:pPr>
            <a:r>
              <a:rPr lang="en-US" sz="4299">
                <a:solidFill>
                  <a:srgbClr val="000000"/>
                </a:solidFill>
                <a:latin typeface="Cabin"/>
                <a:ea typeface="Cabin"/>
                <a:cs typeface="Cabin"/>
                <a:sym typeface="Cabin"/>
              </a:rPr>
              <a:t>Xử lý cả đầu vào (Input) và đầu ra (Output):</a:t>
            </a:r>
          </a:p>
          <a:p>
            <a:pPr algn="l">
              <a:lnSpc>
                <a:spcPts val="6019"/>
              </a:lnSpc>
            </a:pPr>
            <a:r>
              <a:rPr lang="en-US" sz="4299">
                <a:solidFill>
                  <a:srgbClr val="000000"/>
                </a:solidFill>
                <a:latin typeface="Cabin"/>
                <a:ea typeface="Cabin"/>
                <a:cs typeface="Cabin"/>
                <a:sym typeface="Cabin"/>
              </a:rPr>
              <a:t>Ví dụ: Một ô nhập liệu (textbox) cho phép người dùng nhập văn bản (input). Khi nhấn nút "Gửi", hệ thống hiển thị thông báo (output).</a:t>
            </a:r>
          </a:p>
          <a:p>
            <a:pPr algn="l">
              <a:lnSpc>
                <a:spcPts val="6019"/>
              </a:lnSpc>
            </a:pPr>
          </a:p>
          <a:p>
            <a:pPr algn="l" marL="928369" indent="-464185" lvl="1">
              <a:lnSpc>
                <a:spcPts val="6019"/>
              </a:lnSpc>
              <a:buFont typeface="Arial"/>
              <a:buChar char="•"/>
            </a:pPr>
            <a:r>
              <a:rPr lang="en-US" sz="4299">
                <a:solidFill>
                  <a:srgbClr val="000000"/>
                </a:solidFill>
                <a:latin typeface="Cabin"/>
                <a:ea typeface="Cabin"/>
                <a:cs typeface="Cabin"/>
                <a:sym typeface="Cabin"/>
              </a:rPr>
              <a:t>Xử lý sự kiện (Event Handling):</a:t>
            </a:r>
          </a:p>
          <a:p>
            <a:pPr algn="l">
              <a:lnSpc>
                <a:spcPts val="6019"/>
              </a:lnSpc>
            </a:pPr>
            <a:r>
              <a:rPr lang="en-US" sz="4299">
                <a:solidFill>
                  <a:srgbClr val="000000"/>
                </a:solidFill>
                <a:latin typeface="Cabin"/>
                <a:ea typeface="Cabin"/>
                <a:cs typeface="Cabin"/>
                <a:sym typeface="Cabin"/>
              </a:rPr>
              <a:t>Khi người dùng nhấp chuột, nhập dữ liệu, hoặc di chuyển chuột, một sự kiện sẽ xảy ra.</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1118730" y="3098905"/>
            <a:ext cx="16050540" cy="6159395"/>
          </a:xfrm>
          <a:custGeom>
            <a:avLst/>
            <a:gdLst/>
            <a:ahLst/>
            <a:cxnLst/>
            <a:rect r="r" b="b" t="t" l="l"/>
            <a:pathLst>
              <a:path h="6159395" w="16050540">
                <a:moveTo>
                  <a:pt x="0" y="0"/>
                </a:moveTo>
                <a:lnTo>
                  <a:pt x="16050540" y="0"/>
                </a:lnTo>
                <a:lnTo>
                  <a:pt x="16050540" y="6159395"/>
                </a:lnTo>
                <a:lnTo>
                  <a:pt x="0" y="6159395"/>
                </a:lnTo>
                <a:lnTo>
                  <a:pt x="0" y="0"/>
                </a:lnTo>
                <a:close/>
              </a:path>
            </a:pathLst>
          </a:custGeom>
          <a:blipFill>
            <a:blip r:embed="rId2"/>
            <a:stretch>
              <a:fillRect l="0" t="0" r="0" b="0"/>
            </a:stretch>
          </a:blipFill>
        </p:spPr>
      </p:sp>
      <p:sp>
        <p:nvSpPr>
          <p:cNvPr name="TextBox 3" id="3"/>
          <p:cNvSpPr txBox="true"/>
          <p:nvPr/>
        </p:nvSpPr>
        <p:spPr>
          <a:xfrm rot="0">
            <a:off x="1579604" y="2247260"/>
            <a:ext cx="13490734"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Điều khiển trên MAC OS và trên WINDOW XP OS</a:t>
            </a:r>
          </a:p>
        </p:txBody>
      </p:sp>
      <p:sp>
        <p:nvSpPr>
          <p:cNvPr name="TextBox 4" id="4"/>
          <p:cNvSpPr txBox="true"/>
          <p:nvPr/>
        </p:nvSpPr>
        <p:spPr>
          <a:xfrm rot="0">
            <a:off x="1118730" y="1123950"/>
            <a:ext cx="6503045" cy="660400"/>
          </a:xfrm>
          <a:prstGeom prst="rect">
            <a:avLst/>
          </a:prstGeom>
        </p:spPr>
        <p:txBody>
          <a:bodyPr anchor="t" rtlCol="false" tIns="0" lIns="0" bIns="0" rIns="0">
            <a:spAutoFit/>
          </a:bodyPr>
          <a:lstStyle/>
          <a:p>
            <a:pPr algn="l">
              <a:lnSpc>
                <a:spcPts val="5000"/>
              </a:lnSpc>
              <a:spcBef>
                <a:spcPct val="0"/>
              </a:spcBef>
            </a:pPr>
            <a:r>
              <a:rPr lang="en-US" b="true" sz="5000">
                <a:solidFill>
                  <a:srgbClr val="000000"/>
                </a:solidFill>
                <a:latin typeface="Cabin Bold"/>
                <a:ea typeface="Cabin Bold"/>
                <a:cs typeface="Cabin Bold"/>
                <a:sym typeface="Cabin Bold"/>
              </a:rPr>
              <a:t>Một số ví dụ về controls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3316768" y="2637865"/>
            <a:ext cx="12147588" cy="6620435"/>
          </a:xfrm>
          <a:custGeom>
            <a:avLst/>
            <a:gdLst/>
            <a:ahLst/>
            <a:cxnLst/>
            <a:rect r="r" b="b" t="t" l="l"/>
            <a:pathLst>
              <a:path h="6620435" w="12147588">
                <a:moveTo>
                  <a:pt x="0" y="0"/>
                </a:moveTo>
                <a:lnTo>
                  <a:pt x="12147588" y="0"/>
                </a:lnTo>
                <a:lnTo>
                  <a:pt x="12147588" y="6620435"/>
                </a:lnTo>
                <a:lnTo>
                  <a:pt x="0" y="6620435"/>
                </a:lnTo>
                <a:lnTo>
                  <a:pt x="0" y="0"/>
                </a:lnTo>
                <a:close/>
              </a:path>
            </a:pathLst>
          </a:custGeom>
          <a:blipFill>
            <a:blip r:embed="rId2"/>
            <a:stretch>
              <a:fillRect l="0" t="0" r="0" b="0"/>
            </a:stretch>
          </a:blipFill>
        </p:spPr>
      </p:sp>
      <p:sp>
        <p:nvSpPr>
          <p:cNvPr name="TextBox 3" id="3"/>
          <p:cNvSpPr txBox="true"/>
          <p:nvPr/>
        </p:nvSpPr>
        <p:spPr>
          <a:xfrm rot="0">
            <a:off x="1028700" y="1123950"/>
            <a:ext cx="16230600" cy="128905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quá trình phát triển của các thành phần điều khiển của hệ điều hành windows</a:t>
            </a:r>
          </a:p>
        </p:txBody>
      </p:sp>
      <p:sp>
        <p:nvSpPr>
          <p:cNvPr name="TextBox 4" id="4"/>
          <p:cNvSpPr txBox="true"/>
          <p:nvPr/>
        </p:nvSpPr>
        <p:spPr>
          <a:xfrm rot="0">
            <a:off x="3966387" y="6311087"/>
            <a:ext cx="3769072" cy="660400"/>
          </a:xfrm>
          <a:prstGeom prst="rect">
            <a:avLst/>
          </a:prstGeom>
        </p:spPr>
        <p:txBody>
          <a:bodyPr anchor="t" rtlCol="false" tIns="0" lIns="0" bIns="0" rIns="0">
            <a:spAutoFit/>
          </a:bodyPr>
          <a:lstStyle/>
          <a:p>
            <a:pPr algn="ctr">
              <a:lnSpc>
                <a:spcPts val="5000"/>
              </a:lnSpc>
              <a:spcBef>
                <a:spcPct val="0"/>
              </a:spcBef>
            </a:pPr>
            <a:r>
              <a:rPr lang="en-US" b="true" sz="5000" u="sng">
                <a:solidFill>
                  <a:srgbClr val="000000"/>
                </a:solidFill>
                <a:latin typeface="Cabin Bold"/>
                <a:ea typeface="Cabin Bold"/>
                <a:cs typeface="Cabin Bold"/>
                <a:sym typeface="Cabin Bold"/>
              </a:rPr>
              <a:t>Windows 1.01</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3611496" y="1270394"/>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2"/>
            <a:stretch>
              <a:fillRect l="0" t="0" r="0" b="0"/>
            </a:stretch>
          </a:blipFill>
        </p:spPr>
      </p:sp>
      <p:sp>
        <p:nvSpPr>
          <p:cNvPr name="TextBox 3" id="3"/>
          <p:cNvSpPr txBox="true"/>
          <p:nvPr/>
        </p:nvSpPr>
        <p:spPr>
          <a:xfrm rot="0">
            <a:off x="796911" y="262559"/>
            <a:ext cx="3642717" cy="660400"/>
          </a:xfrm>
          <a:prstGeom prst="rect">
            <a:avLst/>
          </a:prstGeom>
        </p:spPr>
        <p:txBody>
          <a:bodyPr anchor="t" rtlCol="false" tIns="0" lIns="0" bIns="0" rIns="0">
            <a:spAutoFit/>
          </a:bodyPr>
          <a:lstStyle/>
          <a:p>
            <a:pPr algn="ctr">
              <a:lnSpc>
                <a:spcPts val="5000"/>
              </a:lnSpc>
              <a:spcBef>
                <a:spcPct val="0"/>
              </a:spcBef>
            </a:pPr>
            <a:r>
              <a:rPr lang="en-US" b="true" sz="5000" u="sng">
                <a:solidFill>
                  <a:srgbClr val="000000"/>
                </a:solidFill>
                <a:latin typeface="Cabin Bold"/>
                <a:ea typeface="Cabin Bold"/>
                <a:cs typeface="Cabin Bold"/>
                <a:sym typeface="Cabin Bold"/>
              </a:rPr>
              <a:t>Windows 3.0</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3724614" y="1389409"/>
            <a:ext cx="10838773" cy="8142628"/>
          </a:xfrm>
          <a:custGeom>
            <a:avLst/>
            <a:gdLst/>
            <a:ahLst/>
            <a:cxnLst/>
            <a:rect r="r" b="b" t="t" l="l"/>
            <a:pathLst>
              <a:path h="8142628" w="10838773">
                <a:moveTo>
                  <a:pt x="0" y="0"/>
                </a:moveTo>
                <a:lnTo>
                  <a:pt x="10838772" y="0"/>
                </a:lnTo>
                <a:lnTo>
                  <a:pt x="10838772" y="8142628"/>
                </a:lnTo>
                <a:lnTo>
                  <a:pt x="0" y="8142628"/>
                </a:lnTo>
                <a:lnTo>
                  <a:pt x="0" y="0"/>
                </a:lnTo>
                <a:close/>
              </a:path>
            </a:pathLst>
          </a:custGeom>
          <a:blipFill>
            <a:blip r:embed="rId2"/>
            <a:stretch>
              <a:fillRect l="0" t="0" r="0" b="0"/>
            </a:stretch>
          </a:blipFill>
        </p:spPr>
      </p:sp>
      <p:sp>
        <p:nvSpPr>
          <p:cNvPr name="TextBox 3" id="3"/>
          <p:cNvSpPr txBox="true"/>
          <p:nvPr/>
        </p:nvSpPr>
        <p:spPr>
          <a:xfrm rot="0">
            <a:off x="838212" y="555756"/>
            <a:ext cx="3409057" cy="660400"/>
          </a:xfrm>
          <a:prstGeom prst="rect">
            <a:avLst/>
          </a:prstGeom>
        </p:spPr>
        <p:txBody>
          <a:bodyPr anchor="t" rtlCol="false" tIns="0" lIns="0" bIns="0" rIns="0">
            <a:spAutoFit/>
          </a:bodyPr>
          <a:lstStyle/>
          <a:p>
            <a:pPr algn="ctr">
              <a:lnSpc>
                <a:spcPts val="5000"/>
              </a:lnSpc>
              <a:spcBef>
                <a:spcPct val="0"/>
              </a:spcBef>
            </a:pPr>
            <a:r>
              <a:rPr lang="en-US" b="true" sz="5000" u="sng">
                <a:solidFill>
                  <a:srgbClr val="000000"/>
                </a:solidFill>
                <a:latin typeface="Cabin Bold"/>
                <a:ea typeface="Cabin Bold"/>
                <a:cs typeface="Cabin Bold"/>
                <a:sym typeface="Cabin Bold"/>
              </a:rPr>
              <a:t>Windows 95</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3675827" y="1451664"/>
            <a:ext cx="10936346" cy="8229600"/>
          </a:xfrm>
          <a:custGeom>
            <a:avLst/>
            <a:gdLst/>
            <a:ahLst/>
            <a:cxnLst/>
            <a:rect r="r" b="b" t="t" l="l"/>
            <a:pathLst>
              <a:path h="8229600" w="10936346">
                <a:moveTo>
                  <a:pt x="0" y="0"/>
                </a:moveTo>
                <a:lnTo>
                  <a:pt x="10936346" y="0"/>
                </a:lnTo>
                <a:lnTo>
                  <a:pt x="10936346" y="8229600"/>
                </a:lnTo>
                <a:lnTo>
                  <a:pt x="0" y="8229600"/>
                </a:lnTo>
                <a:lnTo>
                  <a:pt x="0" y="0"/>
                </a:lnTo>
                <a:close/>
              </a:path>
            </a:pathLst>
          </a:custGeom>
          <a:blipFill>
            <a:blip r:embed="rId2"/>
            <a:stretch>
              <a:fillRect l="0" t="0" r="0" b="0"/>
            </a:stretch>
          </a:blipFill>
        </p:spPr>
      </p:sp>
      <p:sp>
        <p:nvSpPr>
          <p:cNvPr name="TextBox 3" id="3"/>
          <p:cNvSpPr txBox="true"/>
          <p:nvPr/>
        </p:nvSpPr>
        <p:spPr>
          <a:xfrm rot="0">
            <a:off x="1028700" y="579961"/>
            <a:ext cx="3487192" cy="660400"/>
          </a:xfrm>
          <a:prstGeom prst="rect">
            <a:avLst/>
          </a:prstGeom>
        </p:spPr>
        <p:txBody>
          <a:bodyPr anchor="t" rtlCol="false" tIns="0" lIns="0" bIns="0" rIns="0">
            <a:spAutoFit/>
          </a:bodyPr>
          <a:lstStyle/>
          <a:p>
            <a:pPr algn="ctr">
              <a:lnSpc>
                <a:spcPts val="5000"/>
              </a:lnSpc>
              <a:spcBef>
                <a:spcPct val="0"/>
              </a:spcBef>
            </a:pPr>
            <a:r>
              <a:rPr lang="en-US" b="true" sz="5000" u="sng">
                <a:solidFill>
                  <a:srgbClr val="000000"/>
                </a:solidFill>
                <a:latin typeface="Cabin Bold"/>
                <a:ea typeface="Cabin Bold"/>
                <a:cs typeface="Cabin Bold"/>
                <a:sym typeface="Cabin Bold"/>
              </a:rPr>
              <a:t>Windows XP</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3582661" y="1255288"/>
            <a:ext cx="10792918" cy="8229600"/>
          </a:xfrm>
          <a:custGeom>
            <a:avLst/>
            <a:gdLst/>
            <a:ahLst/>
            <a:cxnLst/>
            <a:rect r="r" b="b" t="t" l="l"/>
            <a:pathLst>
              <a:path h="8229600" w="10792918">
                <a:moveTo>
                  <a:pt x="0" y="0"/>
                </a:moveTo>
                <a:lnTo>
                  <a:pt x="10792918" y="0"/>
                </a:lnTo>
                <a:lnTo>
                  <a:pt x="10792918" y="8229600"/>
                </a:lnTo>
                <a:lnTo>
                  <a:pt x="0" y="8229600"/>
                </a:lnTo>
                <a:lnTo>
                  <a:pt x="0" y="0"/>
                </a:lnTo>
                <a:close/>
              </a:path>
            </a:pathLst>
          </a:custGeom>
          <a:blipFill>
            <a:blip r:embed="rId2"/>
            <a:stretch>
              <a:fillRect l="0" t="0" r="0" b="0"/>
            </a:stretch>
          </a:blipFill>
        </p:spPr>
      </p:sp>
      <p:sp>
        <p:nvSpPr>
          <p:cNvPr name="TextBox 3" id="3"/>
          <p:cNvSpPr txBox="true"/>
          <p:nvPr/>
        </p:nvSpPr>
        <p:spPr>
          <a:xfrm rot="0">
            <a:off x="648752" y="458935"/>
            <a:ext cx="4059882" cy="660400"/>
          </a:xfrm>
          <a:prstGeom prst="rect">
            <a:avLst/>
          </a:prstGeom>
        </p:spPr>
        <p:txBody>
          <a:bodyPr anchor="t" rtlCol="false" tIns="0" lIns="0" bIns="0" rIns="0">
            <a:spAutoFit/>
          </a:bodyPr>
          <a:lstStyle/>
          <a:p>
            <a:pPr algn="ctr">
              <a:lnSpc>
                <a:spcPts val="5000"/>
              </a:lnSpc>
              <a:spcBef>
                <a:spcPct val="0"/>
              </a:spcBef>
            </a:pPr>
            <a:r>
              <a:rPr lang="en-US" b="true" sz="5000" u="sng">
                <a:solidFill>
                  <a:srgbClr val="000000"/>
                </a:solidFill>
                <a:latin typeface="Cabin Bold"/>
                <a:ea typeface="Cabin Bold"/>
                <a:cs typeface="Cabin Bold"/>
                <a:sym typeface="Cabin Bold"/>
              </a:rPr>
              <a:t>Windows Vista</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3909208" y="1429529"/>
            <a:ext cx="10342885" cy="8153024"/>
          </a:xfrm>
          <a:custGeom>
            <a:avLst/>
            <a:gdLst/>
            <a:ahLst/>
            <a:cxnLst/>
            <a:rect r="r" b="b" t="t" l="l"/>
            <a:pathLst>
              <a:path h="8153024" w="10342885">
                <a:moveTo>
                  <a:pt x="0" y="0"/>
                </a:moveTo>
                <a:lnTo>
                  <a:pt x="10342885" y="0"/>
                </a:lnTo>
                <a:lnTo>
                  <a:pt x="10342885" y="8153023"/>
                </a:lnTo>
                <a:lnTo>
                  <a:pt x="0" y="8153023"/>
                </a:lnTo>
                <a:lnTo>
                  <a:pt x="0" y="0"/>
                </a:lnTo>
                <a:close/>
              </a:path>
            </a:pathLst>
          </a:custGeom>
          <a:blipFill>
            <a:blip r:embed="rId2"/>
            <a:stretch>
              <a:fillRect l="0" t="0" r="0" b="0"/>
            </a:stretch>
          </a:blipFill>
        </p:spPr>
      </p:sp>
      <p:sp>
        <p:nvSpPr>
          <p:cNvPr name="TextBox 3" id="3"/>
          <p:cNvSpPr txBox="true"/>
          <p:nvPr/>
        </p:nvSpPr>
        <p:spPr>
          <a:xfrm rot="0">
            <a:off x="1028700" y="655311"/>
            <a:ext cx="3035052" cy="660400"/>
          </a:xfrm>
          <a:prstGeom prst="rect">
            <a:avLst/>
          </a:prstGeom>
        </p:spPr>
        <p:txBody>
          <a:bodyPr anchor="t" rtlCol="false" tIns="0" lIns="0" bIns="0" rIns="0">
            <a:spAutoFit/>
          </a:bodyPr>
          <a:lstStyle/>
          <a:p>
            <a:pPr algn="ctr">
              <a:lnSpc>
                <a:spcPts val="5000"/>
              </a:lnSpc>
              <a:spcBef>
                <a:spcPct val="0"/>
              </a:spcBef>
            </a:pPr>
            <a:r>
              <a:rPr lang="en-US" b="true" sz="5000" u="sng">
                <a:solidFill>
                  <a:srgbClr val="000000"/>
                </a:solidFill>
                <a:latin typeface="Cabin Bold"/>
                <a:ea typeface="Cabin Bold"/>
                <a:cs typeface="Cabin Bold"/>
                <a:sym typeface="Cabin Bold"/>
              </a:rPr>
              <a:t>Windows 7</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2315290" y="1526853"/>
            <a:ext cx="13657420" cy="7505199"/>
          </a:xfrm>
          <a:custGeom>
            <a:avLst/>
            <a:gdLst/>
            <a:ahLst/>
            <a:cxnLst/>
            <a:rect r="r" b="b" t="t" l="l"/>
            <a:pathLst>
              <a:path h="7505199" w="13657420">
                <a:moveTo>
                  <a:pt x="0" y="0"/>
                </a:moveTo>
                <a:lnTo>
                  <a:pt x="13657420" y="0"/>
                </a:lnTo>
                <a:lnTo>
                  <a:pt x="13657420" y="7505199"/>
                </a:lnTo>
                <a:lnTo>
                  <a:pt x="0" y="7505199"/>
                </a:lnTo>
                <a:lnTo>
                  <a:pt x="0" y="0"/>
                </a:lnTo>
                <a:close/>
              </a:path>
            </a:pathLst>
          </a:custGeom>
          <a:blipFill>
            <a:blip r:embed="rId2"/>
            <a:stretch>
              <a:fillRect l="0" t="0" r="0" b="0"/>
            </a:stretch>
          </a:blipFill>
        </p:spPr>
      </p:sp>
      <p:sp>
        <p:nvSpPr>
          <p:cNvPr name="TextBox 3" id="3"/>
          <p:cNvSpPr txBox="true"/>
          <p:nvPr/>
        </p:nvSpPr>
        <p:spPr>
          <a:xfrm rot="0">
            <a:off x="1028700" y="625100"/>
            <a:ext cx="3094732" cy="660400"/>
          </a:xfrm>
          <a:prstGeom prst="rect">
            <a:avLst/>
          </a:prstGeom>
        </p:spPr>
        <p:txBody>
          <a:bodyPr anchor="t" rtlCol="false" tIns="0" lIns="0" bIns="0" rIns="0">
            <a:spAutoFit/>
          </a:bodyPr>
          <a:lstStyle/>
          <a:p>
            <a:pPr algn="ctr">
              <a:lnSpc>
                <a:spcPts val="5000"/>
              </a:lnSpc>
              <a:spcBef>
                <a:spcPct val="0"/>
              </a:spcBef>
            </a:pPr>
            <a:r>
              <a:rPr lang="en-US" b="true" sz="5000" u="sng">
                <a:solidFill>
                  <a:srgbClr val="000000"/>
                </a:solidFill>
                <a:latin typeface="Cabin Bold"/>
                <a:ea typeface="Cabin Bold"/>
                <a:cs typeface="Cabin Bold"/>
                <a:sym typeface="Cabin Bold"/>
              </a:rPr>
              <a:t>Windows 8</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2322065" y="1577580"/>
            <a:ext cx="13643870" cy="7796497"/>
          </a:xfrm>
          <a:custGeom>
            <a:avLst/>
            <a:gdLst/>
            <a:ahLst/>
            <a:cxnLst/>
            <a:rect r="r" b="b" t="t" l="l"/>
            <a:pathLst>
              <a:path h="7796497" w="13643870">
                <a:moveTo>
                  <a:pt x="0" y="0"/>
                </a:moveTo>
                <a:lnTo>
                  <a:pt x="13643870" y="0"/>
                </a:lnTo>
                <a:lnTo>
                  <a:pt x="13643870" y="7796497"/>
                </a:lnTo>
                <a:lnTo>
                  <a:pt x="0" y="7796497"/>
                </a:lnTo>
                <a:lnTo>
                  <a:pt x="0" y="0"/>
                </a:lnTo>
                <a:close/>
              </a:path>
            </a:pathLst>
          </a:custGeom>
          <a:blipFill>
            <a:blip r:embed="rId2"/>
            <a:stretch>
              <a:fillRect l="0" t="0" r="0" b="0"/>
            </a:stretch>
          </a:blipFill>
        </p:spPr>
      </p:sp>
      <p:sp>
        <p:nvSpPr>
          <p:cNvPr name="TextBox 3" id="3"/>
          <p:cNvSpPr txBox="true"/>
          <p:nvPr/>
        </p:nvSpPr>
        <p:spPr>
          <a:xfrm rot="0">
            <a:off x="1028700" y="746125"/>
            <a:ext cx="3393877" cy="660400"/>
          </a:xfrm>
          <a:prstGeom prst="rect">
            <a:avLst/>
          </a:prstGeom>
        </p:spPr>
        <p:txBody>
          <a:bodyPr anchor="t" rtlCol="false" tIns="0" lIns="0" bIns="0" rIns="0">
            <a:spAutoFit/>
          </a:bodyPr>
          <a:lstStyle/>
          <a:p>
            <a:pPr algn="ctr">
              <a:lnSpc>
                <a:spcPts val="5000"/>
              </a:lnSpc>
              <a:spcBef>
                <a:spcPct val="0"/>
              </a:spcBef>
            </a:pPr>
            <a:r>
              <a:rPr lang="en-US" b="true" sz="5000" u="sng">
                <a:solidFill>
                  <a:srgbClr val="000000"/>
                </a:solidFill>
                <a:latin typeface="Cabin Bold"/>
                <a:ea typeface="Cabin Bold"/>
                <a:cs typeface="Cabin Bold"/>
                <a:sym typeface="Cabin Bold"/>
              </a:rPr>
              <a:t>Windows 10</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2936820" y="1408690"/>
            <a:ext cx="12414360" cy="7758975"/>
          </a:xfrm>
          <a:custGeom>
            <a:avLst/>
            <a:gdLst/>
            <a:ahLst/>
            <a:cxnLst/>
            <a:rect r="r" b="b" t="t" l="l"/>
            <a:pathLst>
              <a:path h="7758975" w="12414360">
                <a:moveTo>
                  <a:pt x="0" y="0"/>
                </a:moveTo>
                <a:lnTo>
                  <a:pt x="12414360" y="0"/>
                </a:lnTo>
                <a:lnTo>
                  <a:pt x="12414360" y="7758975"/>
                </a:lnTo>
                <a:lnTo>
                  <a:pt x="0" y="7758975"/>
                </a:lnTo>
                <a:lnTo>
                  <a:pt x="0" y="0"/>
                </a:lnTo>
                <a:close/>
              </a:path>
            </a:pathLst>
          </a:custGeom>
          <a:blipFill>
            <a:blip r:embed="rId2"/>
            <a:stretch>
              <a:fillRect l="0" t="0" r="0" b="0"/>
            </a:stretch>
          </a:blipFill>
        </p:spPr>
      </p:sp>
      <p:sp>
        <p:nvSpPr>
          <p:cNvPr name="TextBox 3" id="3"/>
          <p:cNvSpPr txBox="true"/>
          <p:nvPr/>
        </p:nvSpPr>
        <p:spPr>
          <a:xfrm rot="0">
            <a:off x="1028700" y="609994"/>
            <a:ext cx="3179862" cy="660400"/>
          </a:xfrm>
          <a:prstGeom prst="rect">
            <a:avLst/>
          </a:prstGeom>
        </p:spPr>
        <p:txBody>
          <a:bodyPr anchor="t" rtlCol="false" tIns="0" lIns="0" bIns="0" rIns="0">
            <a:spAutoFit/>
          </a:bodyPr>
          <a:lstStyle/>
          <a:p>
            <a:pPr algn="ctr">
              <a:lnSpc>
                <a:spcPts val="5000"/>
              </a:lnSpc>
              <a:spcBef>
                <a:spcPct val="0"/>
              </a:spcBef>
            </a:pPr>
            <a:r>
              <a:rPr lang="en-US" b="true" sz="5000" u="sng">
                <a:solidFill>
                  <a:srgbClr val="000000"/>
                </a:solidFill>
                <a:latin typeface="Cabin Bold"/>
                <a:ea typeface="Cabin Bold"/>
                <a:cs typeface="Cabin Bold"/>
                <a:sym typeface="Cabin Bold"/>
              </a:rPr>
              <a:t>Windows 11</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2902706" y="1784350"/>
            <a:ext cx="12482589" cy="7473950"/>
          </a:xfrm>
          <a:custGeom>
            <a:avLst/>
            <a:gdLst/>
            <a:ahLst/>
            <a:cxnLst/>
            <a:rect r="r" b="b" t="t" l="l"/>
            <a:pathLst>
              <a:path h="7473950" w="12482589">
                <a:moveTo>
                  <a:pt x="0" y="0"/>
                </a:moveTo>
                <a:lnTo>
                  <a:pt x="12482588" y="0"/>
                </a:lnTo>
                <a:lnTo>
                  <a:pt x="12482588" y="7473950"/>
                </a:lnTo>
                <a:lnTo>
                  <a:pt x="0" y="7473950"/>
                </a:lnTo>
                <a:lnTo>
                  <a:pt x="0" y="0"/>
                </a:lnTo>
                <a:close/>
              </a:path>
            </a:pathLst>
          </a:custGeom>
          <a:blipFill>
            <a:blip r:embed="rId2"/>
            <a:stretch>
              <a:fillRect l="0" t="0" r="0" b="0"/>
            </a:stretch>
          </a:blipFill>
        </p:spPr>
      </p:sp>
      <p:sp>
        <p:nvSpPr>
          <p:cNvPr name="TextBox 3" id="3"/>
          <p:cNvSpPr txBox="true"/>
          <p:nvPr/>
        </p:nvSpPr>
        <p:spPr>
          <a:xfrm rot="0">
            <a:off x="1208883" y="1123950"/>
            <a:ext cx="6191012"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Các kiểu controls khác </a:t>
            </a:r>
          </a:p>
        </p:txBody>
      </p:sp>
    </p:spTree>
  </p:cSld>
  <p:clrMapOvr>
    <a:masterClrMapping/>
  </p:clrMapOvr>
</p:sld>
</file>

<file path=ppt/slides/slide44.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1028700" y="942975"/>
            <a:ext cx="16230600" cy="8046085"/>
          </a:xfrm>
          <a:prstGeom prst="rect">
            <a:avLst/>
          </a:prstGeom>
        </p:spPr>
        <p:txBody>
          <a:bodyPr anchor="t" rtlCol="false" tIns="0" lIns="0" bIns="0" rIns="0">
            <a:spAutoFit/>
          </a:bodyPr>
          <a:lstStyle/>
          <a:p>
            <a:pPr algn="l">
              <a:lnSpc>
                <a:spcPts val="6019"/>
              </a:lnSpc>
            </a:pPr>
            <a:r>
              <a:rPr lang="en-US" sz="4299">
                <a:solidFill>
                  <a:srgbClr val="000000"/>
                </a:solidFill>
                <a:latin typeface="Cabin"/>
                <a:ea typeface="Cabin"/>
                <a:cs typeface="Cabin"/>
                <a:sym typeface="Cabin"/>
              </a:rPr>
              <a:t>Controls là các thành phần giao diện người dùng (UI) có sẵn trong các ngôn ngữ lập trình, giúp tạo ra các ứng dụng đồ họa.</a:t>
            </a:r>
          </a:p>
          <a:p>
            <a:pPr algn="l" marL="928365" indent="-464182" lvl="1">
              <a:lnSpc>
                <a:spcPts val="6019"/>
              </a:lnSpc>
              <a:buFont typeface="Arial"/>
              <a:buChar char="•"/>
            </a:pPr>
            <a:r>
              <a:rPr lang="en-US" sz="4299">
                <a:solidFill>
                  <a:srgbClr val="000000"/>
                </a:solidFill>
                <a:latin typeface="Cabin"/>
                <a:ea typeface="Cabin"/>
                <a:cs typeface="Cabin"/>
                <a:sym typeface="Cabin"/>
              </a:rPr>
              <a:t>C#: System.Windows.Forms</a:t>
            </a:r>
          </a:p>
          <a:p>
            <a:pPr algn="l" marL="928365" indent="-464182" lvl="1">
              <a:lnSpc>
                <a:spcPts val="6019"/>
              </a:lnSpc>
              <a:buFont typeface="Arial"/>
              <a:buChar char="•"/>
            </a:pPr>
            <a:r>
              <a:rPr lang="en-US" sz="4299">
                <a:solidFill>
                  <a:srgbClr val="000000"/>
                </a:solidFill>
                <a:latin typeface="Cabin"/>
                <a:ea typeface="Cabin"/>
                <a:cs typeface="Cabin"/>
                <a:sym typeface="Cabin"/>
              </a:rPr>
              <a:t>Java: AWT, Swing, SWT</a:t>
            </a:r>
          </a:p>
          <a:p>
            <a:pPr algn="l">
              <a:lnSpc>
                <a:spcPts val="6019"/>
              </a:lnSpc>
            </a:pPr>
            <a:r>
              <a:rPr lang="en-US" sz="4299">
                <a:solidFill>
                  <a:srgbClr val="000000"/>
                </a:solidFill>
                <a:latin typeface="Cabin"/>
                <a:ea typeface="Cabin"/>
                <a:cs typeface="Cabin"/>
                <a:sym typeface="Cabin"/>
              </a:rPr>
              <a:t>Các lớp điều khiển có nguyên tắc chung, nhưng cú pháp và tính năng có thể khác nhau tùy vào từng ngôn ngữ.</a:t>
            </a:r>
          </a:p>
          <a:p>
            <a:pPr algn="l">
              <a:lnSpc>
                <a:spcPts val="6019"/>
              </a:lnSpc>
            </a:pPr>
            <a:r>
              <a:rPr lang="en-US" sz="4299">
                <a:solidFill>
                  <a:srgbClr val="000000"/>
                </a:solidFill>
                <a:latin typeface="Cabin"/>
                <a:ea typeface="Cabin"/>
                <a:cs typeface="Cabin"/>
                <a:sym typeface="Cabin"/>
              </a:rPr>
              <a:t>Lập trình viên có thể kế thừa (inherit) các lớp điều khiển để mở rộng và tùy chỉnh chức năng.</a:t>
            </a:r>
          </a:p>
          <a:p>
            <a:pPr algn="l">
              <a:lnSpc>
                <a:spcPts val="6019"/>
              </a:lnSpc>
            </a:pPr>
          </a:p>
          <a:p>
            <a:pPr algn="l">
              <a:lnSpc>
                <a:spcPts val="4759"/>
              </a:lnSpc>
            </a:pPr>
          </a:p>
          <a:p>
            <a:pPr algn="l">
              <a:lnSpc>
                <a:spcPts val="4759"/>
              </a:lnSpc>
            </a:pP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829388"/>
            <a:ext cx="7811838" cy="4198863"/>
          </a:xfrm>
          <a:custGeom>
            <a:avLst/>
            <a:gdLst/>
            <a:ahLst/>
            <a:cxnLst/>
            <a:rect r="r" b="b" t="t" l="l"/>
            <a:pathLst>
              <a:path h="4198863" w="7811838">
                <a:moveTo>
                  <a:pt x="0" y="0"/>
                </a:moveTo>
                <a:lnTo>
                  <a:pt x="7811838" y="0"/>
                </a:lnTo>
                <a:lnTo>
                  <a:pt x="7811838" y="4198863"/>
                </a:lnTo>
                <a:lnTo>
                  <a:pt x="0" y="4198863"/>
                </a:lnTo>
                <a:lnTo>
                  <a:pt x="0" y="0"/>
                </a:lnTo>
                <a:close/>
              </a:path>
            </a:pathLst>
          </a:custGeom>
          <a:blipFill>
            <a:blip r:embed="rId2"/>
            <a:stretch>
              <a:fillRect l="0" t="0" r="0" b="0"/>
            </a:stretch>
          </a:blipFill>
        </p:spPr>
      </p:sp>
      <p:sp>
        <p:nvSpPr>
          <p:cNvPr name="Freeform 3" id="3"/>
          <p:cNvSpPr/>
          <p:nvPr/>
        </p:nvSpPr>
        <p:spPr>
          <a:xfrm flipH="false" flipV="false" rot="0">
            <a:off x="10939358" y="4599340"/>
            <a:ext cx="5748733" cy="4658960"/>
          </a:xfrm>
          <a:custGeom>
            <a:avLst/>
            <a:gdLst/>
            <a:ahLst/>
            <a:cxnLst/>
            <a:rect r="r" b="b" t="t" l="l"/>
            <a:pathLst>
              <a:path h="4658960" w="5748733">
                <a:moveTo>
                  <a:pt x="0" y="0"/>
                </a:moveTo>
                <a:lnTo>
                  <a:pt x="5748733" y="0"/>
                </a:lnTo>
                <a:lnTo>
                  <a:pt x="5748733" y="4658960"/>
                </a:lnTo>
                <a:lnTo>
                  <a:pt x="0" y="4658960"/>
                </a:lnTo>
                <a:lnTo>
                  <a:pt x="0" y="0"/>
                </a:lnTo>
                <a:close/>
              </a:path>
            </a:pathLst>
          </a:custGeom>
          <a:blipFill>
            <a:blip r:embed="rId3"/>
            <a:stretch>
              <a:fillRect l="0" t="0" r="0" b="0"/>
            </a:stretch>
          </a:blipFill>
        </p:spPr>
      </p:sp>
      <p:sp>
        <p:nvSpPr>
          <p:cNvPr name="TextBox 4" id="4"/>
          <p:cNvSpPr txBox="true"/>
          <p:nvPr/>
        </p:nvSpPr>
        <p:spPr>
          <a:xfrm rot="0">
            <a:off x="1028700" y="942975"/>
            <a:ext cx="16230600" cy="3300730"/>
          </a:xfrm>
          <a:prstGeom prst="rect">
            <a:avLst/>
          </a:prstGeom>
        </p:spPr>
        <p:txBody>
          <a:bodyPr anchor="t" rtlCol="false" tIns="0" lIns="0" bIns="0" rIns="0">
            <a:spAutoFit/>
          </a:bodyPr>
          <a:lstStyle/>
          <a:p>
            <a:pPr algn="l">
              <a:lnSpc>
                <a:spcPts val="6019"/>
              </a:lnSpc>
            </a:pPr>
            <a:r>
              <a:rPr lang="en-US" sz="4299">
                <a:solidFill>
                  <a:srgbClr val="000000"/>
                </a:solidFill>
                <a:latin typeface="Cabin"/>
                <a:ea typeface="Cabin"/>
                <a:cs typeface="Cabin"/>
                <a:sym typeface="Cabin"/>
              </a:rPr>
              <a:t>Các Loại Giao Diện Điều Khiển</a:t>
            </a:r>
          </a:p>
          <a:p>
            <a:pPr algn="l" marL="734059" indent="-367030" lvl="1">
              <a:lnSpc>
                <a:spcPts val="4759"/>
              </a:lnSpc>
              <a:buFont typeface="Arial"/>
              <a:buChar char="•"/>
            </a:pPr>
            <a:r>
              <a:rPr lang="en-US" sz="3399">
                <a:solidFill>
                  <a:srgbClr val="000000"/>
                </a:solidFill>
                <a:latin typeface="Cabin"/>
                <a:ea typeface="Cabin"/>
                <a:cs typeface="Cabin"/>
                <a:sym typeface="Cabin"/>
              </a:rPr>
              <a:t>SDI (Single Document Interface):</a:t>
            </a:r>
          </a:p>
          <a:p>
            <a:pPr algn="l" marL="1468119" indent="-489373" lvl="2">
              <a:lnSpc>
                <a:spcPts val="4759"/>
              </a:lnSpc>
              <a:buFont typeface="Arial"/>
              <a:buChar char="⚬"/>
            </a:pPr>
            <a:r>
              <a:rPr lang="en-US" sz="3399">
                <a:solidFill>
                  <a:srgbClr val="000000"/>
                </a:solidFill>
                <a:latin typeface="Cabin"/>
                <a:ea typeface="Cabin"/>
                <a:cs typeface="Cabin"/>
                <a:sym typeface="Cabin"/>
              </a:rPr>
              <a:t>Chỉ có một cửa sổ làm việc.</a:t>
            </a:r>
          </a:p>
          <a:p>
            <a:pPr algn="l" marL="1468119" indent="-489373" lvl="2">
              <a:lnSpc>
                <a:spcPts val="4759"/>
              </a:lnSpc>
              <a:buFont typeface="Arial"/>
              <a:buChar char="⚬"/>
            </a:pPr>
            <a:r>
              <a:rPr lang="en-US" sz="3399">
                <a:solidFill>
                  <a:srgbClr val="000000"/>
                </a:solidFill>
                <a:latin typeface="Cabin"/>
                <a:ea typeface="Cabin"/>
                <a:cs typeface="Cabin"/>
                <a:sym typeface="Cabin"/>
              </a:rPr>
              <a:t>Ví dụ: Notepad.</a:t>
            </a:r>
          </a:p>
          <a:p>
            <a:pPr algn="l">
              <a:lnSpc>
                <a:spcPts val="6019"/>
              </a:lnSpc>
            </a:pPr>
          </a:p>
        </p:txBody>
      </p:sp>
      <p:sp>
        <p:nvSpPr>
          <p:cNvPr name="TextBox 5" id="5"/>
          <p:cNvSpPr txBox="true"/>
          <p:nvPr/>
        </p:nvSpPr>
        <p:spPr>
          <a:xfrm rot="0">
            <a:off x="9275705" y="1378325"/>
            <a:ext cx="8554529" cy="3020060"/>
          </a:xfrm>
          <a:prstGeom prst="rect">
            <a:avLst/>
          </a:prstGeom>
        </p:spPr>
        <p:txBody>
          <a:bodyPr anchor="t" rtlCol="false" tIns="0" lIns="0" bIns="0" rIns="0">
            <a:spAutoFit/>
          </a:bodyPr>
          <a:lstStyle/>
          <a:p>
            <a:pPr algn="l" marL="734059" indent="-367030" lvl="1">
              <a:lnSpc>
                <a:spcPts val="3399"/>
              </a:lnSpc>
              <a:buFont typeface="Arial"/>
              <a:buChar char="•"/>
            </a:pPr>
            <a:r>
              <a:rPr lang="en-US" sz="3399">
                <a:solidFill>
                  <a:srgbClr val="000000"/>
                </a:solidFill>
                <a:latin typeface="Cabin"/>
                <a:ea typeface="Cabin"/>
                <a:cs typeface="Cabin"/>
                <a:sym typeface="Cabin"/>
              </a:rPr>
              <a:t>MDI (Multiple Document Interface):</a:t>
            </a:r>
          </a:p>
          <a:p>
            <a:pPr algn="l" marL="1468119" indent="-489373" lvl="2">
              <a:lnSpc>
                <a:spcPts val="3399"/>
              </a:lnSpc>
              <a:buFont typeface="Arial"/>
              <a:buChar char="⚬"/>
            </a:pPr>
            <a:r>
              <a:rPr lang="en-US" sz="3399">
                <a:solidFill>
                  <a:srgbClr val="000000"/>
                </a:solidFill>
                <a:latin typeface="Cabin"/>
                <a:ea typeface="Cabin"/>
                <a:cs typeface="Cabin"/>
                <a:sym typeface="Cabin"/>
              </a:rPr>
              <a:t>Có một cửa sổ cha chứa nhiều cửa sổ con.</a:t>
            </a:r>
          </a:p>
          <a:p>
            <a:pPr algn="l" marL="1468119" indent="-489373" lvl="2">
              <a:lnSpc>
                <a:spcPts val="3399"/>
              </a:lnSpc>
              <a:buFont typeface="Arial"/>
              <a:buChar char="⚬"/>
            </a:pPr>
            <a:r>
              <a:rPr lang="en-US" sz="3399">
                <a:solidFill>
                  <a:srgbClr val="000000"/>
                </a:solidFill>
                <a:latin typeface="Cabin"/>
                <a:ea typeface="Cabin"/>
                <a:cs typeface="Cabin"/>
                <a:sym typeface="Cabin"/>
              </a:rPr>
              <a:t>Ví dụ: Microsoft Word. (từ phiên bản Word 2000 trở đi, Microsoft đã chuyển sang SDI (Single Document Interface).</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407938"/>
            <a:ext cx="7193975" cy="5147785"/>
          </a:xfrm>
          <a:custGeom>
            <a:avLst/>
            <a:gdLst/>
            <a:ahLst/>
            <a:cxnLst/>
            <a:rect r="r" b="b" t="t" l="l"/>
            <a:pathLst>
              <a:path h="5147785" w="7193975">
                <a:moveTo>
                  <a:pt x="0" y="0"/>
                </a:moveTo>
                <a:lnTo>
                  <a:pt x="7193975" y="0"/>
                </a:lnTo>
                <a:lnTo>
                  <a:pt x="7193975" y="5147785"/>
                </a:lnTo>
                <a:lnTo>
                  <a:pt x="0" y="5147785"/>
                </a:lnTo>
                <a:lnTo>
                  <a:pt x="0" y="0"/>
                </a:lnTo>
                <a:close/>
              </a:path>
            </a:pathLst>
          </a:custGeom>
          <a:blipFill>
            <a:blip r:embed="rId2"/>
            <a:stretch>
              <a:fillRect l="0" t="0" r="0" b="0"/>
            </a:stretch>
          </a:blipFill>
        </p:spPr>
      </p:sp>
      <p:sp>
        <p:nvSpPr>
          <p:cNvPr name="Freeform 3" id="3"/>
          <p:cNvSpPr/>
          <p:nvPr/>
        </p:nvSpPr>
        <p:spPr>
          <a:xfrm flipH="false" flipV="false" rot="0">
            <a:off x="9144000" y="2407938"/>
            <a:ext cx="8115300" cy="5019421"/>
          </a:xfrm>
          <a:custGeom>
            <a:avLst/>
            <a:gdLst/>
            <a:ahLst/>
            <a:cxnLst/>
            <a:rect r="r" b="b" t="t" l="l"/>
            <a:pathLst>
              <a:path h="5019421" w="8115300">
                <a:moveTo>
                  <a:pt x="0" y="0"/>
                </a:moveTo>
                <a:lnTo>
                  <a:pt x="8115300" y="0"/>
                </a:lnTo>
                <a:lnTo>
                  <a:pt x="8115300" y="5019422"/>
                </a:lnTo>
                <a:lnTo>
                  <a:pt x="0" y="5019422"/>
                </a:lnTo>
                <a:lnTo>
                  <a:pt x="0" y="0"/>
                </a:lnTo>
                <a:close/>
              </a:path>
            </a:pathLst>
          </a:custGeom>
          <a:blipFill>
            <a:blip r:embed="rId3"/>
            <a:stretch>
              <a:fillRect l="0" t="0" r="0" b="0"/>
            </a:stretch>
          </a:blipFill>
        </p:spPr>
      </p:sp>
      <p:sp>
        <p:nvSpPr>
          <p:cNvPr name="TextBox 4" id="4"/>
          <p:cNvSpPr txBox="true"/>
          <p:nvPr/>
        </p:nvSpPr>
        <p:spPr>
          <a:xfrm rot="0">
            <a:off x="1028700" y="1123950"/>
            <a:ext cx="5854529"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Ví dụ về SDI và MDI </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594572">
            <a:off x="-975249" y="-159990"/>
            <a:ext cx="4007898" cy="1661456"/>
          </a:xfrm>
          <a:custGeom>
            <a:avLst/>
            <a:gdLst/>
            <a:ahLst/>
            <a:cxnLst/>
            <a:rect r="r" b="b" t="t" l="l"/>
            <a:pathLst>
              <a:path h="1661456" w="4007898">
                <a:moveTo>
                  <a:pt x="0" y="0"/>
                </a:moveTo>
                <a:lnTo>
                  <a:pt x="4007898" y="0"/>
                </a:lnTo>
                <a:lnTo>
                  <a:pt x="4007898" y="1661456"/>
                </a:lnTo>
                <a:lnTo>
                  <a:pt x="0" y="16614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951714" y="2554401"/>
            <a:ext cx="14384571" cy="1500519"/>
          </a:xfrm>
          <a:prstGeom prst="rect">
            <a:avLst/>
          </a:prstGeom>
        </p:spPr>
        <p:txBody>
          <a:bodyPr anchor="t" rtlCol="false" tIns="0" lIns="0" bIns="0" rIns="0">
            <a:spAutoFit/>
          </a:bodyPr>
          <a:lstStyle/>
          <a:p>
            <a:pPr algn="ctr">
              <a:lnSpc>
                <a:spcPts val="12348"/>
              </a:lnSpc>
              <a:spcBef>
                <a:spcPct val="0"/>
              </a:spcBef>
            </a:pPr>
            <a:r>
              <a:rPr lang="en-US" b="true" sz="8820">
                <a:solidFill>
                  <a:srgbClr val="000000"/>
                </a:solidFill>
                <a:latin typeface="Cabin Bold"/>
                <a:ea typeface="Cabin Bold"/>
                <a:cs typeface="Cabin Bold"/>
                <a:sym typeface="Cabin Bold"/>
              </a:rPr>
              <a:t>2.Một số loại control phổ biến</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Freeform 3" id="3"/>
          <p:cNvSpPr/>
          <p:nvPr/>
        </p:nvSpPr>
        <p:spPr>
          <a:xfrm flipH="false" flipV="false" rot="0">
            <a:off x="919092" y="2058577"/>
            <a:ext cx="5422541" cy="7591557"/>
          </a:xfrm>
          <a:custGeom>
            <a:avLst/>
            <a:gdLst/>
            <a:ahLst/>
            <a:cxnLst/>
            <a:rect r="r" b="b" t="t" l="l"/>
            <a:pathLst>
              <a:path h="7591557" w="5422541">
                <a:moveTo>
                  <a:pt x="0" y="0"/>
                </a:moveTo>
                <a:lnTo>
                  <a:pt x="5422541" y="0"/>
                </a:lnTo>
                <a:lnTo>
                  <a:pt x="5422541" y="7591557"/>
                </a:lnTo>
                <a:lnTo>
                  <a:pt x="0" y="7591557"/>
                </a:lnTo>
                <a:lnTo>
                  <a:pt x="0" y="0"/>
                </a:lnTo>
                <a:close/>
              </a:path>
            </a:pathLst>
          </a:custGeom>
          <a:blipFill>
            <a:blip r:embed="rId4"/>
            <a:stretch>
              <a:fillRect l="0" t="0" r="0" b="0"/>
            </a:stretch>
          </a:blipFill>
        </p:spPr>
      </p:sp>
      <p:sp>
        <p:nvSpPr>
          <p:cNvPr name="TextBox 4" id="4"/>
          <p:cNvSpPr txBox="true"/>
          <p:nvPr/>
        </p:nvSpPr>
        <p:spPr>
          <a:xfrm rot="0">
            <a:off x="1028700" y="881697"/>
            <a:ext cx="7332413" cy="844551"/>
          </a:xfrm>
          <a:prstGeom prst="rect">
            <a:avLst/>
          </a:prstGeom>
        </p:spPr>
        <p:txBody>
          <a:bodyPr anchor="t" rtlCol="false" tIns="0" lIns="0" bIns="0" rIns="0">
            <a:spAutoFit/>
          </a:bodyPr>
          <a:lstStyle/>
          <a:p>
            <a:pPr algn="l">
              <a:lnSpc>
                <a:spcPts val="6999"/>
              </a:lnSpc>
            </a:pPr>
            <a:r>
              <a:rPr lang="en-US" sz="4999" b="true">
                <a:solidFill>
                  <a:srgbClr val="000000"/>
                </a:solidFill>
                <a:latin typeface="Cabin Bold"/>
                <a:ea typeface="Cabin Bold"/>
                <a:cs typeface="Cabin Bold"/>
                <a:sym typeface="Cabin Bold"/>
              </a:rPr>
              <a:t>Dialog (form): modal </a:t>
            </a:r>
          </a:p>
        </p:txBody>
      </p:sp>
      <p:sp>
        <p:nvSpPr>
          <p:cNvPr name="TextBox 5" id="5"/>
          <p:cNvSpPr txBox="true"/>
          <p:nvPr/>
        </p:nvSpPr>
        <p:spPr>
          <a:xfrm rot="0">
            <a:off x="8115300" y="3621490"/>
            <a:ext cx="9144000" cy="3448685"/>
          </a:xfrm>
          <a:prstGeom prst="rect">
            <a:avLst/>
          </a:prstGeom>
        </p:spPr>
        <p:txBody>
          <a:bodyPr anchor="t" rtlCol="false" tIns="0" lIns="0" bIns="0" rIns="0">
            <a:spAutoFit/>
          </a:bodyPr>
          <a:lstStyle/>
          <a:p>
            <a:pPr algn="l">
              <a:lnSpc>
                <a:spcPts val="3399"/>
              </a:lnSpc>
              <a:spcBef>
                <a:spcPct val="0"/>
              </a:spcBef>
            </a:pPr>
            <a:r>
              <a:rPr lang="en-US" b="true" sz="3399">
                <a:solidFill>
                  <a:srgbClr val="000000"/>
                </a:solidFill>
                <a:latin typeface="Cabin Bold"/>
                <a:ea typeface="Cabin Bold"/>
                <a:cs typeface="Cabin Bold"/>
                <a:sym typeface="Cabin Bold"/>
              </a:rPr>
              <a:t>Modal Dialog là một hộp thoại chặn tương tác với phần còn lại của giao diện cho đến khi người dùng đóng nó. </a:t>
            </a:r>
          </a:p>
          <a:p>
            <a:pPr algn="l">
              <a:lnSpc>
                <a:spcPts val="3399"/>
              </a:lnSpc>
              <a:spcBef>
                <a:spcPct val="0"/>
              </a:spcBef>
            </a:pPr>
          </a:p>
          <a:p>
            <a:pPr algn="l">
              <a:lnSpc>
                <a:spcPts val="3399"/>
              </a:lnSpc>
              <a:spcBef>
                <a:spcPct val="0"/>
              </a:spcBef>
            </a:pPr>
            <a:r>
              <a:rPr lang="en-US" b="true" sz="3399">
                <a:solidFill>
                  <a:srgbClr val="000000"/>
                </a:solidFill>
                <a:latin typeface="Cabin Bold"/>
                <a:ea typeface="Cabin Bold"/>
                <a:cs typeface="Cabin Bold"/>
                <a:sym typeface="Cabin Bold"/>
              </a:rPr>
              <a:t>Nó thường được dùng để hiển thị thông báo quan trọng, yêu cầu xác nhận hoặc nhập dữ liệu ngắn gọn. </a:t>
            </a:r>
          </a:p>
          <a:p>
            <a:pPr algn="l">
              <a:lnSpc>
                <a:spcPts val="3399"/>
              </a:lnSpc>
              <a:spcBef>
                <a:spcPct val="0"/>
              </a:spcBef>
            </a:pP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Freeform 3" id="3"/>
          <p:cNvSpPr/>
          <p:nvPr/>
        </p:nvSpPr>
        <p:spPr>
          <a:xfrm flipH="false" flipV="false" rot="0">
            <a:off x="830822" y="2238063"/>
            <a:ext cx="10458313" cy="4602406"/>
          </a:xfrm>
          <a:custGeom>
            <a:avLst/>
            <a:gdLst/>
            <a:ahLst/>
            <a:cxnLst/>
            <a:rect r="r" b="b" t="t" l="l"/>
            <a:pathLst>
              <a:path h="4602406" w="10458313">
                <a:moveTo>
                  <a:pt x="0" y="0"/>
                </a:moveTo>
                <a:lnTo>
                  <a:pt x="10458313" y="0"/>
                </a:lnTo>
                <a:lnTo>
                  <a:pt x="10458313" y="4602406"/>
                </a:lnTo>
                <a:lnTo>
                  <a:pt x="0" y="4602406"/>
                </a:lnTo>
                <a:lnTo>
                  <a:pt x="0" y="0"/>
                </a:lnTo>
                <a:close/>
              </a:path>
            </a:pathLst>
          </a:custGeom>
          <a:blipFill>
            <a:blip r:embed="rId4"/>
            <a:stretch>
              <a:fillRect l="0" t="0" r="0" b="0"/>
            </a:stretch>
          </a:blipFill>
        </p:spPr>
      </p:sp>
      <p:sp>
        <p:nvSpPr>
          <p:cNvPr name="TextBox 4" id="4"/>
          <p:cNvSpPr txBox="true"/>
          <p:nvPr/>
        </p:nvSpPr>
        <p:spPr>
          <a:xfrm rot="0">
            <a:off x="1028879" y="1123950"/>
            <a:ext cx="6589514"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Dialog (form): modeless</a:t>
            </a:r>
          </a:p>
        </p:txBody>
      </p:sp>
      <p:sp>
        <p:nvSpPr>
          <p:cNvPr name="TextBox 5" id="5"/>
          <p:cNvSpPr txBox="true"/>
          <p:nvPr/>
        </p:nvSpPr>
        <p:spPr>
          <a:xfrm rot="0">
            <a:off x="1028879" y="7364344"/>
            <a:ext cx="16230421" cy="1734185"/>
          </a:xfrm>
          <a:prstGeom prst="rect">
            <a:avLst/>
          </a:prstGeom>
        </p:spPr>
        <p:txBody>
          <a:bodyPr anchor="t" rtlCol="false" tIns="0" lIns="0" bIns="0" rIns="0">
            <a:spAutoFit/>
          </a:bodyPr>
          <a:lstStyle/>
          <a:p>
            <a:pPr algn="l">
              <a:lnSpc>
                <a:spcPts val="3399"/>
              </a:lnSpc>
              <a:spcBef>
                <a:spcPct val="0"/>
              </a:spcBef>
            </a:pPr>
            <a:r>
              <a:rPr lang="en-US" sz="3399">
                <a:solidFill>
                  <a:srgbClr val="000000"/>
                </a:solidFill>
                <a:latin typeface="Cabin"/>
                <a:ea typeface="Cabin"/>
                <a:cs typeface="Cabin"/>
                <a:sym typeface="Cabin"/>
              </a:rPr>
              <a:t>Modeless Dialog là một hộp thoại cho phép người dùng vẫn có thể tương tác với phần còn lại của giao diện trong khi nó đang mở.</a:t>
            </a:r>
          </a:p>
          <a:p>
            <a:pPr algn="l">
              <a:lnSpc>
                <a:spcPts val="3399"/>
              </a:lnSpc>
              <a:spcBef>
                <a:spcPct val="0"/>
              </a:spcBef>
            </a:pPr>
            <a:r>
              <a:rPr lang="en-US" sz="3399">
                <a:solidFill>
                  <a:srgbClr val="000000"/>
                </a:solidFill>
                <a:latin typeface="Cabin"/>
                <a:ea typeface="Cabin"/>
                <a:cs typeface="Cabin"/>
                <a:sym typeface="Cabin"/>
              </a:rPr>
              <a:t>Nó thường được dùng để hiển thị công cụ hỗ trợ, bảng điều khiển hoặc thông tin bổ sung mà không làm gián đoạn công việc chính.</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1240570"/>
            <a:ext cx="3567903" cy="844551"/>
          </a:xfrm>
          <a:prstGeom prst="rect">
            <a:avLst/>
          </a:prstGeom>
        </p:spPr>
        <p:txBody>
          <a:bodyPr anchor="t" rtlCol="false" tIns="0" lIns="0" bIns="0" rIns="0">
            <a:spAutoFit/>
          </a:bodyPr>
          <a:lstStyle/>
          <a:p>
            <a:pPr algn="l">
              <a:lnSpc>
                <a:spcPts val="6999"/>
              </a:lnSpc>
            </a:pPr>
            <a:r>
              <a:rPr lang="en-US" sz="4999" b="true">
                <a:solidFill>
                  <a:srgbClr val="000000"/>
                </a:solidFill>
                <a:latin typeface="Cabin Bold"/>
                <a:ea typeface="Cabin Bold"/>
                <a:cs typeface="Cabin Bold"/>
                <a:sym typeface="Cabin Bold"/>
              </a:rPr>
              <a:t>Panel:</a:t>
            </a:r>
          </a:p>
        </p:txBody>
      </p:sp>
      <p:sp>
        <p:nvSpPr>
          <p:cNvPr name="Freeform 4" id="4"/>
          <p:cNvSpPr/>
          <p:nvPr/>
        </p:nvSpPr>
        <p:spPr>
          <a:xfrm flipH="false" flipV="false" rot="0">
            <a:off x="1028700" y="3415114"/>
            <a:ext cx="6714503" cy="4575369"/>
          </a:xfrm>
          <a:custGeom>
            <a:avLst/>
            <a:gdLst/>
            <a:ahLst/>
            <a:cxnLst/>
            <a:rect r="r" b="b" t="t" l="l"/>
            <a:pathLst>
              <a:path h="4575369" w="6714503">
                <a:moveTo>
                  <a:pt x="0" y="0"/>
                </a:moveTo>
                <a:lnTo>
                  <a:pt x="6714503" y="0"/>
                </a:lnTo>
                <a:lnTo>
                  <a:pt x="6714503" y="4575369"/>
                </a:lnTo>
                <a:lnTo>
                  <a:pt x="0" y="4575369"/>
                </a:lnTo>
                <a:lnTo>
                  <a:pt x="0" y="0"/>
                </a:lnTo>
                <a:close/>
              </a:path>
            </a:pathLst>
          </a:custGeom>
          <a:blipFill>
            <a:blip r:embed="rId4"/>
            <a:stretch>
              <a:fillRect l="0" t="0" r="0" b="0"/>
            </a:stretch>
          </a:blipFill>
        </p:spPr>
      </p:sp>
      <p:sp>
        <p:nvSpPr>
          <p:cNvPr name="TextBox 5" id="5"/>
          <p:cNvSpPr txBox="true"/>
          <p:nvPr/>
        </p:nvSpPr>
        <p:spPr>
          <a:xfrm rot="0">
            <a:off x="8906578" y="3579041"/>
            <a:ext cx="8500552" cy="4180840"/>
          </a:xfrm>
          <a:prstGeom prst="rect">
            <a:avLst/>
          </a:prstGeom>
        </p:spPr>
        <p:txBody>
          <a:bodyPr anchor="t" rtlCol="false" tIns="0" lIns="0" bIns="0" rIns="0">
            <a:spAutoFit/>
          </a:bodyPr>
          <a:lstStyle/>
          <a:p>
            <a:pPr algn="l">
              <a:lnSpc>
                <a:spcPts val="4759"/>
              </a:lnSpc>
            </a:pPr>
            <a:r>
              <a:rPr lang="en-US" sz="3399">
                <a:solidFill>
                  <a:srgbClr val="000000"/>
                </a:solidFill>
                <a:latin typeface="Cabin"/>
                <a:ea typeface="Cabin"/>
                <a:cs typeface="Cabin"/>
                <a:sym typeface="Cabin"/>
              </a:rPr>
              <a:t>Panel là một khu vực trong giao diện người dùng được sử dụng để nhóm các thành phần liên quan lại với nhau.</a:t>
            </a:r>
          </a:p>
          <a:p>
            <a:pPr algn="l">
              <a:lnSpc>
                <a:spcPts val="4759"/>
              </a:lnSpc>
            </a:pPr>
            <a:r>
              <a:rPr lang="en-US" sz="3399">
                <a:solidFill>
                  <a:srgbClr val="000000"/>
                </a:solidFill>
                <a:latin typeface="Cabin"/>
                <a:ea typeface="Cabin"/>
                <a:cs typeface="Cabin"/>
                <a:sym typeface="Cabin"/>
              </a:rPr>
              <a:t>Nó thường được dùng để tổ chức nội dung, điều hướng hoặc cung cấp tùy chọn trong một ứng dụng mà không làm gián đoạn luồng tương tác chính.</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933450"/>
            <a:ext cx="4950731" cy="854075"/>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FlowLayoutPanel:</a:t>
            </a:r>
          </a:p>
        </p:txBody>
      </p:sp>
      <p:sp>
        <p:nvSpPr>
          <p:cNvPr name="Freeform 4" id="4"/>
          <p:cNvSpPr/>
          <p:nvPr/>
        </p:nvSpPr>
        <p:spPr>
          <a:xfrm flipH="false" flipV="false" rot="0">
            <a:off x="1160079" y="2569509"/>
            <a:ext cx="6677300" cy="2890739"/>
          </a:xfrm>
          <a:custGeom>
            <a:avLst/>
            <a:gdLst/>
            <a:ahLst/>
            <a:cxnLst/>
            <a:rect r="r" b="b" t="t" l="l"/>
            <a:pathLst>
              <a:path h="2890739" w="6677300">
                <a:moveTo>
                  <a:pt x="0" y="0"/>
                </a:moveTo>
                <a:lnTo>
                  <a:pt x="6677300" y="0"/>
                </a:lnTo>
                <a:lnTo>
                  <a:pt x="6677300" y="2890739"/>
                </a:lnTo>
                <a:lnTo>
                  <a:pt x="0" y="2890739"/>
                </a:lnTo>
                <a:lnTo>
                  <a:pt x="0" y="0"/>
                </a:lnTo>
                <a:close/>
              </a:path>
            </a:pathLst>
          </a:custGeom>
          <a:blipFill>
            <a:blip r:embed="rId4"/>
            <a:stretch>
              <a:fillRect l="0" t="-338" r="0" b="-338"/>
            </a:stretch>
          </a:blipFill>
        </p:spPr>
      </p:sp>
      <p:sp>
        <p:nvSpPr>
          <p:cNvPr name="Freeform 5" id="5"/>
          <p:cNvSpPr/>
          <p:nvPr/>
        </p:nvSpPr>
        <p:spPr>
          <a:xfrm flipH="false" flipV="false" rot="0">
            <a:off x="8565717" y="2546345"/>
            <a:ext cx="8303998" cy="2913903"/>
          </a:xfrm>
          <a:custGeom>
            <a:avLst/>
            <a:gdLst/>
            <a:ahLst/>
            <a:cxnLst/>
            <a:rect r="r" b="b" t="t" l="l"/>
            <a:pathLst>
              <a:path h="2913903" w="8303998">
                <a:moveTo>
                  <a:pt x="0" y="0"/>
                </a:moveTo>
                <a:lnTo>
                  <a:pt x="8303997" y="0"/>
                </a:lnTo>
                <a:lnTo>
                  <a:pt x="8303997" y="2913903"/>
                </a:lnTo>
                <a:lnTo>
                  <a:pt x="0" y="2913903"/>
                </a:lnTo>
                <a:lnTo>
                  <a:pt x="0" y="0"/>
                </a:lnTo>
                <a:close/>
              </a:path>
            </a:pathLst>
          </a:custGeom>
          <a:blipFill>
            <a:blip r:embed="rId5"/>
            <a:stretch>
              <a:fillRect l="0" t="0" r="0" b="0"/>
            </a:stretch>
          </a:blipFill>
        </p:spPr>
      </p:sp>
      <p:sp>
        <p:nvSpPr>
          <p:cNvPr name="TextBox 6" id="6"/>
          <p:cNvSpPr txBox="true"/>
          <p:nvPr/>
        </p:nvSpPr>
        <p:spPr>
          <a:xfrm rot="0">
            <a:off x="1160079" y="6174623"/>
            <a:ext cx="15709636" cy="2380615"/>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Cabin"/>
                <a:ea typeface="Cabin"/>
                <a:cs typeface="Cabin"/>
                <a:sym typeface="Cabin"/>
              </a:rPr>
              <a:t>FlowLayoutPanel là một bảng điều khiển sắp xếp các thành phần con theo dòng, từ trái sang phải hoặc từ trên xuống dưới.</a:t>
            </a:r>
          </a:p>
          <a:p>
            <a:pPr algn="l">
              <a:lnSpc>
                <a:spcPts val="4759"/>
              </a:lnSpc>
              <a:spcBef>
                <a:spcPct val="0"/>
              </a:spcBef>
            </a:pPr>
            <a:r>
              <a:rPr lang="en-US" sz="3399">
                <a:solidFill>
                  <a:srgbClr val="000000"/>
                </a:solidFill>
                <a:latin typeface="Cabin"/>
                <a:ea typeface="Cabin"/>
                <a:cs typeface="Cabin"/>
                <a:sym typeface="Cabin"/>
              </a:rPr>
              <a:t>Nó thường được dùng để tạo bố cục linh hoạt, tự động điều chỉnh vị trí của các thành phần khi cửa sổ thay đổi kích thước.</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839153"/>
            <a:ext cx="5814016" cy="854075"/>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TableLayoutPanel:</a:t>
            </a:r>
          </a:p>
        </p:txBody>
      </p:sp>
      <p:sp>
        <p:nvSpPr>
          <p:cNvPr name="Freeform 4" id="4"/>
          <p:cNvSpPr/>
          <p:nvPr/>
        </p:nvSpPr>
        <p:spPr>
          <a:xfrm flipH="false" flipV="false" rot="0">
            <a:off x="1224449" y="2392451"/>
            <a:ext cx="6018185" cy="4672300"/>
          </a:xfrm>
          <a:custGeom>
            <a:avLst/>
            <a:gdLst/>
            <a:ahLst/>
            <a:cxnLst/>
            <a:rect r="r" b="b" t="t" l="l"/>
            <a:pathLst>
              <a:path h="4672300" w="6018185">
                <a:moveTo>
                  <a:pt x="0" y="0"/>
                </a:moveTo>
                <a:lnTo>
                  <a:pt x="6018185" y="0"/>
                </a:lnTo>
                <a:lnTo>
                  <a:pt x="6018185" y="4672300"/>
                </a:lnTo>
                <a:lnTo>
                  <a:pt x="0" y="4672300"/>
                </a:lnTo>
                <a:lnTo>
                  <a:pt x="0" y="0"/>
                </a:lnTo>
                <a:close/>
              </a:path>
            </a:pathLst>
          </a:custGeom>
          <a:blipFill>
            <a:blip r:embed="rId4"/>
            <a:stretch>
              <a:fillRect l="0" t="0" r="0" b="0"/>
            </a:stretch>
          </a:blipFill>
        </p:spPr>
      </p:sp>
      <p:sp>
        <p:nvSpPr>
          <p:cNvPr name="Freeform 5" id="5"/>
          <p:cNvSpPr/>
          <p:nvPr/>
        </p:nvSpPr>
        <p:spPr>
          <a:xfrm flipH="false" flipV="false" rot="0">
            <a:off x="9289633" y="2392451"/>
            <a:ext cx="6403676" cy="3275508"/>
          </a:xfrm>
          <a:custGeom>
            <a:avLst/>
            <a:gdLst/>
            <a:ahLst/>
            <a:cxnLst/>
            <a:rect r="r" b="b" t="t" l="l"/>
            <a:pathLst>
              <a:path h="3275508" w="6403676">
                <a:moveTo>
                  <a:pt x="0" y="0"/>
                </a:moveTo>
                <a:lnTo>
                  <a:pt x="6403675" y="0"/>
                </a:lnTo>
                <a:lnTo>
                  <a:pt x="6403675" y="3275509"/>
                </a:lnTo>
                <a:lnTo>
                  <a:pt x="0" y="3275509"/>
                </a:lnTo>
                <a:lnTo>
                  <a:pt x="0" y="0"/>
                </a:lnTo>
                <a:close/>
              </a:path>
            </a:pathLst>
          </a:custGeom>
          <a:blipFill>
            <a:blip r:embed="rId5"/>
            <a:stretch>
              <a:fillRect l="0" t="0" r="0" b="0"/>
            </a:stretch>
          </a:blipFill>
        </p:spPr>
      </p:sp>
      <p:sp>
        <p:nvSpPr>
          <p:cNvPr name="TextBox 6" id="6"/>
          <p:cNvSpPr txBox="true"/>
          <p:nvPr/>
        </p:nvSpPr>
        <p:spPr>
          <a:xfrm rot="0">
            <a:off x="1028700" y="7118053"/>
            <a:ext cx="16230600" cy="2380615"/>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Cabin"/>
                <a:ea typeface="Cabin"/>
                <a:cs typeface="Cabin"/>
                <a:sym typeface="Cabin"/>
              </a:rPr>
              <a:t>TableLayoutPanel là một bảng điều khiển sắp xếp các thành phần con theo cấu trúc lưới với hàng và cột.</a:t>
            </a:r>
          </a:p>
          <a:p>
            <a:pPr algn="l">
              <a:lnSpc>
                <a:spcPts val="4759"/>
              </a:lnSpc>
              <a:spcBef>
                <a:spcPct val="0"/>
              </a:spcBef>
            </a:pPr>
            <a:r>
              <a:rPr lang="en-US" sz="3399">
                <a:solidFill>
                  <a:srgbClr val="000000"/>
                </a:solidFill>
                <a:latin typeface="Cabin"/>
                <a:ea typeface="Cabin"/>
                <a:cs typeface="Cabin"/>
                <a:sym typeface="Cabin"/>
              </a:rPr>
              <a:t>Nó thường được dùng để tạo bố cục có tổ chức, giúp căn chỉnh các thành phần một cách nhất quán và dễ dàng thay đổi kích thước theo nội dung.</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983367" y="1123950"/>
            <a:ext cx="3227487"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TabControl:</a:t>
            </a:r>
          </a:p>
        </p:txBody>
      </p:sp>
      <p:sp>
        <p:nvSpPr>
          <p:cNvPr name="Freeform 4" id="4"/>
          <p:cNvSpPr/>
          <p:nvPr/>
        </p:nvSpPr>
        <p:spPr>
          <a:xfrm flipH="false" flipV="false" rot="0">
            <a:off x="4839441" y="1028700"/>
            <a:ext cx="8348120" cy="5895860"/>
          </a:xfrm>
          <a:custGeom>
            <a:avLst/>
            <a:gdLst/>
            <a:ahLst/>
            <a:cxnLst/>
            <a:rect r="r" b="b" t="t" l="l"/>
            <a:pathLst>
              <a:path h="5895860" w="8348120">
                <a:moveTo>
                  <a:pt x="0" y="0"/>
                </a:moveTo>
                <a:lnTo>
                  <a:pt x="8348120" y="0"/>
                </a:lnTo>
                <a:lnTo>
                  <a:pt x="8348120" y="5895860"/>
                </a:lnTo>
                <a:lnTo>
                  <a:pt x="0" y="5895860"/>
                </a:lnTo>
                <a:lnTo>
                  <a:pt x="0" y="0"/>
                </a:lnTo>
                <a:close/>
              </a:path>
            </a:pathLst>
          </a:custGeom>
          <a:blipFill>
            <a:blip r:embed="rId4"/>
            <a:stretch>
              <a:fillRect l="0" t="0" r="0" b="0"/>
            </a:stretch>
          </a:blipFill>
        </p:spPr>
      </p:sp>
      <p:sp>
        <p:nvSpPr>
          <p:cNvPr name="TextBox 5" id="5"/>
          <p:cNvSpPr txBox="true"/>
          <p:nvPr/>
        </p:nvSpPr>
        <p:spPr>
          <a:xfrm rot="0">
            <a:off x="1028700" y="7039961"/>
            <a:ext cx="16230600" cy="2380615"/>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Cabin"/>
                <a:ea typeface="Cabin"/>
                <a:cs typeface="Cabin"/>
                <a:sym typeface="Cabin"/>
              </a:rPr>
              <a:t>TabControl là một điều khiển giao diện người dùng cho phép hiển thị nhiều trang (tab) trong cùng một không gian.</a:t>
            </a:r>
          </a:p>
          <a:p>
            <a:pPr algn="l">
              <a:lnSpc>
                <a:spcPts val="4759"/>
              </a:lnSpc>
              <a:spcBef>
                <a:spcPct val="0"/>
              </a:spcBef>
            </a:pPr>
            <a:r>
              <a:rPr lang="en-US" sz="3399">
                <a:solidFill>
                  <a:srgbClr val="000000"/>
                </a:solidFill>
                <a:latin typeface="Cabin"/>
                <a:ea typeface="Cabin"/>
                <a:cs typeface="Cabin"/>
                <a:sym typeface="Cabin"/>
              </a:rPr>
              <a:t>Nó thường được dùng để tổ chức nội dung theo từng nhóm, giúp người dùng dễ dàng chuyển đổi giữa các phần khác nhau mà không cần mở nhiều cửa sổ.</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0" y="1123950"/>
            <a:ext cx="16277636"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000000"/>
                </a:solidFill>
                <a:latin typeface="Cabin Bold"/>
                <a:ea typeface="Cabin Bold"/>
                <a:cs typeface="Cabin Bold"/>
                <a:sym typeface="Cabin Bold"/>
              </a:rPr>
              <a:t>Organize Content Controls (Tổ chức Kiểm soát Nội dung):</a:t>
            </a:r>
          </a:p>
        </p:txBody>
      </p:sp>
      <p:sp>
        <p:nvSpPr>
          <p:cNvPr name="TextBox 4" id="4"/>
          <p:cNvSpPr txBox="true"/>
          <p:nvPr/>
        </p:nvSpPr>
        <p:spPr>
          <a:xfrm rot="0">
            <a:off x="457825" y="3319864"/>
            <a:ext cx="2450902" cy="854075"/>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Cabin Bold"/>
                <a:ea typeface="Cabin Bold"/>
                <a:cs typeface="Cabin Bold"/>
                <a:sym typeface="Cabin Bold"/>
              </a:rPr>
              <a:t>Scrollbar</a:t>
            </a:r>
          </a:p>
        </p:txBody>
      </p:sp>
      <p:sp>
        <p:nvSpPr>
          <p:cNvPr name="TextBox 5" id="5"/>
          <p:cNvSpPr txBox="true"/>
          <p:nvPr/>
        </p:nvSpPr>
        <p:spPr>
          <a:xfrm rot="0">
            <a:off x="9846587" y="3319864"/>
            <a:ext cx="2883991" cy="854075"/>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Cabin Bold"/>
                <a:ea typeface="Cabin Bold"/>
                <a:cs typeface="Cabin Bold"/>
                <a:sym typeface="Cabin Bold"/>
              </a:rPr>
              <a:t>Groupbox:</a:t>
            </a:r>
          </a:p>
        </p:txBody>
      </p:sp>
      <p:sp>
        <p:nvSpPr>
          <p:cNvPr name="Freeform 6" id="6"/>
          <p:cNvSpPr/>
          <p:nvPr/>
        </p:nvSpPr>
        <p:spPr>
          <a:xfrm flipH="false" flipV="false" rot="0">
            <a:off x="262017" y="4430386"/>
            <a:ext cx="3652784" cy="3391021"/>
          </a:xfrm>
          <a:custGeom>
            <a:avLst/>
            <a:gdLst/>
            <a:ahLst/>
            <a:cxnLst/>
            <a:rect r="r" b="b" t="t" l="l"/>
            <a:pathLst>
              <a:path h="3391021" w="3652784">
                <a:moveTo>
                  <a:pt x="0" y="0"/>
                </a:moveTo>
                <a:lnTo>
                  <a:pt x="3652783" y="0"/>
                </a:lnTo>
                <a:lnTo>
                  <a:pt x="3652783" y="3391020"/>
                </a:lnTo>
                <a:lnTo>
                  <a:pt x="0" y="3391020"/>
                </a:lnTo>
                <a:lnTo>
                  <a:pt x="0" y="0"/>
                </a:lnTo>
                <a:close/>
              </a:path>
            </a:pathLst>
          </a:custGeom>
          <a:blipFill>
            <a:blip r:embed="rId4"/>
            <a:stretch>
              <a:fillRect l="0" t="0" r="0" b="0"/>
            </a:stretch>
          </a:blipFill>
        </p:spPr>
      </p:sp>
      <p:sp>
        <p:nvSpPr>
          <p:cNvPr name="Freeform 7" id="7"/>
          <p:cNvSpPr/>
          <p:nvPr/>
        </p:nvSpPr>
        <p:spPr>
          <a:xfrm flipH="false" flipV="false" rot="0">
            <a:off x="9884562" y="4430386"/>
            <a:ext cx="2846016" cy="3064211"/>
          </a:xfrm>
          <a:custGeom>
            <a:avLst/>
            <a:gdLst/>
            <a:ahLst/>
            <a:cxnLst/>
            <a:rect r="r" b="b" t="t" l="l"/>
            <a:pathLst>
              <a:path h="3064211" w="2846016">
                <a:moveTo>
                  <a:pt x="0" y="0"/>
                </a:moveTo>
                <a:lnTo>
                  <a:pt x="2846016" y="0"/>
                </a:lnTo>
                <a:lnTo>
                  <a:pt x="2846016" y="3064210"/>
                </a:lnTo>
                <a:lnTo>
                  <a:pt x="0" y="3064210"/>
                </a:lnTo>
                <a:lnTo>
                  <a:pt x="0" y="0"/>
                </a:lnTo>
                <a:close/>
              </a:path>
            </a:pathLst>
          </a:custGeom>
          <a:blipFill>
            <a:blip r:embed="rId5"/>
            <a:stretch>
              <a:fillRect l="0" t="0" r="0" b="0"/>
            </a:stretch>
          </a:blipFill>
        </p:spPr>
      </p:sp>
      <p:sp>
        <p:nvSpPr>
          <p:cNvPr name="TextBox 8" id="8"/>
          <p:cNvSpPr txBox="true"/>
          <p:nvPr/>
        </p:nvSpPr>
        <p:spPr>
          <a:xfrm rot="0">
            <a:off x="4199554" y="4450430"/>
            <a:ext cx="4944446" cy="2920365"/>
          </a:xfrm>
          <a:prstGeom prst="rect">
            <a:avLst/>
          </a:prstGeom>
        </p:spPr>
        <p:txBody>
          <a:bodyPr anchor="t" rtlCol="false" tIns="0" lIns="0" bIns="0" rIns="0">
            <a:spAutoFit/>
          </a:bodyPr>
          <a:lstStyle/>
          <a:p>
            <a:pPr algn="l">
              <a:lnSpc>
                <a:spcPts val="3359"/>
              </a:lnSpc>
              <a:spcBef>
                <a:spcPct val="0"/>
              </a:spcBef>
            </a:pPr>
            <a:r>
              <a:rPr lang="en-US" sz="2400">
                <a:solidFill>
                  <a:srgbClr val="000000"/>
                </a:solidFill>
                <a:latin typeface="Cabin"/>
                <a:ea typeface="Cabin"/>
                <a:cs typeface="Cabin"/>
                <a:sym typeface="Cabin"/>
              </a:rPr>
              <a:t>Scrollbar là một thanh cuộn dùng để điều hướng nội dung khi nội dung lớn hơn khu vực hiển thị.</a:t>
            </a:r>
          </a:p>
          <a:p>
            <a:pPr algn="l">
              <a:lnSpc>
                <a:spcPts val="3359"/>
              </a:lnSpc>
              <a:spcBef>
                <a:spcPct val="0"/>
              </a:spcBef>
            </a:pPr>
            <a:r>
              <a:rPr lang="en-US" sz="2400">
                <a:solidFill>
                  <a:srgbClr val="000000"/>
                </a:solidFill>
                <a:latin typeface="Cabin"/>
                <a:ea typeface="Cabin"/>
                <a:cs typeface="Cabin"/>
                <a:sym typeface="Cabin"/>
              </a:rPr>
              <a:t>Nó thường được dùng để cuộn văn bản, danh sách hoặc bảng điều khiển, giúp người dùng xem nội dung mà không cần thay đổi kích thước cửa sổ.</a:t>
            </a:r>
          </a:p>
        </p:txBody>
      </p:sp>
      <p:sp>
        <p:nvSpPr>
          <p:cNvPr name="TextBox 9" id="9"/>
          <p:cNvSpPr txBox="true"/>
          <p:nvPr/>
        </p:nvSpPr>
        <p:spPr>
          <a:xfrm rot="0">
            <a:off x="13114203" y="4450430"/>
            <a:ext cx="4145097" cy="3339465"/>
          </a:xfrm>
          <a:prstGeom prst="rect">
            <a:avLst/>
          </a:prstGeom>
        </p:spPr>
        <p:txBody>
          <a:bodyPr anchor="t" rtlCol="false" tIns="0" lIns="0" bIns="0" rIns="0">
            <a:spAutoFit/>
          </a:bodyPr>
          <a:lstStyle/>
          <a:p>
            <a:pPr algn="l">
              <a:lnSpc>
                <a:spcPts val="3359"/>
              </a:lnSpc>
              <a:spcBef>
                <a:spcPct val="0"/>
              </a:spcBef>
            </a:pPr>
            <a:r>
              <a:rPr lang="en-US" sz="2400">
                <a:solidFill>
                  <a:srgbClr val="000000"/>
                </a:solidFill>
                <a:latin typeface="Cabin"/>
                <a:ea typeface="Cabin"/>
                <a:cs typeface="Cabin"/>
                <a:sym typeface="Cabin"/>
              </a:rPr>
              <a:t>GroupBox là một khung chứa dùng để nhóm các điều khiển liên quan lại với nhau trong giao diện.</a:t>
            </a:r>
          </a:p>
          <a:p>
            <a:pPr algn="l">
              <a:lnSpc>
                <a:spcPts val="3359"/>
              </a:lnSpc>
              <a:spcBef>
                <a:spcPct val="0"/>
              </a:spcBef>
            </a:pPr>
            <a:r>
              <a:rPr lang="en-US" sz="2400">
                <a:solidFill>
                  <a:srgbClr val="000000"/>
                </a:solidFill>
                <a:latin typeface="Cabin"/>
                <a:ea typeface="Cabin"/>
                <a:cs typeface="Cabin"/>
                <a:sym typeface="Cabin"/>
              </a:rPr>
              <a:t>Nó thường được dùng để tạo sự gọn gàng, dễ hiểu cho các tùy chọn hoặc thông tin liên quan trong một biểu mẫu.</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839153"/>
            <a:ext cx="3081179" cy="854075"/>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Listbox:</a:t>
            </a:r>
          </a:p>
        </p:txBody>
      </p:sp>
      <p:sp>
        <p:nvSpPr>
          <p:cNvPr name="Freeform 4" id="4"/>
          <p:cNvSpPr/>
          <p:nvPr/>
        </p:nvSpPr>
        <p:spPr>
          <a:xfrm flipH="false" flipV="false" rot="0">
            <a:off x="669827" y="2472733"/>
            <a:ext cx="10140175" cy="5843186"/>
          </a:xfrm>
          <a:custGeom>
            <a:avLst/>
            <a:gdLst/>
            <a:ahLst/>
            <a:cxnLst/>
            <a:rect r="r" b="b" t="t" l="l"/>
            <a:pathLst>
              <a:path h="5843186" w="10140175">
                <a:moveTo>
                  <a:pt x="0" y="0"/>
                </a:moveTo>
                <a:lnTo>
                  <a:pt x="10140175" y="0"/>
                </a:lnTo>
                <a:lnTo>
                  <a:pt x="10140175" y="5843186"/>
                </a:lnTo>
                <a:lnTo>
                  <a:pt x="0" y="5843186"/>
                </a:lnTo>
                <a:lnTo>
                  <a:pt x="0" y="0"/>
                </a:lnTo>
                <a:close/>
              </a:path>
            </a:pathLst>
          </a:custGeom>
          <a:blipFill>
            <a:blip r:embed="rId4"/>
            <a:stretch>
              <a:fillRect l="0" t="0" r="0" b="0"/>
            </a:stretch>
          </a:blipFill>
        </p:spPr>
      </p:sp>
      <p:sp>
        <p:nvSpPr>
          <p:cNvPr name="TextBox 5" id="5"/>
          <p:cNvSpPr txBox="true"/>
          <p:nvPr/>
        </p:nvSpPr>
        <p:spPr>
          <a:xfrm rot="0">
            <a:off x="11307264" y="3535004"/>
            <a:ext cx="6354006" cy="4780915"/>
          </a:xfrm>
          <a:prstGeom prst="rect">
            <a:avLst/>
          </a:prstGeom>
        </p:spPr>
        <p:txBody>
          <a:bodyPr anchor="t" rtlCol="false" tIns="0" lIns="0" bIns="0" rIns="0">
            <a:spAutoFit/>
          </a:bodyPr>
          <a:lstStyle/>
          <a:p>
            <a:pPr algn="l">
              <a:lnSpc>
                <a:spcPts val="4759"/>
              </a:lnSpc>
            </a:pPr>
            <a:r>
              <a:rPr lang="en-US" sz="3399">
                <a:solidFill>
                  <a:srgbClr val="000000"/>
                </a:solidFill>
                <a:latin typeface="Cabin"/>
                <a:ea typeface="Cabin"/>
                <a:cs typeface="Cabin"/>
                <a:sym typeface="Cabin"/>
              </a:rPr>
              <a:t>ListBox là một hộp danh sách hiển thị nhiều mục cùng lúc, cho phép người dùng chọn một hoặc nhiều mục.</a:t>
            </a:r>
          </a:p>
          <a:p>
            <a:pPr algn="l">
              <a:lnSpc>
                <a:spcPts val="4759"/>
              </a:lnSpc>
            </a:pPr>
            <a:r>
              <a:rPr lang="en-US" sz="3399">
                <a:solidFill>
                  <a:srgbClr val="000000"/>
                </a:solidFill>
                <a:latin typeface="Cabin"/>
                <a:ea typeface="Cabin"/>
                <a:cs typeface="Cabin"/>
                <a:sym typeface="Cabin"/>
              </a:rPr>
              <a:t>Nó thường được dùng để hiển thị danh sách tùy chọn có sẵn mà không cần nhập dữ liệu.</a:t>
            </a:r>
          </a:p>
          <a:p>
            <a:pPr algn="l">
              <a:lnSpc>
                <a:spcPts val="4759"/>
              </a:lnSpc>
              <a:spcBef>
                <a:spcPct val="0"/>
              </a:spcBef>
            </a:pP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839153"/>
            <a:ext cx="3407751" cy="854075"/>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Combobox:</a:t>
            </a:r>
          </a:p>
        </p:txBody>
      </p:sp>
      <p:sp>
        <p:nvSpPr>
          <p:cNvPr name="Freeform 4" id="4"/>
          <p:cNvSpPr/>
          <p:nvPr/>
        </p:nvSpPr>
        <p:spPr>
          <a:xfrm flipH="false" flipV="false" rot="0">
            <a:off x="1028700" y="2310743"/>
            <a:ext cx="5772917" cy="5665513"/>
          </a:xfrm>
          <a:custGeom>
            <a:avLst/>
            <a:gdLst/>
            <a:ahLst/>
            <a:cxnLst/>
            <a:rect r="r" b="b" t="t" l="l"/>
            <a:pathLst>
              <a:path h="5665513" w="5772917">
                <a:moveTo>
                  <a:pt x="0" y="0"/>
                </a:moveTo>
                <a:lnTo>
                  <a:pt x="5772917" y="0"/>
                </a:lnTo>
                <a:lnTo>
                  <a:pt x="5772917" y="5665514"/>
                </a:lnTo>
                <a:lnTo>
                  <a:pt x="0" y="5665514"/>
                </a:lnTo>
                <a:lnTo>
                  <a:pt x="0" y="0"/>
                </a:lnTo>
                <a:close/>
              </a:path>
            </a:pathLst>
          </a:custGeom>
          <a:blipFill>
            <a:blip r:embed="rId4"/>
            <a:stretch>
              <a:fillRect l="0" t="0" r="0" b="0"/>
            </a:stretch>
          </a:blipFill>
        </p:spPr>
      </p:sp>
      <p:sp>
        <p:nvSpPr>
          <p:cNvPr name="TextBox 5" id="5"/>
          <p:cNvSpPr txBox="true"/>
          <p:nvPr/>
        </p:nvSpPr>
        <p:spPr>
          <a:xfrm rot="0">
            <a:off x="8546687" y="4051319"/>
            <a:ext cx="8712613" cy="3580765"/>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Cabin"/>
                <a:ea typeface="Cabin"/>
                <a:cs typeface="Cabin"/>
                <a:sym typeface="Cabin"/>
              </a:rPr>
              <a:t>ComboBox là một hộp kết hợp giữa ListBox và TextBox, cho phép người dùng chọn một mục từ danh sách hoặc nhập giá trị mới.</a:t>
            </a:r>
          </a:p>
          <a:p>
            <a:pPr algn="l">
              <a:lnSpc>
                <a:spcPts val="4759"/>
              </a:lnSpc>
              <a:spcBef>
                <a:spcPct val="0"/>
              </a:spcBef>
            </a:pPr>
            <a:r>
              <a:rPr lang="en-US" sz="3399">
                <a:solidFill>
                  <a:srgbClr val="000000"/>
                </a:solidFill>
                <a:latin typeface="Cabin"/>
                <a:ea typeface="Cabin"/>
                <a:cs typeface="Cabin"/>
                <a:sym typeface="Cabin"/>
              </a:rPr>
              <a:t>Nó thường được dùng để tiết kiệm không gian trong giao diện mà vẫn cung cấp nhiều tùy chọn.</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933450"/>
            <a:ext cx="2245221" cy="854075"/>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Cabin Bold"/>
                <a:ea typeface="Cabin Bold"/>
                <a:cs typeface="Cabin Bold"/>
                <a:sym typeface="Cabin Bold"/>
              </a:rPr>
              <a:t>Textbox</a:t>
            </a:r>
          </a:p>
        </p:txBody>
      </p:sp>
      <p:sp>
        <p:nvSpPr>
          <p:cNvPr name="Freeform 4" id="4"/>
          <p:cNvSpPr/>
          <p:nvPr/>
        </p:nvSpPr>
        <p:spPr>
          <a:xfrm flipH="false" flipV="false" rot="0">
            <a:off x="1028700" y="3040788"/>
            <a:ext cx="6336044" cy="6217512"/>
          </a:xfrm>
          <a:custGeom>
            <a:avLst/>
            <a:gdLst/>
            <a:ahLst/>
            <a:cxnLst/>
            <a:rect r="r" b="b" t="t" l="l"/>
            <a:pathLst>
              <a:path h="6217512" w="6336044">
                <a:moveTo>
                  <a:pt x="0" y="0"/>
                </a:moveTo>
                <a:lnTo>
                  <a:pt x="6336044" y="0"/>
                </a:lnTo>
                <a:lnTo>
                  <a:pt x="6336044" y="6217512"/>
                </a:lnTo>
                <a:lnTo>
                  <a:pt x="0" y="6217512"/>
                </a:lnTo>
                <a:lnTo>
                  <a:pt x="0" y="0"/>
                </a:lnTo>
                <a:close/>
              </a:path>
            </a:pathLst>
          </a:custGeom>
          <a:blipFill>
            <a:blip r:embed="rId4"/>
            <a:stretch>
              <a:fillRect l="0" t="0" r="0" b="0"/>
            </a:stretch>
          </a:blipFill>
        </p:spPr>
      </p:sp>
      <p:sp>
        <p:nvSpPr>
          <p:cNvPr name="TextBox 5" id="5"/>
          <p:cNvSpPr txBox="true"/>
          <p:nvPr/>
        </p:nvSpPr>
        <p:spPr>
          <a:xfrm rot="0">
            <a:off x="7944146" y="4037484"/>
            <a:ext cx="9723983" cy="2380615"/>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Cabin"/>
                <a:ea typeface="Cabin"/>
                <a:cs typeface="Cabin"/>
                <a:sym typeface="Cabin"/>
              </a:rPr>
              <a:t>TextBox là một hộp nhập liệu cho phép người dùng nhập hoặc chỉnh sửa văn bản.</a:t>
            </a:r>
          </a:p>
          <a:p>
            <a:pPr algn="l">
              <a:lnSpc>
                <a:spcPts val="4759"/>
              </a:lnSpc>
              <a:spcBef>
                <a:spcPct val="0"/>
              </a:spcBef>
            </a:pPr>
            <a:r>
              <a:rPr lang="en-US" sz="3399">
                <a:solidFill>
                  <a:srgbClr val="000000"/>
                </a:solidFill>
                <a:latin typeface="Cabin"/>
                <a:ea typeface="Cabin"/>
                <a:cs typeface="Cabin"/>
                <a:sym typeface="Cabin"/>
              </a:rPr>
              <a:t>Nó thường được dùng để nhập thông tin như tên, địa chỉ, số điện thoại, mật khẩu,… trong các biểu mẫu.</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637044"/>
            <a:ext cx="5421100" cy="1739900"/>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Choice Controls:</a:t>
            </a:r>
          </a:p>
          <a:p>
            <a:pPr algn="l">
              <a:lnSpc>
                <a:spcPts val="7000"/>
              </a:lnSpc>
            </a:pPr>
          </a:p>
        </p:txBody>
      </p:sp>
      <p:sp>
        <p:nvSpPr>
          <p:cNvPr name="Freeform 4" id="4"/>
          <p:cNvSpPr/>
          <p:nvPr/>
        </p:nvSpPr>
        <p:spPr>
          <a:xfrm flipH="false" flipV="false" rot="0">
            <a:off x="2371253" y="4790815"/>
            <a:ext cx="2218579" cy="2375647"/>
          </a:xfrm>
          <a:custGeom>
            <a:avLst/>
            <a:gdLst/>
            <a:ahLst/>
            <a:cxnLst/>
            <a:rect r="r" b="b" t="t" l="l"/>
            <a:pathLst>
              <a:path h="2375647" w="2218579">
                <a:moveTo>
                  <a:pt x="0" y="0"/>
                </a:moveTo>
                <a:lnTo>
                  <a:pt x="2218580" y="0"/>
                </a:lnTo>
                <a:lnTo>
                  <a:pt x="2218580" y="2375647"/>
                </a:lnTo>
                <a:lnTo>
                  <a:pt x="0" y="2375647"/>
                </a:lnTo>
                <a:lnTo>
                  <a:pt x="0" y="0"/>
                </a:lnTo>
                <a:close/>
              </a:path>
            </a:pathLst>
          </a:custGeom>
          <a:blipFill>
            <a:blip r:embed="rId4"/>
            <a:stretch>
              <a:fillRect l="0" t="0" r="0" b="0"/>
            </a:stretch>
          </a:blipFill>
        </p:spPr>
      </p:sp>
      <p:sp>
        <p:nvSpPr>
          <p:cNvPr name="Freeform 5" id="5"/>
          <p:cNvSpPr/>
          <p:nvPr/>
        </p:nvSpPr>
        <p:spPr>
          <a:xfrm flipH="false" flipV="false" rot="0">
            <a:off x="6725522" y="4790815"/>
            <a:ext cx="4174002" cy="874201"/>
          </a:xfrm>
          <a:custGeom>
            <a:avLst/>
            <a:gdLst/>
            <a:ahLst/>
            <a:cxnLst/>
            <a:rect r="r" b="b" t="t" l="l"/>
            <a:pathLst>
              <a:path h="874201" w="4174002">
                <a:moveTo>
                  <a:pt x="0" y="0"/>
                </a:moveTo>
                <a:lnTo>
                  <a:pt x="4174001" y="0"/>
                </a:lnTo>
                <a:lnTo>
                  <a:pt x="4174001" y="874201"/>
                </a:lnTo>
                <a:lnTo>
                  <a:pt x="0" y="874201"/>
                </a:lnTo>
                <a:lnTo>
                  <a:pt x="0" y="0"/>
                </a:lnTo>
                <a:close/>
              </a:path>
            </a:pathLst>
          </a:custGeom>
          <a:blipFill>
            <a:blip r:embed="rId5"/>
            <a:stretch>
              <a:fillRect l="0" t="0" r="0" b="0"/>
            </a:stretch>
          </a:blipFill>
        </p:spPr>
      </p:sp>
      <p:sp>
        <p:nvSpPr>
          <p:cNvPr name="Freeform 6" id="6"/>
          <p:cNvSpPr/>
          <p:nvPr/>
        </p:nvSpPr>
        <p:spPr>
          <a:xfrm flipH="false" flipV="false" rot="0">
            <a:off x="11968477" y="4781033"/>
            <a:ext cx="5290823" cy="1634706"/>
          </a:xfrm>
          <a:custGeom>
            <a:avLst/>
            <a:gdLst/>
            <a:ahLst/>
            <a:cxnLst/>
            <a:rect r="r" b="b" t="t" l="l"/>
            <a:pathLst>
              <a:path h="1634706" w="5290823">
                <a:moveTo>
                  <a:pt x="0" y="0"/>
                </a:moveTo>
                <a:lnTo>
                  <a:pt x="5290823" y="0"/>
                </a:lnTo>
                <a:lnTo>
                  <a:pt x="5290823" y="1634706"/>
                </a:lnTo>
                <a:lnTo>
                  <a:pt x="0" y="1634706"/>
                </a:lnTo>
                <a:lnTo>
                  <a:pt x="0" y="0"/>
                </a:lnTo>
                <a:close/>
              </a:path>
            </a:pathLst>
          </a:custGeom>
          <a:blipFill>
            <a:blip r:embed="rId6"/>
            <a:stretch>
              <a:fillRect l="0" t="0" r="0" b="0"/>
            </a:stretch>
          </a:blipFill>
        </p:spPr>
      </p:sp>
      <p:sp>
        <p:nvSpPr>
          <p:cNvPr name="TextBox 7" id="7"/>
          <p:cNvSpPr txBox="true"/>
          <p:nvPr/>
        </p:nvSpPr>
        <p:spPr>
          <a:xfrm rot="0">
            <a:off x="1028700" y="3319864"/>
            <a:ext cx="4207773" cy="854075"/>
          </a:xfrm>
          <a:prstGeom prst="rect">
            <a:avLst/>
          </a:prstGeom>
        </p:spPr>
        <p:txBody>
          <a:bodyPr anchor="t" rtlCol="false" tIns="0" lIns="0" bIns="0" rIns="0">
            <a:spAutoFit/>
          </a:bodyPr>
          <a:lstStyle/>
          <a:p>
            <a:pPr algn="l" marL="1079501" indent="-539750" lvl="1">
              <a:lnSpc>
                <a:spcPts val="7000"/>
              </a:lnSpc>
              <a:buFont typeface="Arial"/>
              <a:buChar char="•"/>
            </a:pPr>
            <a:r>
              <a:rPr lang="en-US" b="true" sz="5000">
                <a:solidFill>
                  <a:srgbClr val="15130D"/>
                </a:solidFill>
                <a:latin typeface="Cabin Bold"/>
                <a:ea typeface="Cabin Bold"/>
                <a:cs typeface="Cabin Bold"/>
                <a:sym typeface="Cabin Bold"/>
              </a:rPr>
              <a:t>Checkbox:</a:t>
            </a:r>
          </a:p>
        </p:txBody>
      </p:sp>
      <p:sp>
        <p:nvSpPr>
          <p:cNvPr name="TextBox 8" id="8"/>
          <p:cNvSpPr txBox="true"/>
          <p:nvPr/>
        </p:nvSpPr>
        <p:spPr>
          <a:xfrm rot="0">
            <a:off x="6371617" y="3319864"/>
            <a:ext cx="4725445" cy="854075"/>
          </a:xfrm>
          <a:prstGeom prst="rect">
            <a:avLst/>
          </a:prstGeom>
        </p:spPr>
        <p:txBody>
          <a:bodyPr anchor="t" rtlCol="false" tIns="0" lIns="0" bIns="0" rIns="0">
            <a:spAutoFit/>
          </a:bodyPr>
          <a:lstStyle/>
          <a:p>
            <a:pPr algn="l" marL="1079501" indent="-539750" lvl="1">
              <a:lnSpc>
                <a:spcPts val="7000"/>
              </a:lnSpc>
              <a:buFont typeface="Arial"/>
              <a:buChar char="•"/>
            </a:pPr>
            <a:r>
              <a:rPr lang="en-US" b="true" sz="5000">
                <a:solidFill>
                  <a:srgbClr val="15130D"/>
                </a:solidFill>
                <a:latin typeface="Cabin Bold"/>
                <a:ea typeface="Cabin Bold"/>
                <a:cs typeface="Cabin Bold"/>
                <a:sym typeface="Cabin Bold"/>
              </a:rPr>
              <a:t>RadioButton:</a:t>
            </a:r>
          </a:p>
        </p:txBody>
      </p:sp>
      <p:sp>
        <p:nvSpPr>
          <p:cNvPr name="TextBox 9" id="9"/>
          <p:cNvSpPr txBox="true"/>
          <p:nvPr/>
        </p:nvSpPr>
        <p:spPr>
          <a:xfrm rot="0">
            <a:off x="12232207" y="3319864"/>
            <a:ext cx="5027093" cy="854075"/>
          </a:xfrm>
          <a:prstGeom prst="rect">
            <a:avLst/>
          </a:prstGeom>
        </p:spPr>
        <p:txBody>
          <a:bodyPr anchor="t" rtlCol="false" tIns="0" lIns="0" bIns="0" rIns="0">
            <a:spAutoFit/>
          </a:bodyPr>
          <a:lstStyle/>
          <a:p>
            <a:pPr algn="l" marL="1079501" indent="-539750" lvl="1">
              <a:lnSpc>
                <a:spcPts val="7000"/>
              </a:lnSpc>
              <a:buFont typeface="Arial"/>
              <a:buChar char="•"/>
            </a:pPr>
            <a:r>
              <a:rPr lang="en-US" b="true" sz="5000">
                <a:solidFill>
                  <a:srgbClr val="15130D"/>
                </a:solidFill>
                <a:latin typeface="Cabin Bold"/>
                <a:ea typeface="Cabin Bold"/>
                <a:cs typeface="Cabin Bold"/>
                <a:sym typeface="Cabin Bold"/>
              </a:rPr>
              <a:t>Toggle button</a:t>
            </a:r>
          </a:p>
        </p:txBody>
      </p:sp>
      <p:sp>
        <p:nvSpPr>
          <p:cNvPr name="TextBox 10" id="10"/>
          <p:cNvSpPr txBox="true"/>
          <p:nvPr/>
        </p:nvSpPr>
        <p:spPr>
          <a:xfrm rot="0">
            <a:off x="1353622" y="7737962"/>
            <a:ext cx="4253842" cy="1243965"/>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Cabin"/>
                <a:ea typeface="Cabin"/>
                <a:cs typeface="Cabin"/>
                <a:sym typeface="Cabin"/>
              </a:rPr>
              <a:t>CheckBox là một ô chọn cho phép người dùng bật/tắt một tùy chọn.</a:t>
            </a:r>
          </a:p>
        </p:txBody>
      </p:sp>
      <p:sp>
        <p:nvSpPr>
          <p:cNvPr name="TextBox 11" id="11"/>
          <p:cNvSpPr txBox="true"/>
          <p:nvPr/>
        </p:nvSpPr>
        <p:spPr>
          <a:xfrm rot="0">
            <a:off x="6297938" y="6084228"/>
            <a:ext cx="4872804" cy="1243965"/>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Cabin"/>
                <a:ea typeface="Cabin"/>
                <a:cs typeface="Cabin"/>
                <a:sym typeface="Cabin"/>
              </a:rPr>
              <a:t>RadioButton là một nút chọn, cho phép người dùng chọn một trong nhiều tùy chọn trong cùng một nhóm.</a:t>
            </a:r>
          </a:p>
        </p:txBody>
      </p:sp>
      <p:sp>
        <p:nvSpPr>
          <p:cNvPr name="TextBox 12" id="12"/>
          <p:cNvSpPr txBox="true"/>
          <p:nvPr/>
        </p:nvSpPr>
        <p:spPr>
          <a:xfrm rot="0">
            <a:off x="12389637" y="7139792"/>
            <a:ext cx="4712233" cy="1243965"/>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Cabin"/>
                <a:ea typeface="Cabin"/>
                <a:cs typeface="Cabin"/>
                <a:sym typeface="Cabin"/>
              </a:rPr>
              <a:t>Toggle Button là một nút có hai trạng thái: bật/tắt hoặc kích hoạt/hủy kích hoạt.</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632460"/>
            <a:ext cx="7174173" cy="1739900"/>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Command Controls:</a:t>
            </a:r>
          </a:p>
          <a:p>
            <a:pPr algn="l">
              <a:lnSpc>
                <a:spcPts val="7000"/>
              </a:lnSpc>
            </a:pPr>
          </a:p>
        </p:txBody>
      </p:sp>
      <p:sp>
        <p:nvSpPr>
          <p:cNvPr name="Freeform 4" id="4"/>
          <p:cNvSpPr/>
          <p:nvPr/>
        </p:nvSpPr>
        <p:spPr>
          <a:xfrm flipH="false" flipV="false" rot="0">
            <a:off x="4422657" y="2584725"/>
            <a:ext cx="6744810" cy="1517974"/>
          </a:xfrm>
          <a:custGeom>
            <a:avLst/>
            <a:gdLst/>
            <a:ahLst/>
            <a:cxnLst/>
            <a:rect r="r" b="b" t="t" l="l"/>
            <a:pathLst>
              <a:path h="1517974" w="6744810">
                <a:moveTo>
                  <a:pt x="0" y="0"/>
                </a:moveTo>
                <a:lnTo>
                  <a:pt x="6744810" y="0"/>
                </a:lnTo>
                <a:lnTo>
                  <a:pt x="6744810" y="1517974"/>
                </a:lnTo>
                <a:lnTo>
                  <a:pt x="0" y="1517974"/>
                </a:lnTo>
                <a:lnTo>
                  <a:pt x="0" y="0"/>
                </a:lnTo>
                <a:close/>
              </a:path>
            </a:pathLst>
          </a:custGeom>
          <a:blipFill>
            <a:blip r:embed="rId4"/>
            <a:stretch>
              <a:fillRect l="0" t="0" r="0" b="0"/>
            </a:stretch>
          </a:blipFill>
        </p:spPr>
      </p:sp>
      <p:sp>
        <p:nvSpPr>
          <p:cNvPr name="Freeform 5" id="5"/>
          <p:cNvSpPr/>
          <p:nvPr/>
        </p:nvSpPr>
        <p:spPr>
          <a:xfrm flipH="false" flipV="false" rot="0">
            <a:off x="6452864" y="5347811"/>
            <a:ext cx="4714604" cy="4351942"/>
          </a:xfrm>
          <a:custGeom>
            <a:avLst/>
            <a:gdLst/>
            <a:ahLst/>
            <a:cxnLst/>
            <a:rect r="r" b="b" t="t" l="l"/>
            <a:pathLst>
              <a:path h="4351942" w="4714604">
                <a:moveTo>
                  <a:pt x="0" y="0"/>
                </a:moveTo>
                <a:lnTo>
                  <a:pt x="4714603" y="0"/>
                </a:lnTo>
                <a:lnTo>
                  <a:pt x="4714603" y="4351942"/>
                </a:lnTo>
                <a:lnTo>
                  <a:pt x="0" y="4351942"/>
                </a:lnTo>
                <a:lnTo>
                  <a:pt x="0" y="0"/>
                </a:lnTo>
                <a:close/>
              </a:path>
            </a:pathLst>
          </a:custGeom>
          <a:blipFill>
            <a:blip r:embed="rId5"/>
            <a:stretch>
              <a:fillRect l="0" t="0" r="0" b="0"/>
            </a:stretch>
          </a:blipFill>
        </p:spPr>
      </p:sp>
      <p:sp>
        <p:nvSpPr>
          <p:cNvPr name="TextBox 6" id="6"/>
          <p:cNvSpPr txBox="true"/>
          <p:nvPr/>
        </p:nvSpPr>
        <p:spPr>
          <a:xfrm rot="0">
            <a:off x="620890" y="2489475"/>
            <a:ext cx="2784604" cy="854075"/>
          </a:xfrm>
          <a:prstGeom prst="rect">
            <a:avLst/>
          </a:prstGeom>
        </p:spPr>
        <p:txBody>
          <a:bodyPr anchor="t" rtlCol="false" tIns="0" lIns="0" bIns="0" rIns="0">
            <a:spAutoFit/>
          </a:bodyPr>
          <a:lstStyle/>
          <a:p>
            <a:pPr algn="l" marL="1079501" indent="-539750" lvl="1">
              <a:lnSpc>
                <a:spcPts val="7000"/>
              </a:lnSpc>
              <a:buFont typeface="Arial"/>
              <a:buChar char="•"/>
            </a:pPr>
            <a:r>
              <a:rPr lang="en-US" b="true" sz="5000">
                <a:solidFill>
                  <a:srgbClr val="000000"/>
                </a:solidFill>
                <a:latin typeface="Cabin Bold"/>
                <a:ea typeface="Cabin Bold"/>
                <a:cs typeface="Cabin Bold"/>
                <a:sym typeface="Cabin Bold"/>
              </a:rPr>
              <a:t>Menu:</a:t>
            </a:r>
          </a:p>
        </p:txBody>
      </p:sp>
      <p:sp>
        <p:nvSpPr>
          <p:cNvPr name="TextBox 7" id="7"/>
          <p:cNvSpPr txBox="true"/>
          <p:nvPr/>
        </p:nvSpPr>
        <p:spPr>
          <a:xfrm rot="0">
            <a:off x="851315" y="5252561"/>
            <a:ext cx="5601548" cy="854075"/>
          </a:xfrm>
          <a:prstGeom prst="rect">
            <a:avLst/>
          </a:prstGeom>
        </p:spPr>
        <p:txBody>
          <a:bodyPr anchor="t" rtlCol="false" tIns="0" lIns="0" bIns="0" rIns="0">
            <a:spAutoFit/>
          </a:bodyPr>
          <a:lstStyle/>
          <a:p>
            <a:pPr algn="l" marL="1079501" indent="-539750" lvl="1">
              <a:lnSpc>
                <a:spcPts val="7000"/>
              </a:lnSpc>
              <a:buFont typeface="Arial"/>
              <a:buChar char="•"/>
            </a:pPr>
            <a:r>
              <a:rPr lang="en-US" b="true" sz="5000">
                <a:solidFill>
                  <a:srgbClr val="000000"/>
                </a:solidFill>
                <a:latin typeface="Cabin Bold"/>
                <a:ea typeface="Cabin Bold"/>
                <a:cs typeface="Cabin Bold"/>
                <a:sym typeface="Cabin Bold"/>
              </a:rPr>
              <a:t>Context Menu:</a:t>
            </a:r>
          </a:p>
        </p:txBody>
      </p:sp>
      <p:sp>
        <p:nvSpPr>
          <p:cNvPr name="TextBox 8" id="8"/>
          <p:cNvSpPr txBox="true"/>
          <p:nvPr/>
        </p:nvSpPr>
        <p:spPr>
          <a:xfrm rot="0">
            <a:off x="1242009" y="4264624"/>
            <a:ext cx="13298984" cy="438785"/>
          </a:xfrm>
          <a:prstGeom prst="rect">
            <a:avLst/>
          </a:prstGeom>
        </p:spPr>
        <p:txBody>
          <a:bodyPr anchor="t" rtlCol="false" tIns="0" lIns="0" bIns="0" rIns="0">
            <a:spAutoFit/>
          </a:bodyPr>
          <a:lstStyle/>
          <a:p>
            <a:pPr algn="ctr">
              <a:lnSpc>
                <a:spcPts val="3639"/>
              </a:lnSpc>
              <a:spcBef>
                <a:spcPct val="0"/>
              </a:spcBef>
            </a:pPr>
            <a:r>
              <a:rPr lang="en-US" sz="2599">
                <a:solidFill>
                  <a:srgbClr val="000000"/>
                </a:solidFill>
                <a:latin typeface="Cabin"/>
                <a:ea typeface="Cabin"/>
                <a:cs typeface="Cabin"/>
                <a:sym typeface="Cabin"/>
              </a:rPr>
              <a:t>Menu là một danh sách các tùy chọn hoặc lệnh giúp người dùng thực hiện các thao tác trong ứng</a:t>
            </a:r>
          </a:p>
        </p:txBody>
      </p:sp>
      <p:sp>
        <p:nvSpPr>
          <p:cNvPr name="TextBox 9" id="9"/>
          <p:cNvSpPr txBox="true"/>
          <p:nvPr/>
        </p:nvSpPr>
        <p:spPr>
          <a:xfrm rot="0">
            <a:off x="11822686" y="5406231"/>
            <a:ext cx="5436614" cy="1353185"/>
          </a:xfrm>
          <a:prstGeom prst="rect">
            <a:avLst/>
          </a:prstGeom>
        </p:spPr>
        <p:txBody>
          <a:bodyPr anchor="t" rtlCol="false" tIns="0" lIns="0" bIns="0" rIns="0">
            <a:spAutoFit/>
          </a:bodyPr>
          <a:lstStyle/>
          <a:p>
            <a:pPr algn="ctr">
              <a:lnSpc>
                <a:spcPts val="3639"/>
              </a:lnSpc>
              <a:spcBef>
                <a:spcPct val="0"/>
              </a:spcBef>
            </a:pPr>
            <a:r>
              <a:rPr lang="en-US" sz="2599">
                <a:solidFill>
                  <a:srgbClr val="000000"/>
                </a:solidFill>
                <a:latin typeface="Cabin"/>
                <a:ea typeface="Cabin"/>
                <a:cs typeface="Cabin"/>
                <a:sym typeface="Cabin"/>
              </a:rPr>
              <a:t>Context Menu là một menu xuất hiện khi người dùng nhấp chuột phải vào một đối tượng hoặc khu vực nhất định.</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6417044" y="924082"/>
            <a:ext cx="4940295" cy="5579126"/>
          </a:xfrm>
          <a:custGeom>
            <a:avLst/>
            <a:gdLst/>
            <a:ahLst/>
            <a:cxnLst/>
            <a:rect r="r" b="b" t="t" l="l"/>
            <a:pathLst>
              <a:path h="5579126" w="4940295">
                <a:moveTo>
                  <a:pt x="0" y="0"/>
                </a:moveTo>
                <a:lnTo>
                  <a:pt x="4940294" y="0"/>
                </a:lnTo>
                <a:lnTo>
                  <a:pt x="4940294" y="5579126"/>
                </a:lnTo>
                <a:lnTo>
                  <a:pt x="0" y="5579126"/>
                </a:lnTo>
                <a:lnTo>
                  <a:pt x="0" y="0"/>
                </a:lnTo>
                <a:close/>
              </a:path>
            </a:pathLst>
          </a:custGeom>
          <a:blipFill>
            <a:blip r:embed="rId2"/>
            <a:stretch>
              <a:fillRect l="0" t="0" r="0" b="0"/>
            </a:stretch>
          </a:blipFill>
        </p:spPr>
      </p:sp>
      <p:sp>
        <p:nvSpPr>
          <p:cNvPr name="Freeform 3" id="3"/>
          <p:cNvSpPr/>
          <p:nvPr/>
        </p:nvSpPr>
        <p:spPr>
          <a:xfrm flipH="false" flipV="false" rot="0">
            <a:off x="5403742" y="7095498"/>
            <a:ext cx="7480516" cy="2162802"/>
          </a:xfrm>
          <a:custGeom>
            <a:avLst/>
            <a:gdLst/>
            <a:ahLst/>
            <a:cxnLst/>
            <a:rect r="r" b="b" t="t" l="l"/>
            <a:pathLst>
              <a:path h="2162802" w="7480516">
                <a:moveTo>
                  <a:pt x="0" y="0"/>
                </a:moveTo>
                <a:lnTo>
                  <a:pt x="7480516" y="0"/>
                </a:lnTo>
                <a:lnTo>
                  <a:pt x="7480516" y="2162802"/>
                </a:lnTo>
                <a:lnTo>
                  <a:pt x="0" y="2162802"/>
                </a:lnTo>
                <a:lnTo>
                  <a:pt x="0" y="0"/>
                </a:lnTo>
                <a:close/>
              </a:path>
            </a:pathLst>
          </a:custGeom>
          <a:blipFill>
            <a:blip r:embed="rId3"/>
            <a:stretch>
              <a:fillRect l="0" t="0" r="0" b="0"/>
            </a:stretch>
          </a:blipFill>
        </p:spPr>
      </p:sp>
      <p:sp>
        <p:nvSpPr>
          <p:cNvPr name="TextBox 4" id="4"/>
          <p:cNvSpPr txBox="true"/>
          <p:nvPr/>
        </p:nvSpPr>
        <p:spPr>
          <a:xfrm rot="0">
            <a:off x="1028700" y="828832"/>
            <a:ext cx="3126397" cy="854075"/>
          </a:xfrm>
          <a:prstGeom prst="rect">
            <a:avLst/>
          </a:prstGeom>
        </p:spPr>
        <p:txBody>
          <a:bodyPr anchor="t" rtlCol="false" tIns="0" lIns="0" bIns="0" rIns="0">
            <a:spAutoFit/>
          </a:bodyPr>
          <a:lstStyle/>
          <a:p>
            <a:pPr algn="l" marL="1079501" indent="-539750" lvl="1">
              <a:lnSpc>
                <a:spcPts val="7000"/>
              </a:lnSpc>
              <a:buFont typeface="Arial"/>
              <a:buChar char="•"/>
            </a:pPr>
            <a:r>
              <a:rPr lang="en-US" b="true" sz="5000">
                <a:solidFill>
                  <a:srgbClr val="000000"/>
                </a:solidFill>
                <a:latin typeface="Cabin Bold"/>
                <a:ea typeface="Cabin Bold"/>
                <a:cs typeface="Cabin Bold"/>
                <a:sym typeface="Cabin Bold"/>
              </a:rPr>
              <a:t>Button:</a:t>
            </a:r>
          </a:p>
        </p:txBody>
      </p:sp>
      <p:sp>
        <p:nvSpPr>
          <p:cNvPr name="TextBox 5" id="5"/>
          <p:cNvSpPr txBox="true"/>
          <p:nvPr/>
        </p:nvSpPr>
        <p:spPr>
          <a:xfrm rot="0">
            <a:off x="1028700" y="6895630"/>
            <a:ext cx="3677301" cy="854075"/>
          </a:xfrm>
          <a:prstGeom prst="rect">
            <a:avLst/>
          </a:prstGeom>
        </p:spPr>
        <p:txBody>
          <a:bodyPr anchor="t" rtlCol="false" tIns="0" lIns="0" bIns="0" rIns="0">
            <a:spAutoFit/>
          </a:bodyPr>
          <a:lstStyle/>
          <a:p>
            <a:pPr algn="l" marL="1079501" indent="-539750" lvl="1">
              <a:lnSpc>
                <a:spcPts val="7000"/>
              </a:lnSpc>
              <a:buFont typeface="Arial"/>
              <a:buChar char="•"/>
            </a:pPr>
            <a:r>
              <a:rPr lang="en-US" b="true" sz="5000">
                <a:solidFill>
                  <a:srgbClr val="000000"/>
                </a:solidFill>
                <a:latin typeface="Cabin Bold"/>
                <a:ea typeface="Cabin Bold"/>
                <a:cs typeface="Cabin Bold"/>
                <a:sym typeface="Cabin Bold"/>
              </a:rPr>
              <a:t>Toolbar:</a:t>
            </a:r>
          </a:p>
        </p:txBody>
      </p:sp>
      <p:sp>
        <p:nvSpPr>
          <p:cNvPr name="TextBox 6" id="6"/>
          <p:cNvSpPr txBox="true"/>
          <p:nvPr/>
        </p:nvSpPr>
        <p:spPr>
          <a:xfrm rot="0">
            <a:off x="897183" y="1970762"/>
            <a:ext cx="4928133" cy="2980690"/>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Cabin"/>
                <a:ea typeface="Cabin"/>
                <a:cs typeface="Cabin"/>
                <a:sym typeface="Cabin"/>
              </a:rPr>
              <a:t>Button (nút bấm) là một điều khiển giao diện người dùng cho phép thực hiện một hành động khi được nhấp vào.</a:t>
            </a:r>
          </a:p>
        </p:txBody>
      </p:sp>
      <p:sp>
        <p:nvSpPr>
          <p:cNvPr name="TextBox 7" id="7"/>
          <p:cNvSpPr txBox="true"/>
          <p:nvPr/>
        </p:nvSpPr>
        <p:spPr>
          <a:xfrm rot="0">
            <a:off x="13579583" y="5546573"/>
            <a:ext cx="3818889" cy="3580765"/>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Cabin"/>
                <a:ea typeface="Cabin"/>
                <a:cs typeface="Cabin"/>
                <a:sym typeface="Cabin"/>
              </a:rPr>
              <a:t>Toolbar là một thanh công cụ chứa nhiều nút bấm hoặc biểu tượng để truy cập nhanh các chức năng của ứng dụng.</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2170921" y="3018990"/>
            <a:ext cx="12824045" cy="2224030"/>
          </a:xfrm>
          <a:custGeom>
            <a:avLst/>
            <a:gdLst/>
            <a:ahLst/>
            <a:cxnLst/>
            <a:rect r="r" b="b" t="t" l="l"/>
            <a:pathLst>
              <a:path h="2224030" w="12824045">
                <a:moveTo>
                  <a:pt x="0" y="0"/>
                </a:moveTo>
                <a:lnTo>
                  <a:pt x="12824045" y="0"/>
                </a:lnTo>
                <a:lnTo>
                  <a:pt x="12824045" y="2224030"/>
                </a:lnTo>
                <a:lnTo>
                  <a:pt x="0" y="2224030"/>
                </a:lnTo>
                <a:lnTo>
                  <a:pt x="0" y="0"/>
                </a:lnTo>
                <a:close/>
              </a:path>
            </a:pathLst>
          </a:custGeom>
          <a:blipFill>
            <a:blip r:embed="rId2"/>
            <a:stretch>
              <a:fillRect l="0" t="0" r="0" b="0"/>
            </a:stretch>
          </a:blipFill>
        </p:spPr>
      </p:sp>
      <p:sp>
        <p:nvSpPr>
          <p:cNvPr name="TextBox 3" id="3"/>
          <p:cNvSpPr txBox="true"/>
          <p:nvPr/>
        </p:nvSpPr>
        <p:spPr>
          <a:xfrm rot="0">
            <a:off x="925424" y="1612465"/>
            <a:ext cx="3652493" cy="854075"/>
          </a:xfrm>
          <a:prstGeom prst="rect">
            <a:avLst/>
          </a:prstGeom>
        </p:spPr>
        <p:txBody>
          <a:bodyPr anchor="t" rtlCol="false" tIns="0" lIns="0" bIns="0" rIns="0">
            <a:spAutoFit/>
          </a:bodyPr>
          <a:lstStyle/>
          <a:p>
            <a:pPr algn="l" marL="1079501" indent="-539750" lvl="1">
              <a:lnSpc>
                <a:spcPts val="7000"/>
              </a:lnSpc>
              <a:buFont typeface="Arial"/>
              <a:buChar char="•"/>
            </a:pPr>
            <a:r>
              <a:rPr lang="en-US" b="true" sz="5000">
                <a:solidFill>
                  <a:srgbClr val="000000"/>
                </a:solidFill>
                <a:latin typeface="Cabin Bold"/>
                <a:ea typeface="Cabin Bold"/>
                <a:cs typeface="Cabin Bold"/>
                <a:sym typeface="Cabin Bold"/>
              </a:rPr>
              <a:t>Ribbon:</a:t>
            </a:r>
          </a:p>
        </p:txBody>
      </p:sp>
      <p:sp>
        <p:nvSpPr>
          <p:cNvPr name="TextBox 4" id="4"/>
          <p:cNvSpPr txBox="true"/>
          <p:nvPr/>
        </p:nvSpPr>
        <p:spPr>
          <a:xfrm rot="0">
            <a:off x="1333234" y="5726569"/>
            <a:ext cx="15926066" cy="1180465"/>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Cabin"/>
                <a:ea typeface="Cabin"/>
                <a:cs typeface="Cabin"/>
                <a:sym typeface="Cabin"/>
              </a:rPr>
              <a:t>Ribbon là một thanh công cụ mở rộng, chứa các nhóm lệnh được tổ chức theo tab, giúp người dùng dễ dàng truy cập các chức năng quan trọng.</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2596937" y="2058485"/>
            <a:ext cx="11972969" cy="3774843"/>
          </a:xfrm>
          <a:custGeom>
            <a:avLst/>
            <a:gdLst/>
            <a:ahLst/>
            <a:cxnLst/>
            <a:rect r="r" b="b" t="t" l="l"/>
            <a:pathLst>
              <a:path h="3774843" w="11972969">
                <a:moveTo>
                  <a:pt x="0" y="0"/>
                </a:moveTo>
                <a:lnTo>
                  <a:pt x="11972969" y="0"/>
                </a:lnTo>
                <a:lnTo>
                  <a:pt x="11972969" y="3774843"/>
                </a:lnTo>
                <a:lnTo>
                  <a:pt x="0" y="3774843"/>
                </a:lnTo>
                <a:lnTo>
                  <a:pt x="0" y="0"/>
                </a:lnTo>
                <a:close/>
              </a:path>
            </a:pathLst>
          </a:custGeom>
          <a:blipFill>
            <a:blip r:embed="rId2"/>
            <a:stretch>
              <a:fillRect l="0" t="0" r="0" b="0"/>
            </a:stretch>
          </a:blipFill>
        </p:spPr>
      </p:sp>
      <p:sp>
        <p:nvSpPr>
          <p:cNvPr name="TextBox 3" id="3"/>
          <p:cNvSpPr txBox="true"/>
          <p:nvPr/>
        </p:nvSpPr>
        <p:spPr>
          <a:xfrm rot="0">
            <a:off x="1028700" y="933450"/>
            <a:ext cx="5259296" cy="854075"/>
          </a:xfrm>
          <a:prstGeom prst="rect">
            <a:avLst/>
          </a:prstGeom>
        </p:spPr>
        <p:txBody>
          <a:bodyPr anchor="t" rtlCol="false" tIns="0" lIns="0" bIns="0" rIns="0">
            <a:spAutoFit/>
          </a:bodyPr>
          <a:lstStyle/>
          <a:p>
            <a:pPr algn="l" marL="1079501" indent="-539750" lvl="1">
              <a:lnSpc>
                <a:spcPts val="7000"/>
              </a:lnSpc>
              <a:buFont typeface="Arial"/>
              <a:buChar char="•"/>
            </a:pPr>
            <a:r>
              <a:rPr lang="en-US" b="true" sz="5000">
                <a:solidFill>
                  <a:srgbClr val="000000"/>
                </a:solidFill>
                <a:latin typeface="Cabin Bold"/>
                <a:ea typeface="Cabin Bold"/>
                <a:cs typeface="Cabin Bold"/>
                <a:sym typeface="Cabin Bold"/>
              </a:rPr>
              <a:t>Hyperlink:</a:t>
            </a:r>
          </a:p>
        </p:txBody>
      </p:sp>
      <p:sp>
        <p:nvSpPr>
          <p:cNvPr name="TextBox 4" id="4"/>
          <p:cNvSpPr txBox="true"/>
          <p:nvPr/>
        </p:nvSpPr>
        <p:spPr>
          <a:xfrm rot="0">
            <a:off x="1028700" y="6715197"/>
            <a:ext cx="16230600" cy="1180465"/>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Cabin"/>
                <a:ea typeface="Cabin"/>
                <a:cs typeface="Cabin"/>
                <a:sym typeface="Cabin"/>
              </a:rPr>
              <a:t>Hyperlink là một liên kết (thường có màu xanh và gạch chân) giúp điều hướng đến một trang web, tài liệu, hoặc một phần khác trong ứng dụng.</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794385"/>
            <a:ext cx="5400120" cy="854075"/>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Other Controls</a:t>
            </a:r>
          </a:p>
        </p:txBody>
      </p:sp>
      <p:sp>
        <p:nvSpPr>
          <p:cNvPr name="Freeform 4" id="4"/>
          <p:cNvSpPr/>
          <p:nvPr/>
        </p:nvSpPr>
        <p:spPr>
          <a:xfrm flipH="false" flipV="false" rot="0">
            <a:off x="2277027" y="3300197"/>
            <a:ext cx="4041971" cy="3245597"/>
          </a:xfrm>
          <a:custGeom>
            <a:avLst/>
            <a:gdLst/>
            <a:ahLst/>
            <a:cxnLst/>
            <a:rect r="r" b="b" t="t" l="l"/>
            <a:pathLst>
              <a:path h="3245597" w="4041971">
                <a:moveTo>
                  <a:pt x="0" y="0"/>
                </a:moveTo>
                <a:lnTo>
                  <a:pt x="4041970" y="0"/>
                </a:lnTo>
                <a:lnTo>
                  <a:pt x="4041970" y="3245597"/>
                </a:lnTo>
                <a:lnTo>
                  <a:pt x="0" y="3245597"/>
                </a:lnTo>
                <a:lnTo>
                  <a:pt x="0" y="0"/>
                </a:lnTo>
                <a:close/>
              </a:path>
            </a:pathLst>
          </a:custGeom>
          <a:blipFill>
            <a:blip r:embed="rId4"/>
            <a:stretch>
              <a:fillRect l="0" t="0" r="0" b="0"/>
            </a:stretch>
          </a:blipFill>
        </p:spPr>
      </p:sp>
      <p:sp>
        <p:nvSpPr>
          <p:cNvPr name="Freeform 5" id="5"/>
          <p:cNvSpPr/>
          <p:nvPr/>
        </p:nvSpPr>
        <p:spPr>
          <a:xfrm flipH="false" flipV="false" rot="0">
            <a:off x="7937474" y="3301192"/>
            <a:ext cx="3891405" cy="4129910"/>
          </a:xfrm>
          <a:custGeom>
            <a:avLst/>
            <a:gdLst/>
            <a:ahLst/>
            <a:cxnLst/>
            <a:rect r="r" b="b" t="t" l="l"/>
            <a:pathLst>
              <a:path h="4129910" w="3891405">
                <a:moveTo>
                  <a:pt x="0" y="0"/>
                </a:moveTo>
                <a:lnTo>
                  <a:pt x="3891405" y="0"/>
                </a:lnTo>
                <a:lnTo>
                  <a:pt x="3891405" y="4129910"/>
                </a:lnTo>
                <a:lnTo>
                  <a:pt x="0" y="4129910"/>
                </a:lnTo>
                <a:lnTo>
                  <a:pt x="0" y="0"/>
                </a:lnTo>
                <a:close/>
              </a:path>
            </a:pathLst>
          </a:custGeom>
          <a:blipFill>
            <a:blip r:embed="rId5"/>
            <a:stretch>
              <a:fillRect l="0" t="0" r="0" b="0"/>
            </a:stretch>
          </a:blipFill>
        </p:spPr>
      </p:sp>
      <p:sp>
        <p:nvSpPr>
          <p:cNvPr name="Freeform 6" id="6"/>
          <p:cNvSpPr/>
          <p:nvPr/>
        </p:nvSpPr>
        <p:spPr>
          <a:xfrm flipH="false" flipV="false" rot="0">
            <a:off x="12899417" y="3284112"/>
            <a:ext cx="4132606" cy="2302625"/>
          </a:xfrm>
          <a:custGeom>
            <a:avLst/>
            <a:gdLst/>
            <a:ahLst/>
            <a:cxnLst/>
            <a:rect r="r" b="b" t="t" l="l"/>
            <a:pathLst>
              <a:path h="2302625" w="4132606">
                <a:moveTo>
                  <a:pt x="0" y="0"/>
                </a:moveTo>
                <a:lnTo>
                  <a:pt x="4132606" y="0"/>
                </a:lnTo>
                <a:lnTo>
                  <a:pt x="4132606" y="2302625"/>
                </a:lnTo>
                <a:lnTo>
                  <a:pt x="0" y="2302625"/>
                </a:lnTo>
                <a:lnTo>
                  <a:pt x="0" y="0"/>
                </a:lnTo>
                <a:close/>
              </a:path>
            </a:pathLst>
          </a:custGeom>
          <a:blipFill>
            <a:blip r:embed="rId6"/>
            <a:stretch>
              <a:fillRect l="0" t="0" r="0" b="0"/>
            </a:stretch>
          </a:blipFill>
        </p:spPr>
      </p:sp>
      <p:sp>
        <p:nvSpPr>
          <p:cNvPr name="TextBox 7" id="7"/>
          <p:cNvSpPr txBox="true"/>
          <p:nvPr/>
        </p:nvSpPr>
        <p:spPr>
          <a:xfrm rot="0">
            <a:off x="1028700" y="1842242"/>
            <a:ext cx="5752248" cy="854075"/>
          </a:xfrm>
          <a:prstGeom prst="rect">
            <a:avLst/>
          </a:prstGeom>
        </p:spPr>
        <p:txBody>
          <a:bodyPr anchor="t" rtlCol="false" tIns="0" lIns="0" bIns="0" rIns="0">
            <a:spAutoFit/>
          </a:bodyPr>
          <a:lstStyle/>
          <a:p>
            <a:pPr algn="l" marL="1079501" indent="-539750" lvl="1">
              <a:lnSpc>
                <a:spcPts val="7000"/>
              </a:lnSpc>
              <a:buFont typeface="Arial"/>
              <a:buChar char="•"/>
            </a:pPr>
            <a:r>
              <a:rPr lang="en-US" b="true" sz="5000">
                <a:solidFill>
                  <a:srgbClr val="000000"/>
                </a:solidFill>
                <a:latin typeface="Cabin Bold"/>
                <a:ea typeface="Cabin Bold"/>
                <a:cs typeface="Cabin Bold"/>
                <a:sym typeface="Cabin Bold"/>
              </a:rPr>
              <a:t>DateTimePicker:</a:t>
            </a:r>
          </a:p>
        </p:txBody>
      </p:sp>
      <p:sp>
        <p:nvSpPr>
          <p:cNvPr name="TextBox 8" id="8"/>
          <p:cNvSpPr txBox="true"/>
          <p:nvPr/>
        </p:nvSpPr>
        <p:spPr>
          <a:xfrm rot="0">
            <a:off x="12899417" y="1953299"/>
            <a:ext cx="3666355" cy="854075"/>
          </a:xfrm>
          <a:prstGeom prst="rect">
            <a:avLst/>
          </a:prstGeom>
        </p:spPr>
        <p:txBody>
          <a:bodyPr anchor="t" rtlCol="false" tIns="0" lIns="0" bIns="0" rIns="0">
            <a:spAutoFit/>
          </a:bodyPr>
          <a:lstStyle/>
          <a:p>
            <a:pPr algn="l" marL="1079501" indent="-539750" lvl="1">
              <a:lnSpc>
                <a:spcPts val="7000"/>
              </a:lnSpc>
              <a:buFont typeface="Arial"/>
              <a:buChar char="•"/>
            </a:pPr>
            <a:r>
              <a:rPr lang="en-US" b="true" sz="5000">
                <a:solidFill>
                  <a:srgbClr val="000000"/>
                </a:solidFill>
                <a:latin typeface="Cabin Bold"/>
                <a:ea typeface="Cabin Bold"/>
                <a:cs typeface="Cabin Bold"/>
                <a:sym typeface="Cabin Bold"/>
              </a:rPr>
              <a:t>Spinner:</a:t>
            </a:r>
          </a:p>
        </p:txBody>
      </p:sp>
      <p:sp>
        <p:nvSpPr>
          <p:cNvPr name="TextBox 9" id="9"/>
          <p:cNvSpPr txBox="true"/>
          <p:nvPr/>
        </p:nvSpPr>
        <p:spPr>
          <a:xfrm rot="0">
            <a:off x="7411825" y="1961342"/>
            <a:ext cx="4141602" cy="854075"/>
          </a:xfrm>
          <a:prstGeom prst="rect">
            <a:avLst/>
          </a:prstGeom>
        </p:spPr>
        <p:txBody>
          <a:bodyPr anchor="t" rtlCol="false" tIns="0" lIns="0" bIns="0" rIns="0">
            <a:spAutoFit/>
          </a:bodyPr>
          <a:lstStyle/>
          <a:p>
            <a:pPr algn="l" marL="1079501" indent="-539750" lvl="1">
              <a:lnSpc>
                <a:spcPts val="7000"/>
              </a:lnSpc>
              <a:buFont typeface="Arial"/>
              <a:buChar char="•"/>
            </a:pPr>
            <a:r>
              <a:rPr lang="en-US" b="true" sz="5000">
                <a:solidFill>
                  <a:srgbClr val="000000"/>
                </a:solidFill>
                <a:latin typeface="Cabin Bold"/>
                <a:ea typeface="Cabin Bold"/>
                <a:cs typeface="Cabin Bold"/>
                <a:sym typeface="Cabin Bold"/>
              </a:rPr>
              <a:t>TreeView:</a:t>
            </a:r>
          </a:p>
        </p:txBody>
      </p:sp>
      <p:sp>
        <p:nvSpPr>
          <p:cNvPr name="TextBox 10" id="10"/>
          <p:cNvSpPr txBox="true"/>
          <p:nvPr/>
        </p:nvSpPr>
        <p:spPr>
          <a:xfrm rot="0">
            <a:off x="1368886" y="7383477"/>
            <a:ext cx="5059934" cy="1243965"/>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Cabin"/>
                <a:ea typeface="Cabin"/>
                <a:cs typeface="Cabin"/>
                <a:sym typeface="Cabin"/>
              </a:rPr>
              <a:t>DateTimePicker là một điều khiển cho phép người dùng chọn ngày và giờ từ một lịch hoặc hộp nhập liệu.</a:t>
            </a:r>
          </a:p>
        </p:txBody>
      </p:sp>
      <p:sp>
        <p:nvSpPr>
          <p:cNvPr name="TextBox 11" id="11"/>
          <p:cNvSpPr txBox="true"/>
          <p:nvPr/>
        </p:nvSpPr>
        <p:spPr>
          <a:xfrm rot="0">
            <a:off x="7201132" y="7869252"/>
            <a:ext cx="5364088" cy="1243965"/>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Cabin"/>
                <a:ea typeface="Cabin"/>
                <a:cs typeface="Cabin"/>
                <a:sym typeface="Cabin"/>
              </a:rPr>
              <a:t>TreeView là một điều khiển hiển thị dữ liệu theo cấu trúc cây, với các mục có thể mở rộng hoặc thu gọn.</a:t>
            </a:r>
          </a:p>
        </p:txBody>
      </p:sp>
      <p:sp>
        <p:nvSpPr>
          <p:cNvPr name="TextBox 12" id="12"/>
          <p:cNvSpPr txBox="true"/>
          <p:nvPr/>
        </p:nvSpPr>
        <p:spPr>
          <a:xfrm rot="0">
            <a:off x="12769150" y="6187137"/>
            <a:ext cx="4657762" cy="1243965"/>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Cabin"/>
                <a:ea typeface="Cabin"/>
                <a:cs typeface="Cabin"/>
                <a:sym typeface="Cabin"/>
              </a:rPr>
              <a:t>Spinner là một hộp nhập liệu có các nút tăng/giảm để thay đổi giá trị theo từng bước.</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794385"/>
            <a:ext cx="6065796" cy="854075"/>
          </a:xfrm>
          <a:prstGeom prst="rect">
            <a:avLst/>
          </a:prstGeom>
        </p:spPr>
        <p:txBody>
          <a:bodyPr anchor="t" rtlCol="false" tIns="0" lIns="0" bIns="0" rIns="0">
            <a:spAutoFit/>
          </a:bodyPr>
          <a:lstStyle/>
          <a:p>
            <a:pPr algn="l">
              <a:lnSpc>
                <a:spcPts val="7000"/>
              </a:lnSpc>
            </a:pPr>
            <a:r>
              <a:rPr lang="en-US" sz="5000" b="true">
                <a:solidFill>
                  <a:srgbClr val="15130D"/>
                </a:solidFill>
                <a:latin typeface="Cabin Bold"/>
                <a:ea typeface="Cabin Bold"/>
                <a:cs typeface="Cabin Bold"/>
                <a:sym typeface="Cabin Bold"/>
              </a:rPr>
              <a:t>Datagrid Controls</a:t>
            </a:r>
          </a:p>
        </p:txBody>
      </p:sp>
      <p:sp>
        <p:nvSpPr>
          <p:cNvPr name="Freeform 4" id="4"/>
          <p:cNvSpPr/>
          <p:nvPr/>
        </p:nvSpPr>
        <p:spPr>
          <a:xfrm flipH="false" flipV="false" rot="0">
            <a:off x="1028700" y="3748489"/>
            <a:ext cx="7789616" cy="4344502"/>
          </a:xfrm>
          <a:custGeom>
            <a:avLst/>
            <a:gdLst/>
            <a:ahLst/>
            <a:cxnLst/>
            <a:rect r="r" b="b" t="t" l="l"/>
            <a:pathLst>
              <a:path h="4344502" w="7789616">
                <a:moveTo>
                  <a:pt x="0" y="0"/>
                </a:moveTo>
                <a:lnTo>
                  <a:pt x="7789616" y="0"/>
                </a:lnTo>
                <a:lnTo>
                  <a:pt x="7789616" y="4344502"/>
                </a:lnTo>
                <a:lnTo>
                  <a:pt x="0" y="4344502"/>
                </a:lnTo>
                <a:lnTo>
                  <a:pt x="0" y="0"/>
                </a:lnTo>
                <a:close/>
              </a:path>
            </a:pathLst>
          </a:custGeom>
          <a:blipFill>
            <a:blip r:embed="rId4"/>
            <a:stretch>
              <a:fillRect l="-2484" t="0" r="-2484" b="-4968"/>
            </a:stretch>
          </a:blipFill>
        </p:spPr>
      </p:sp>
      <p:sp>
        <p:nvSpPr>
          <p:cNvPr name="Freeform 5" id="5"/>
          <p:cNvSpPr/>
          <p:nvPr/>
        </p:nvSpPr>
        <p:spPr>
          <a:xfrm flipH="false" flipV="false" rot="0">
            <a:off x="9097283" y="3758839"/>
            <a:ext cx="7428246" cy="4344502"/>
          </a:xfrm>
          <a:custGeom>
            <a:avLst/>
            <a:gdLst/>
            <a:ahLst/>
            <a:cxnLst/>
            <a:rect r="r" b="b" t="t" l="l"/>
            <a:pathLst>
              <a:path h="4344502" w="7428246">
                <a:moveTo>
                  <a:pt x="0" y="0"/>
                </a:moveTo>
                <a:lnTo>
                  <a:pt x="7428246" y="0"/>
                </a:lnTo>
                <a:lnTo>
                  <a:pt x="7428246" y="4344502"/>
                </a:lnTo>
                <a:lnTo>
                  <a:pt x="0" y="4344502"/>
                </a:lnTo>
                <a:lnTo>
                  <a:pt x="0" y="0"/>
                </a:lnTo>
                <a:close/>
              </a:path>
            </a:pathLst>
          </a:custGeom>
          <a:blipFill>
            <a:blip r:embed="rId5"/>
            <a:stretch>
              <a:fillRect l="0" t="0" r="0" b="0"/>
            </a:stretch>
          </a:blipFill>
        </p:spPr>
      </p:sp>
      <p:sp>
        <p:nvSpPr>
          <p:cNvPr name="TextBox 6" id="6"/>
          <p:cNvSpPr txBox="true"/>
          <p:nvPr/>
        </p:nvSpPr>
        <p:spPr>
          <a:xfrm rot="0">
            <a:off x="1028700" y="1886991"/>
            <a:ext cx="6906055" cy="854075"/>
          </a:xfrm>
          <a:prstGeom prst="rect">
            <a:avLst/>
          </a:prstGeom>
        </p:spPr>
        <p:txBody>
          <a:bodyPr anchor="t" rtlCol="false" tIns="0" lIns="0" bIns="0" rIns="0">
            <a:spAutoFit/>
          </a:bodyPr>
          <a:lstStyle/>
          <a:p>
            <a:pPr algn="l" marL="1079501" indent="-539750" lvl="1">
              <a:lnSpc>
                <a:spcPts val="7000"/>
              </a:lnSpc>
              <a:buFont typeface="Arial"/>
              <a:buChar char="•"/>
            </a:pPr>
            <a:r>
              <a:rPr lang="en-US" b="true" sz="5000">
                <a:solidFill>
                  <a:srgbClr val="15130D"/>
                </a:solidFill>
                <a:latin typeface="Cabin Bold"/>
                <a:ea typeface="Cabin Bold"/>
                <a:cs typeface="Cabin Bold"/>
                <a:sym typeface="Cabin Bold"/>
              </a:rPr>
              <a:t>DataGrid (Table):</a:t>
            </a:r>
          </a:p>
        </p:txBody>
      </p:sp>
      <p:sp>
        <p:nvSpPr>
          <p:cNvPr name="TextBox 7" id="7"/>
          <p:cNvSpPr txBox="true"/>
          <p:nvPr/>
        </p:nvSpPr>
        <p:spPr>
          <a:xfrm rot="0">
            <a:off x="1030277" y="8484235"/>
            <a:ext cx="16229023" cy="1180465"/>
          </a:xfrm>
          <a:prstGeom prst="rect">
            <a:avLst/>
          </a:prstGeom>
        </p:spPr>
        <p:txBody>
          <a:bodyPr anchor="t" rtlCol="false" tIns="0" lIns="0" bIns="0" rIns="0">
            <a:spAutoFit/>
          </a:bodyPr>
          <a:lstStyle/>
          <a:p>
            <a:pPr algn="ctr">
              <a:lnSpc>
                <a:spcPts val="4759"/>
              </a:lnSpc>
              <a:spcBef>
                <a:spcPct val="0"/>
              </a:spcBef>
            </a:pPr>
            <a:r>
              <a:rPr lang="en-US" sz="3399">
                <a:solidFill>
                  <a:srgbClr val="15130D"/>
                </a:solidFill>
                <a:latin typeface="Cabin"/>
                <a:ea typeface="Cabin"/>
                <a:cs typeface="Cabin"/>
                <a:sym typeface="Cabin"/>
              </a:rPr>
              <a:t>DataGrid là một điều khiển hiển thị dữ liệu dạng bảng, giúp người dùng dễ dàng xem, chỉnh sửa và sắp xếp dữ liệu.</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839153"/>
            <a:ext cx="10849839" cy="854075"/>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3. User Controls (Điều khiển tùy chỉnh)</a:t>
            </a:r>
          </a:p>
        </p:txBody>
      </p:sp>
      <p:sp>
        <p:nvSpPr>
          <p:cNvPr name="TextBox 4" id="4"/>
          <p:cNvSpPr txBox="true"/>
          <p:nvPr/>
        </p:nvSpPr>
        <p:spPr>
          <a:xfrm rot="0">
            <a:off x="1028700" y="3510122"/>
            <a:ext cx="16230600" cy="4573271"/>
          </a:xfrm>
          <a:prstGeom prst="rect">
            <a:avLst/>
          </a:prstGeom>
        </p:spPr>
        <p:txBody>
          <a:bodyPr anchor="t" rtlCol="false" tIns="0" lIns="0" bIns="0" rIns="0">
            <a:spAutoFit/>
          </a:bodyPr>
          <a:lstStyle/>
          <a:p>
            <a:pPr algn="l" marL="798825" indent="-399412" lvl="1">
              <a:lnSpc>
                <a:spcPts val="5179"/>
              </a:lnSpc>
              <a:buFont typeface="Arial"/>
              <a:buChar char="•"/>
            </a:pPr>
            <a:r>
              <a:rPr lang="en-US" sz="3699">
                <a:solidFill>
                  <a:srgbClr val="000000"/>
                </a:solidFill>
                <a:latin typeface="Cabin"/>
                <a:ea typeface="Cabin"/>
                <a:cs typeface="Cabin"/>
                <a:sym typeface="Cabin"/>
              </a:rPr>
              <a:t>User Control (hay Custom Widget) là các thành phần giao diện người dùng tùy chỉnh được tạo ra bằng cách kế thừa từ các lớp điều khiển tiêu chuẩn để cải thiện kiểu hiển thị và bổ sung thêm tính năng mới.</a:t>
            </a:r>
          </a:p>
          <a:p>
            <a:pPr algn="l" marL="798825" indent="-399412" lvl="1">
              <a:lnSpc>
                <a:spcPts val="5179"/>
              </a:lnSpc>
              <a:buFont typeface="Arial"/>
              <a:buChar char="•"/>
            </a:pPr>
            <a:r>
              <a:rPr lang="en-US" sz="3699">
                <a:solidFill>
                  <a:srgbClr val="000000"/>
                </a:solidFill>
                <a:latin typeface="Cabin"/>
                <a:ea typeface="Cabin"/>
                <a:cs typeface="Cabin"/>
                <a:sym typeface="Cabin"/>
              </a:rPr>
              <a:t>Mục đích:</a:t>
            </a:r>
          </a:p>
          <a:p>
            <a:pPr algn="l" marL="1597649" indent="-532550" lvl="2">
              <a:lnSpc>
                <a:spcPts val="5179"/>
              </a:lnSpc>
              <a:buFont typeface="Arial"/>
              <a:buChar char="⚬"/>
            </a:pPr>
            <a:r>
              <a:rPr lang="en-US" sz="3699">
                <a:solidFill>
                  <a:srgbClr val="000000"/>
                </a:solidFill>
                <a:latin typeface="Cabin"/>
                <a:ea typeface="Cabin"/>
                <a:cs typeface="Cabin"/>
                <a:sym typeface="Cabin"/>
              </a:rPr>
              <a:t>Tạo ra các điều khiển có giao diện đẹp hơn, dễ sử dụng hơn.</a:t>
            </a:r>
          </a:p>
          <a:p>
            <a:pPr algn="l" marL="1597649" indent="-532550" lvl="2">
              <a:lnSpc>
                <a:spcPts val="5179"/>
              </a:lnSpc>
              <a:buFont typeface="Arial"/>
              <a:buChar char="⚬"/>
            </a:pPr>
            <a:r>
              <a:rPr lang="en-US" sz="3699">
                <a:solidFill>
                  <a:srgbClr val="000000"/>
                </a:solidFill>
                <a:latin typeface="Cabin"/>
                <a:ea typeface="Cabin"/>
                <a:cs typeface="Cabin"/>
                <a:sym typeface="Cabin"/>
              </a:rPr>
              <a:t>Thêm chức năng nâng cao mà các điều khiển tiêu chuẩn không có.</a:t>
            </a:r>
          </a:p>
          <a:p>
            <a:pPr algn="l">
              <a:lnSpc>
                <a:spcPts val="5179"/>
              </a:lnSpc>
            </a:pPr>
          </a:p>
        </p:txBody>
      </p:sp>
    </p:spTree>
  </p:cSld>
  <p:clrMapOvr>
    <a:masterClrMapping/>
  </p:clrMapOvr>
</p:sld>
</file>

<file path=ppt/slides/slide66.xml><?xml version="1.0" encoding="utf-8"?>
<p:sld xmlns:p="http://schemas.openxmlformats.org/presentationml/2006/main" xmlns:a="http://schemas.openxmlformats.org/drawingml/2006/main">
  <p:cSld>
    <p:bg>
      <p:bgPr>
        <a:solidFill>
          <a:srgbClr val="FFF8ED"/>
        </a:solidFill>
      </p:bgPr>
    </p:bg>
    <p:spTree>
      <p:nvGrpSpPr>
        <p:cNvPr id="1" name=""/>
        <p:cNvGrpSpPr/>
        <p:nvPr/>
      </p:nvGrpSpPr>
      <p:grpSpPr>
        <a:xfrm>
          <a:off x="0" y="0"/>
          <a:ext cx="0" cy="0"/>
          <a:chOff x="0" y="0"/>
          <a:chExt cx="0" cy="0"/>
        </a:xfrm>
      </p:grpSpPr>
      <p:sp>
        <p:nvSpPr>
          <p:cNvPr name="TextBox 2" id="2"/>
          <p:cNvSpPr txBox="true"/>
          <p:nvPr/>
        </p:nvSpPr>
        <p:spPr>
          <a:xfrm rot="0">
            <a:off x="1028700" y="952500"/>
            <a:ext cx="16118311" cy="6835140"/>
          </a:xfrm>
          <a:prstGeom prst="rect">
            <a:avLst/>
          </a:prstGeom>
        </p:spPr>
        <p:txBody>
          <a:bodyPr anchor="t" rtlCol="false" tIns="0" lIns="0" bIns="0" rIns="0">
            <a:spAutoFit/>
          </a:bodyPr>
          <a:lstStyle/>
          <a:p>
            <a:pPr algn="l" marL="842012" indent="-421006" lvl="1">
              <a:lnSpc>
                <a:spcPts val="5460"/>
              </a:lnSpc>
              <a:buFont typeface="Arial"/>
              <a:buChar char="•"/>
            </a:pPr>
            <a:r>
              <a:rPr lang="en-US" sz="3900">
                <a:solidFill>
                  <a:srgbClr val="000000"/>
                </a:solidFill>
                <a:latin typeface="Cabin"/>
                <a:ea typeface="Cabin"/>
                <a:cs typeface="Cabin"/>
                <a:sym typeface="Cabin"/>
              </a:rPr>
              <a:t>Trong Java:</a:t>
            </a:r>
          </a:p>
          <a:p>
            <a:pPr algn="l" marL="1684023" indent="-561341" lvl="2">
              <a:lnSpc>
                <a:spcPts val="5460"/>
              </a:lnSpc>
              <a:buFont typeface="Arial"/>
              <a:buChar char="⚬"/>
            </a:pPr>
            <a:r>
              <a:rPr lang="en-US" sz="3900">
                <a:solidFill>
                  <a:srgbClr val="000000"/>
                </a:solidFill>
                <a:latin typeface="Cabin"/>
                <a:ea typeface="Cabin"/>
                <a:cs typeface="Cabin"/>
                <a:sym typeface="Cabin"/>
              </a:rPr>
              <a:t>Thường là free widgets (các thành phần miễn phí).</a:t>
            </a:r>
          </a:p>
          <a:p>
            <a:pPr algn="l" marL="1684023" indent="-561341" lvl="2">
              <a:lnSpc>
                <a:spcPts val="5460"/>
              </a:lnSpc>
              <a:buFont typeface="Arial"/>
              <a:buChar char="⚬"/>
            </a:pPr>
            <a:r>
              <a:rPr lang="en-US" sz="3900">
                <a:solidFill>
                  <a:srgbClr val="000000"/>
                </a:solidFill>
                <a:latin typeface="Cabin"/>
                <a:ea typeface="Cabin"/>
                <a:cs typeface="Cabin"/>
                <a:sym typeface="Cabin"/>
              </a:rPr>
              <a:t>Ví dụ: Các thư viện như Swing, JavaFX cung cấp nhiều điều khiển UI mở rộng.</a:t>
            </a:r>
          </a:p>
          <a:p>
            <a:pPr algn="l" marL="842012" indent="-421006" lvl="1">
              <a:lnSpc>
                <a:spcPts val="5460"/>
              </a:lnSpc>
              <a:buFont typeface="Arial"/>
              <a:buChar char="•"/>
            </a:pPr>
            <a:r>
              <a:rPr lang="en-US" sz="3900">
                <a:solidFill>
                  <a:srgbClr val="000000"/>
                </a:solidFill>
                <a:latin typeface="Cabin"/>
                <a:ea typeface="Cabin"/>
                <a:cs typeface="Cabin"/>
                <a:sym typeface="Cabin"/>
              </a:rPr>
              <a:t>Trong .NET:</a:t>
            </a:r>
          </a:p>
          <a:p>
            <a:pPr algn="l" marL="1684023" indent="-561341" lvl="2">
              <a:lnSpc>
                <a:spcPts val="5460"/>
              </a:lnSpc>
              <a:buFont typeface="Arial"/>
              <a:buChar char="⚬"/>
            </a:pPr>
            <a:r>
              <a:rPr lang="en-US" sz="3900">
                <a:solidFill>
                  <a:srgbClr val="000000"/>
                </a:solidFill>
                <a:latin typeface="Cabin"/>
                <a:ea typeface="Cabin"/>
                <a:cs typeface="Cabin"/>
                <a:sym typeface="Cabin"/>
              </a:rPr>
              <a:t>Phần lớn các bộ điều khiển UI nâng cao là thương mại (có phí).</a:t>
            </a:r>
          </a:p>
          <a:p>
            <a:pPr algn="l" marL="1684023" indent="-561341" lvl="2">
              <a:lnSpc>
                <a:spcPts val="5460"/>
              </a:lnSpc>
              <a:buFont typeface="Arial"/>
              <a:buChar char="⚬"/>
            </a:pPr>
            <a:r>
              <a:rPr lang="en-US" sz="3900">
                <a:solidFill>
                  <a:srgbClr val="000000"/>
                </a:solidFill>
                <a:latin typeface="Cabin"/>
                <a:ea typeface="Cabin"/>
                <a:cs typeface="Cabin"/>
                <a:sym typeface="Cabin"/>
              </a:rPr>
              <a:t>Các công ty cung cấp các bộ điều khiển UI chuyên nghiệp:</a:t>
            </a:r>
          </a:p>
          <a:p>
            <a:pPr algn="l" marL="1684023" indent="-561341" lvl="2">
              <a:lnSpc>
                <a:spcPts val="5460"/>
              </a:lnSpc>
              <a:buFont typeface="Arial"/>
              <a:buChar char="⚬"/>
            </a:pPr>
            <a:r>
              <a:rPr lang="en-US" sz="3900">
                <a:solidFill>
                  <a:srgbClr val="000000"/>
                </a:solidFill>
                <a:latin typeface="Cabin"/>
                <a:ea typeface="Cabin"/>
                <a:cs typeface="Cabin"/>
                <a:sym typeface="Cabin"/>
              </a:rPr>
              <a:t>DevExpress WinForms (giá từ $799)</a:t>
            </a:r>
          </a:p>
          <a:p>
            <a:pPr algn="l" marL="1684023" indent="-561341" lvl="2">
              <a:lnSpc>
                <a:spcPts val="5460"/>
              </a:lnSpc>
              <a:buFont typeface="Arial"/>
              <a:buChar char="⚬"/>
            </a:pPr>
            <a:r>
              <a:rPr lang="en-US" sz="3900">
                <a:solidFill>
                  <a:srgbClr val="000000"/>
                </a:solidFill>
                <a:latin typeface="Cabin"/>
                <a:ea typeface="Cabin"/>
                <a:cs typeface="Cabin"/>
                <a:sym typeface="Cabin"/>
              </a:rPr>
              <a:t>Telerik RadControls for WinForms (giá từ $799)</a:t>
            </a:r>
          </a:p>
          <a:p>
            <a:pPr algn="l" marL="1684023" indent="-561341" lvl="2">
              <a:lnSpc>
                <a:spcPts val="5460"/>
              </a:lnSpc>
              <a:buFont typeface="Arial"/>
              <a:buChar char="⚬"/>
            </a:pPr>
            <a:r>
              <a:rPr lang="en-US" sz="3900">
                <a:solidFill>
                  <a:srgbClr val="000000"/>
                </a:solidFill>
                <a:latin typeface="Cabin"/>
                <a:ea typeface="Cabin"/>
                <a:cs typeface="Cabin"/>
                <a:sym typeface="Cabin"/>
              </a:rPr>
              <a:t>Infragistics NetAdvantage for Win Client (giá từ $995)</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839153"/>
            <a:ext cx="10873888" cy="854075"/>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Một số biểu tượng đơn giản kèm nhãn.</a:t>
            </a:r>
          </a:p>
        </p:txBody>
      </p:sp>
      <p:sp>
        <p:nvSpPr>
          <p:cNvPr name="Freeform 4" id="4"/>
          <p:cNvSpPr/>
          <p:nvPr/>
        </p:nvSpPr>
        <p:spPr>
          <a:xfrm flipH="false" flipV="false" rot="0">
            <a:off x="4330819" y="3788684"/>
            <a:ext cx="9626362" cy="5755052"/>
          </a:xfrm>
          <a:custGeom>
            <a:avLst/>
            <a:gdLst/>
            <a:ahLst/>
            <a:cxnLst/>
            <a:rect r="r" b="b" t="t" l="l"/>
            <a:pathLst>
              <a:path h="5755052" w="9626362">
                <a:moveTo>
                  <a:pt x="0" y="0"/>
                </a:moveTo>
                <a:lnTo>
                  <a:pt x="9626362" y="0"/>
                </a:lnTo>
                <a:lnTo>
                  <a:pt x="9626362" y="5755051"/>
                </a:lnTo>
                <a:lnTo>
                  <a:pt x="0" y="5755051"/>
                </a:lnTo>
                <a:lnTo>
                  <a:pt x="0" y="0"/>
                </a:lnTo>
                <a:close/>
              </a:path>
            </a:pathLst>
          </a:custGeom>
          <a:blipFill>
            <a:blip r:embed="rId4"/>
            <a:stretch>
              <a:fillRect l="0" t="0" r="0" b="0"/>
            </a:stretch>
          </a:blipFill>
        </p:spPr>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810895"/>
            <a:ext cx="8945724" cy="854075"/>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DevExpress Winform controls:</a:t>
            </a:r>
          </a:p>
        </p:txBody>
      </p:sp>
      <p:sp>
        <p:nvSpPr>
          <p:cNvPr name="Freeform 4" id="4"/>
          <p:cNvSpPr/>
          <p:nvPr/>
        </p:nvSpPr>
        <p:spPr>
          <a:xfrm flipH="false" flipV="false" rot="0">
            <a:off x="3126765" y="2022882"/>
            <a:ext cx="12034471" cy="7852492"/>
          </a:xfrm>
          <a:custGeom>
            <a:avLst/>
            <a:gdLst/>
            <a:ahLst/>
            <a:cxnLst/>
            <a:rect r="r" b="b" t="t" l="l"/>
            <a:pathLst>
              <a:path h="7852492" w="12034471">
                <a:moveTo>
                  <a:pt x="0" y="0"/>
                </a:moveTo>
                <a:lnTo>
                  <a:pt x="12034470" y="0"/>
                </a:lnTo>
                <a:lnTo>
                  <a:pt x="12034470" y="7852493"/>
                </a:lnTo>
                <a:lnTo>
                  <a:pt x="0" y="7852493"/>
                </a:lnTo>
                <a:lnTo>
                  <a:pt x="0" y="0"/>
                </a:lnTo>
                <a:close/>
              </a:path>
            </a:pathLst>
          </a:custGeom>
          <a:blipFill>
            <a:blip r:embed="rId4"/>
            <a:stretch>
              <a:fillRect l="0" t="0" r="0" b="0"/>
            </a:stretch>
          </a:blipFill>
        </p:spPr>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810895"/>
            <a:ext cx="8945724" cy="854075"/>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MDI tabs Ribbon:  </a:t>
            </a:r>
          </a:p>
        </p:txBody>
      </p:sp>
      <p:sp>
        <p:nvSpPr>
          <p:cNvPr name="Freeform 4" id="4"/>
          <p:cNvSpPr/>
          <p:nvPr/>
        </p:nvSpPr>
        <p:spPr>
          <a:xfrm flipH="false" flipV="false" rot="0">
            <a:off x="3781109" y="2279783"/>
            <a:ext cx="10725781" cy="7159459"/>
          </a:xfrm>
          <a:custGeom>
            <a:avLst/>
            <a:gdLst/>
            <a:ahLst/>
            <a:cxnLst/>
            <a:rect r="r" b="b" t="t" l="l"/>
            <a:pathLst>
              <a:path h="7159459" w="10725781">
                <a:moveTo>
                  <a:pt x="0" y="0"/>
                </a:moveTo>
                <a:lnTo>
                  <a:pt x="10725782" y="0"/>
                </a:lnTo>
                <a:lnTo>
                  <a:pt x="10725782" y="7159459"/>
                </a:lnTo>
                <a:lnTo>
                  <a:pt x="0" y="7159459"/>
                </a:lnTo>
                <a:lnTo>
                  <a:pt x="0" y="0"/>
                </a:lnTo>
                <a:close/>
              </a:path>
            </a:pathLst>
          </a:custGeom>
          <a:blipFill>
            <a:blip r:embed="rId4"/>
            <a:stretch>
              <a:fillRect l="0" t="0" r="0" b="0"/>
            </a:stretch>
          </a:blipFill>
        </p:spPr>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810895"/>
            <a:ext cx="8945724" cy="854075"/>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XtraRichEdit: </a:t>
            </a:r>
          </a:p>
        </p:txBody>
      </p:sp>
      <p:sp>
        <p:nvSpPr>
          <p:cNvPr name="Freeform 4" id="4"/>
          <p:cNvSpPr/>
          <p:nvPr/>
        </p:nvSpPr>
        <p:spPr>
          <a:xfrm flipH="false" flipV="false" rot="0">
            <a:off x="5315036" y="1986331"/>
            <a:ext cx="7657928" cy="7848898"/>
          </a:xfrm>
          <a:custGeom>
            <a:avLst/>
            <a:gdLst/>
            <a:ahLst/>
            <a:cxnLst/>
            <a:rect r="r" b="b" t="t" l="l"/>
            <a:pathLst>
              <a:path h="7848898" w="7657928">
                <a:moveTo>
                  <a:pt x="0" y="0"/>
                </a:moveTo>
                <a:lnTo>
                  <a:pt x="7657928" y="0"/>
                </a:lnTo>
                <a:lnTo>
                  <a:pt x="7657928" y="7848898"/>
                </a:lnTo>
                <a:lnTo>
                  <a:pt x="0" y="7848898"/>
                </a:lnTo>
                <a:lnTo>
                  <a:pt x="0" y="0"/>
                </a:lnTo>
                <a:close/>
              </a:path>
            </a:pathLst>
          </a:custGeom>
          <a:blipFill>
            <a:blip r:embed="rId4"/>
            <a:stretch>
              <a:fillRect l="0" t="0" r="0" b="0"/>
            </a:stretch>
          </a:blipFill>
        </p:spPr>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810895"/>
            <a:ext cx="8945724" cy="854075"/>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XtraNavBar: </a:t>
            </a:r>
          </a:p>
        </p:txBody>
      </p:sp>
      <p:sp>
        <p:nvSpPr>
          <p:cNvPr name="Freeform 4" id="4"/>
          <p:cNvSpPr/>
          <p:nvPr/>
        </p:nvSpPr>
        <p:spPr>
          <a:xfrm flipH="false" flipV="false" rot="0">
            <a:off x="2819752" y="3924514"/>
            <a:ext cx="3915834" cy="3402054"/>
          </a:xfrm>
          <a:custGeom>
            <a:avLst/>
            <a:gdLst/>
            <a:ahLst/>
            <a:cxnLst/>
            <a:rect r="r" b="b" t="t" l="l"/>
            <a:pathLst>
              <a:path h="3402054" w="3915834">
                <a:moveTo>
                  <a:pt x="0" y="0"/>
                </a:moveTo>
                <a:lnTo>
                  <a:pt x="3915834" y="0"/>
                </a:lnTo>
                <a:lnTo>
                  <a:pt x="3915834" y="3402054"/>
                </a:lnTo>
                <a:lnTo>
                  <a:pt x="0" y="3402054"/>
                </a:lnTo>
                <a:lnTo>
                  <a:pt x="0" y="0"/>
                </a:lnTo>
                <a:close/>
              </a:path>
            </a:pathLst>
          </a:custGeom>
          <a:blipFill>
            <a:blip r:embed="rId4"/>
            <a:stretch>
              <a:fillRect l="0" t="0" r="0" b="0"/>
            </a:stretch>
          </a:blipFill>
        </p:spPr>
      </p:sp>
      <p:sp>
        <p:nvSpPr>
          <p:cNvPr name="Freeform 5" id="5"/>
          <p:cNvSpPr/>
          <p:nvPr/>
        </p:nvSpPr>
        <p:spPr>
          <a:xfrm flipH="false" flipV="false" rot="0">
            <a:off x="7562510" y="3924514"/>
            <a:ext cx="3428950" cy="3676527"/>
          </a:xfrm>
          <a:custGeom>
            <a:avLst/>
            <a:gdLst/>
            <a:ahLst/>
            <a:cxnLst/>
            <a:rect r="r" b="b" t="t" l="l"/>
            <a:pathLst>
              <a:path h="3676527" w="3428950">
                <a:moveTo>
                  <a:pt x="0" y="0"/>
                </a:moveTo>
                <a:lnTo>
                  <a:pt x="3428950" y="0"/>
                </a:lnTo>
                <a:lnTo>
                  <a:pt x="3428950" y="3676527"/>
                </a:lnTo>
                <a:lnTo>
                  <a:pt x="0" y="3676527"/>
                </a:lnTo>
                <a:lnTo>
                  <a:pt x="0" y="0"/>
                </a:lnTo>
                <a:close/>
              </a:path>
            </a:pathLst>
          </a:custGeom>
          <a:blipFill>
            <a:blip r:embed="rId5"/>
            <a:stretch>
              <a:fillRect l="0" t="0" r="0" b="0"/>
            </a:stretch>
          </a:blipFill>
        </p:spPr>
      </p:sp>
      <p:sp>
        <p:nvSpPr>
          <p:cNvPr name="Freeform 6" id="6"/>
          <p:cNvSpPr/>
          <p:nvPr/>
        </p:nvSpPr>
        <p:spPr>
          <a:xfrm flipH="false" flipV="false" rot="0">
            <a:off x="11820135" y="3924514"/>
            <a:ext cx="3648114" cy="3143816"/>
          </a:xfrm>
          <a:custGeom>
            <a:avLst/>
            <a:gdLst/>
            <a:ahLst/>
            <a:cxnLst/>
            <a:rect r="r" b="b" t="t" l="l"/>
            <a:pathLst>
              <a:path h="3143816" w="3648114">
                <a:moveTo>
                  <a:pt x="0" y="0"/>
                </a:moveTo>
                <a:lnTo>
                  <a:pt x="3648113" y="0"/>
                </a:lnTo>
                <a:lnTo>
                  <a:pt x="3648113" y="3143815"/>
                </a:lnTo>
                <a:lnTo>
                  <a:pt x="0" y="3143815"/>
                </a:lnTo>
                <a:lnTo>
                  <a:pt x="0" y="0"/>
                </a:lnTo>
                <a:close/>
              </a:path>
            </a:pathLst>
          </a:custGeom>
          <a:blipFill>
            <a:blip r:embed="rId6"/>
            <a:stretch>
              <a:fillRect l="0" t="0" r="0" b="0"/>
            </a:stretch>
          </a:blipFill>
        </p:spPr>
      </p:sp>
      <p:sp>
        <p:nvSpPr>
          <p:cNvPr name="TextBox 7" id="7"/>
          <p:cNvSpPr txBox="true"/>
          <p:nvPr/>
        </p:nvSpPr>
        <p:spPr>
          <a:xfrm rot="0">
            <a:off x="2819752" y="7904571"/>
            <a:ext cx="3947470" cy="1661795"/>
          </a:xfrm>
          <a:prstGeom prst="rect">
            <a:avLst/>
          </a:prstGeom>
        </p:spPr>
        <p:txBody>
          <a:bodyPr anchor="t" rtlCol="false" tIns="0" lIns="0" bIns="0" rIns="0">
            <a:spAutoFit/>
          </a:bodyPr>
          <a:lstStyle/>
          <a:p>
            <a:pPr algn="l">
              <a:lnSpc>
                <a:spcPts val="4480"/>
              </a:lnSpc>
            </a:pPr>
            <a:r>
              <a:rPr lang="en-US" sz="3200" b="true">
                <a:solidFill>
                  <a:srgbClr val="15130D"/>
                </a:solidFill>
                <a:latin typeface="Cabin Bold"/>
                <a:ea typeface="Cabin Bold"/>
                <a:cs typeface="Cabin Bold"/>
                <a:sym typeface="Cabin Bold"/>
              </a:rPr>
              <a:t>(Navigation bar) </a:t>
            </a:r>
          </a:p>
          <a:p>
            <a:pPr algn="l">
              <a:lnSpc>
                <a:spcPts val="4480"/>
              </a:lnSpc>
            </a:pPr>
            <a:r>
              <a:rPr lang="en-US" sz="3200" b="true">
                <a:solidFill>
                  <a:srgbClr val="15130D"/>
                </a:solidFill>
                <a:latin typeface="Cabin Bold"/>
                <a:ea typeface="Cabin Bold"/>
                <a:cs typeface="Cabin Bold"/>
                <a:sym typeface="Cabin Bold"/>
              </a:rPr>
              <a:t>(Ms. Outlook 2007):</a:t>
            </a:r>
          </a:p>
          <a:p>
            <a:pPr algn="l">
              <a:lnSpc>
                <a:spcPts val="4480"/>
              </a:lnSpc>
            </a:pPr>
          </a:p>
        </p:txBody>
      </p:sp>
      <p:sp>
        <p:nvSpPr>
          <p:cNvPr name="TextBox 8" id="8"/>
          <p:cNvSpPr txBox="true"/>
          <p:nvPr/>
        </p:nvSpPr>
        <p:spPr>
          <a:xfrm rot="0">
            <a:off x="7876694" y="7918058"/>
            <a:ext cx="2888415" cy="1099820"/>
          </a:xfrm>
          <a:prstGeom prst="rect">
            <a:avLst/>
          </a:prstGeom>
        </p:spPr>
        <p:txBody>
          <a:bodyPr anchor="t" rtlCol="false" tIns="0" lIns="0" bIns="0" rIns="0">
            <a:spAutoFit/>
          </a:bodyPr>
          <a:lstStyle/>
          <a:p>
            <a:pPr algn="l">
              <a:lnSpc>
                <a:spcPts val="4480"/>
              </a:lnSpc>
            </a:pPr>
            <a:r>
              <a:rPr lang="en-US" sz="3200" b="true">
                <a:solidFill>
                  <a:srgbClr val="15130D"/>
                </a:solidFill>
                <a:latin typeface="Cabin Bold"/>
                <a:ea typeface="Cabin Bold"/>
                <a:cs typeface="Cabin Bold"/>
                <a:sym typeface="Cabin Bold"/>
              </a:rPr>
              <a:t>(Explorer bar) </a:t>
            </a:r>
          </a:p>
          <a:p>
            <a:pPr algn="l">
              <a:lnSpc>
                <a:spcPts val="4480"/>
              </a:lnSpc>
            </a:pPr>
            <a:r>
              <a:rPr lang="en-US" sz="3200" b="true">
                <a:solidFill>
                  <a:srgbClr val="15130D"/>
                </a:solidFill>
                <a:latin typeface="Cabin Bold"/>
                <a:ea typeface="Cabin Bold"/>
                <a:cs typeface="Cabin Bold"/>
                <a:sym typeface="Cabin Bold"/>
              </a:rPr>
              <a:t>(Win Explorer)</a:t>
            </a:r>
          </a:p>
        </p:txBody>
      </p:sp>
      <p:sp>
        <p:nvSpPr>
          <p:cNvPr name="TextBox 9" id="9"/>
          <p:cNvSpPr txBox="true"/>
          <p:nvPr/>
        </p:nvSpPr>
        <p:spPr>
          <a:xfrm rot="0">
            <a:off x="11765476" y="7918058"/>
            <a:ext cx="3702772" cy="1099820"/>
          </a:xfrm>
          <a:prstGeom prst="rect">
            <a:avLst/>
          </a:prstGeom>
        </p:spPr>
        <p:txBody>
          <a:bodyPr anchor="t" rtlCol="false" tIns="0" lIns="0" bIns="0" rIns="0">
            <a:spAutoFit/>
          </a:bodyPr>
          <a:lstStyle/>
          <a:p>
            <a:pPr algn="l">
              <a:lnSpc>
                <a:spcPts val="4480"/>
              </a:lnSpc>
            </a:pPr>
            <a:r>
              <a:rPr lang="en-US" sz="3200" b="true">
                <a:solidFill>
                  <a:srgbClr val="15130D"/>
                </a:solidFill>
                <a:latin typeface="Cabin Bold"/>
                <a:ea typeface="Cabin Bold"/>
                <a:cs typeface="Cabin Bold"/>
                <a:sym typeface="Cabin Bold"/>
              </a:rPr>
              <a:t>(Side bar) </a:t>
            </a:r>
          </a:p>
          <a:p>
            <a:pPr algn="l">
              <a:lnSpc>
                <a:spcPts val="4480"/>
              </a:lnSpc>
            </a:pPr>
            <a:r>
              <a:rPr lang="en-US" sz="3200" b="true">
                <a:solidFill>
                  <a:srgbClr val="15130D"/>
                </a:solidFill>
                <a:latin typeface="Cabin Bold"/>
                <a:ea typeface="Cabin Bold"/>
                <a:cs typeface="Cabin Bold"/>
                <a:sym typeface="Cabin Bold"/>
              </a:rPr>
              <a:t>(Ms. Outlook 2003)</a:t>
            </a:r>
          </a:p>
        </p:txBody>
      </p:sp>
      <p:sp>
        <p:nvSpPr>
          <p:cNvPr name="Freeform 10" id="10"/>
          <p:cNvSpPr/>
          <p:nvPr/>
        </p:nvSpPr>
        <p:spPr>
          <a:xfrm flipH="false" flipV="false" rot="0">
            <a:off x="16324932" y="-42332"/>
            <a:ext cx="2478206" cy="1896954"/>
          </a:xfrm>
          <a:custGeom>
            <a:avLst/>
            <a:gdLst/>
            <a:ahLst/>
            <a:cxnLst/>
            <a:rect r="r" b="b" t="t" l="l"/>
            <a:pathLst>
              <a:path h="1896954" w="2478206">
                <a:moveTo>
                  <a:pt x="0" y="0"/>
                </a:moveTo>
                <a:lnTo>
                  <a:pt x="2478206" y="0"/>
                </a:lnTo>
                <a:lnTo>
                  <a:pt x="2478206" y="1896954"/>
                </a:lnTo>
                <a:lnTo>
                  <a:pt x="0" y="18969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810895"/>
            <a:ext cx="2834096" cy="854075"/>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XtraGrid:</a:t>
            </a:r>
          </a:p>
        </p:txBody>
      </p:sp>
      <p:sp>
        <p:nvSpPr>
          <p:cNvPr name="Freeform 4" id="4"/>
          <p:cNvSpPr/>
          <p:nvPr/>
        </p:nvSpPr>
        <p:spPr>
          <a:xfrm flipH="false" flipV="false" rot="0">
            <a:off x="5092874" y="1664970"/>
            <a:ext cx="8102252" cy="8130730"/>
          </a:xfrm>
          <a:custGeom>
            <a:avLst/>
            <a:gdLst/>
            <a:ahLst/>
            <a:cxnLst/>
            <a:rect r="r" b="b" t="t" l="l"/>
            <a:pathLst>
              <a:path h="8130730" w="8102252">
                <a:moveTo>
                  <a:pt x="0" y="0"/>
                </a:moveTo>
                <a:lnTo>
                  <a:pt x="8102252" y="0"/>
                </a:lnTo>
                <a:lnTo>
                  <a:pt x="8102252" y="8130730"/>
                </a:lnTo>
                <a:lnTo>
                  <a:pt x="0" y="8130730"/>
                </a:lnTo>
                <a:lnTo>
                  <a:pt x="0" y="0"/>
                </a:lnTo>
                <a:close/>
              </a:path>
            </a:pathLst>
          </a:custGeom>
          <a:blipFill>
            <a:blip r:embed="rId4"/>
            <a:stretch>
              <a:fillRect l="0" t="0" r="0" b="0"/>
            </a:stretch>
          </a:blipFill>
        </p:spPr>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810895"/>
            <a:ext cx="3660452" cy="854075"/>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XtraGrid:</a:t>
            </a:r>
          </a:p>
        </p:txBody>
      </p:sp>
      <p:sp>
        <p:nvSpPr>
          <p:cNvPr name="Freeform 4" id="4"/>
          <p:cNvSpPr/>
          <p:nvPr/>
        </p:nvSpPr>
        <p:spPr>
          <a:xfrm flipH="false" flipV="false" rot="0">
            <a:off x="5234272" y="2106206"/>
            <a:ext cx="8082685" cy="7392858"/>
          </a:xfrm>
          <a:custGeom>
            <a:avLst/>
            <a:gdLst/>
            <a:ahLst/>
            <a:cxnLst/>
            <a:rect r="r" b="b" t="t" l="l"/>
            <a:pathLst>
              <a:path h="7392858" w="8082685">
                <a:moveTo>
                  <a:pt x="0" y="0"/>
                </a:moveTo>
                <a:lnTo>
                  <a:pt x="8082685" y="0"/>
                </a:lnTo>
                <a:lnTo>
                  <a:pt x="8082685" y="7392858"/>
                </a:lnTo>
                <a:lnTo>
                  <a:pt x="0" y="7392858"/>
                </a:lnTo>
                <a:lnTo>
                  <a:pt x="0" y="0"/>
                </a:lnTo>
                <a:close/>
              </a:path>
            </a:pathLst>
          </a:custGeom>
          <a:blipFill>
            <a:blip r:embed="rId4"/>
            <a:stretch>
              <a:fillRect l="0" t="0" r="0" b="0"/>
            </a:stretch>
          </a:blipFill>
        </p:spPr>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28700" y="810895"/>
            <a:ext cx="7454916" cy="854075"/>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Telerik RadControl:</a:t>
            </a:r>
          </a:p>
        </p:txBody>
      </p:sp>
      <p:sp>
        <p:nvSpPr>
          <p:cNvPr name="Freeform 4" id="4"/>
          <p:cNvSpPr/>
          <p:nvPr/>
        </p:nvSpPr>
        <p:spPr>
          <a:xfrm flipH="false" flipV="false" rot="0">
            <a:off x="4482947" y="2790467"/>
            <a:ext cx="9322107" cy="6655019"/>
          </a:xfrm>
          <a:custGeom>
            <a:avLst/>
            <a:gdLst/>
            <a:ahLst/>
            <a:cxnLst/>
            <a:rect r="r" b="b" t="t" l="l"/>
            <a:pathLst>
              <a:path h="6655019" w="9322107">
                <a:moveTo>
                  <a:pt x="0" y="0"/>
                </a:moveTo>
                <a:lnTo>
                  <a:pt x="9322106" y="0"/>
                </a:lnTo>
                <a:lnTo>
                  <a:pt x="9322106" y="6655019"/>
                </a:lnTo>
                <a:lnTo>
                  <a:pt x="0" y="6655019"/>
                </a:lnTo>
                <a:lnTo>
                  <a:pt x="0" y="0"/>
                </a:lnTo>
                <a:close/>
              </a:path>
            </a:pathLst>
          </a:custGeom>
          <a:blipFill>
            <a:blip r:embed="rId4"/>
            <a:stretch>
              <a:fillRect l="0" t="0" r="0" b="0"/>
            </a:stretch>
          </a:blipFill>
        </p:spPr>
      </p:sp>
      <p:sp>
        <p:nvSpPr>
          <p:cNvPr name="TextBox 5" id="5"/>
          <p:cNvSpPr txBox="true"/>
          <p:nvPr/>
        </p:nvSpPr>
        <p:spPr>
          <a:xfrm rot="0">
            <a:off x="1896397" y="1936392"/>
            <a:ext cx="5368980" cy="854075"/>
          </a:xfrm>
          <a:prstGeom prst="rect">
            <a:avLst/>
          </a:prstGeom>
        </p:spPr>
        <p:txBody>
          <a:bodyPr anchor="t" rtlCol="false" tIns="0" lIns="0" bIns="0" rIns="0">
            <a:spAutoFit/>
          </a:bodyPr>
          <a:lstStyle/>
          <a:p>
            <a:pPr algn="l" marL="1079501" indent="-539750" lvl="1">
              <a:lnSpc>
                <a:spcPts val="7000"/>
              </a:lnSpc>
              <a:buFont typeface="Arial"/>
              <a:buChar char="•"/>
            </a:pPr>
            <a:r>
              <a:rPr lang="en-US" b="true" sz="5000">
                <a:solidFill>
                  <a:srgbClr val="000000"/>
                </a:solidFill>
                <a:latin typeface="Cabin Bold"/>
                <a:ea typeface="Cabin Bold"/>
                <a:cs typeface="Cabin Bold"/>
                <a:sym typeface="Cabin Bold"/>
              </a:rPr>
              <a:t>RadGridView:</a:t>
            </a:r>
          </a:p>
        </p:txBody>
      </p:sp>
      <p:sp>
        <p:nvSpPr>
          <p:cNvPr name="Freeform 6" id="6"/>
          <p:cNvSpPr/>
          <p:nvPr/>
        </p:nvSpPr>
        <p:spPr>
          <a:xfrm flipH="false" flipV="false" rot="2148784">
            <a:off x="15184658" y="748082"/>
            <a:ext cx="2814955" cy="1346060"/>
          </a:xfrm>
          <a:custGeom>
            <a:avLst/>
            <a:gdLst/>
            <a:ahLst/>
            <a:cxnLst/>
            <a:rect r="r" b="b" t="t" l="l"/>
            <a:pathLst>
              <a:path h="1346060" w="2814955">
                <a:moveTo>
                  <a:pt x="0" y="0"/>
                </a:moveTo>
                <a:lnTo>
                  <a:pt x="2814954" y="0"/>
                </a:lnTo>
                <a:lnTo>
                  <a:pt x="2814954" y="1346060"/>
                </a:lnTo>
                <a:lnTo>
                  <a:pt x="0" y="13460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15138" y="-2073638"/>
            <a:ext cx="19318277" cy="5488752"/>
          </a:xfrm>
          <a:custGeom>
            <a:avLst/>
            <a:gdLst/>
            <a:ahLst/>
            <a:cxnLst/>
            <a:rect r="r" b="b" t="t" l="l"/>
            <a:pathLst>
              <a:path h="5488752" w="19318277">
                <a:moveTo>
                  <a:pt x="0" y="0"/>
                </a:moveTo>
                <a:lnTo>
                  <a:pt x="19318276" y="0"/>
                </a:lnTo>
                <a:lnTo>
                  <a:pt x="19318276" y="5488752"/>
                </a:lnTo>
                <a:lnTo>
                  <a:pt x="0" y="5488752"/>
                </a:lnTo>
                <a:lnTo>
                  <a:pt x="0" y="0"/>
                </a:lnTo>
                <a:close/>
              </a:path>
            </a:pathLst>
          </a:custGeom>
          <a:blipFill>
            <a:blip r:embed="rId2">
              <a:extLst>
                <a:ext uri="{96DAC541-7B7A-43D3-8B79-37D633B846F1}">
                  <asvg:svgBlip xmlns:asvg="http://schemas.microsoft.com/office/drawing/2016/SVG/main" r:embed="rId3"/>
                </a:ext>
              </a:extLst>
            </a:blip>
            <a:stretch>
              <a:fillRect l="0" t="0" r="0" b="-111176"/>
            </a:stretch>
          </a:blipFill>
        </p:spPr>
      </p:sp>
      <p:sp>
        <p:nvSpPr>
          <p:cNvPr name="TextBox 3" id="3"/>
          <p:cNvSpPr txBox="true"/>
          <p:nvPr/>
        </p:nvSpPr>
        <p:spPr>
          <a:xfrm rot="0">
            <a:off x="1036694" y="810895"/>
            <a:ext cx="11366821" cy="854075"/>
          </a:xfrm>
          <a:prstGeom prst="rect">
            <a:avLst/>
          </a:prstGeom>
        </p:spPr>
        <p:txBody>
          <a:bodyPr anchor="t" rtlCol="false" tIns="0" lIns="0" bIns="0" rIns="0">
            <a:spAutoFit/>
          </a:bodyPr>
          <a:lstStyle/>
          <a:p>
            <a:pPr algn="l">
              <a:lnSpc>
                <a:spcPts val="7000"/>
              </a:lnSpc>
            </a:pPr>
            <a:r>
              <a:rPr lang="en-US" sz="5000" b="true">
                <a:solidFill>
                  <a:srgbClr val="000000"/>
                </a:solidFill>
                <a:latin typeface="Cabin Bold"/>
                <a:ea typeface="Cabin Bold"/>
                <a:cs typeface="Cabin Bold"/>
                <a:sym typeface="Cabin Bold"/>
              </a:rPr>
              <a:t>Infragistics Windows Forms Controls</a:t>
            </a:r>
          </a:p>
        </p:txBody>
      </p:sp>
      <p:sp>
        <p:nvSpPr>
          <p:cNvPr name="Freeform 4" id="4"/>
          <p:cNvSpPr/>
          <p:nvPr/>
        </p:nvSpPr>
        <p:spPr>
          <a:xfrm flipH="false" flipV="false" rot="0">
            <a:off x="4540073" y="2068625"/>
            <a:ext cx="9207853" cy="7687867"/>
          </a:xfrm>
          <a:custGeom>
            <a:avLst/>
            <a:gdLst/>
            <a:ahLst/>
            <a:cxnLst/>
            <a:rect r="r" b="b" t="t" l="l"/>
            <a:pathLst>
              <a:path h="7687867" w="9207853">
                <a:moveTo>
                  <a:pt x="0" y="0"/>
                </a:moveTo>
                <a:lnTo>
                  <a:pt x="9207854" y="0"/>
                </a:lnTo>
                <a:lnTo>
                  <a:pt x="9207854" y="7687866"/>
                </a:lnTo>
                <a:lnTo>
                  <a:pt x="0" y="7687866"/>
                </a:lnTo>
                <a:lnTo>
                  <a:pt x="0" y="0"/>
                </a:lnTo>
                <a:close/>
              </a:path>
            </a:pathLst>
          </a:custGeom>
          <a:blipFill>
            <a:blip r:embed="rId4"/>
            <a:stretch>
              <a:fillRect l="0" t="0" r="0" b="0"/>
            </a:stretch>
          </a:blipFill>
        </p:spPr>
      </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2193845" y="7993298"/>
            <a:ext cx="8872339" cy="7519307"/>
          </a:xfrm>
          <a:custGeom>
            <a:avLst/>
            <a:gdLst/>
            <a:ahLst/>
            <a:cxnLst/>
            <a:rect r="r" b="b" t="t" l="l"/>
            <a:pathLst>
              <a:path h="7519307" w="8872339">
                <a:moveTo>
                  <a:pt x="0" y="0"/>
                </a:moveTo>
                <a:lnTo>
                  <a:pt x="8872338" y="0"/>
                </a:lnTo>
                <a:lnTo>
                  <a:pt x="8872338" y="7519307"/>
                </a:lnTo>
                <a:lnTo>
                  <a:pt x="0" y="7519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97015">
            <a:off x="-4524405" y="1113231"/>
            <a:ext cx="8081191" cy="6848810"/>
          </a:xfrm>
          <a:custGeom>
            <a:avLst/>
            <a:gdLst/>
            <a:ahLst/>
            <a:cxnLst/>
            <a:rect r="r" b="b" t="t" l="l"/>
            <a:pathLst>
              <a:path h="6848810" w="8081191">
                <a:moveTo>
                  <a:pt x="0" y="0"/>
                </a:moveTo>
                <a:lnTo>
                  <a:pt x="8081191" y="0"/>
                </a:lnTo>
                <a:lnTo>
                  <a:pt x="8081191" y="6848809"/>
                </a:lnTo>
                <a:lnTo>
                  <a:pt x="0" y="6848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9142984">
            <a:off x="2749225" y="-5013270"/>
            <a:ext cx="8081191" cy="6848810"/>
          </a:xfrm>
          <a:custGeom>
            <a:avLst/>
            <a:gdLst/>
            <a:ahLst/>
            <a:cxnLst/>
            <a:rect r="r" b="b" t="t" l="l"/>
            <a:pathLst>
              <a:path h="6848810" w="8081191">
                <a:moveTo>
                  <a:pt x="0" y="0"/>
                </a:moveTo>
                <a:lnTo>
                  <a:pt x="8081191" y="0"/>
                </a:lnTo>
                <a:lnTo>
                  <a:pt x="8081191" y="6848810"/>
                </a:lnTo>
                <a:lnTo>
                  <a:pt x="0" y="68488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5331885" y="2704552"/>
            <a:ext cx="6793832" cy="5757772"/>
          </a:xfrm>
          <a:custGeom>
            <a:avLst/>
            <a:gdLst/>
            <a:ahLst/>
            <a:cxnLst/>
            <a:rect r="r" b="b" t="t" l="l"/>
            <a:pathLst>
              <a:path h="5757772" w="6793832">
                <a:moveTo>
                  <a:pt x="0" y="0"/>
                </a:moveTo>
                <a:lnTo>
                  <a:pt x="6793832" y="0"/>
                </a:lnTo>
                <a:lnTo>
                  <a:pt x="6793832" y="5757772"/>
                </a:lnTo>
                <a:lnTo>
                  <a:pt x="0" y="57577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344247">
            <a:off x="14912684" y="125092"/>
            <a:ext cx="2371898" cy="1879729"/>
          </a:xfrm>
          <a:custGeom>
            <a:avLst/>
            <a:gdLst/>
            <a:ahLst/>
            <a:cxnLst/>
            <a:rect r="r" b="b" t="t" l="l"/>
            <a:pathLst>
              <a:path h="1879729" w="2371898">
                <a:moveTo>
                  <a:pt x="0" y="0"/>
                </a:moveTo>
                <a:lnTo>
                  <a:pt x="2371898" y="0"/>
                </a:lnTo>
                <a:lnTo>
                  <a:pt x="2371898" y="1879729"/>
                </a:lnTo>
                <a:lnTo>
                  <a:pt x="0" y="18797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594572">
            <a:off x="382732" y="2487707"/>
            <a:ext cx="4007898" cy="1661456"/>
          </a:xfrm>
          <a:custGeom>
            <a:avLst/>
            <a:gdLst/>
            <a:ahLst/>
            <a:cxnLst/>
            <a:rect r="r" b="b" t="t" l="l"/>
            <a:pathLst>
              <a:path h="1661456" w="4007898">
                <a:moveTo>
                  <a:pt x="0" y="0"/>
                </a:moveTo>
                <a:lnTo>
                  <a:pt x="4007897" y="0"/>
                </a:lnTo>
                <a:lnTo>
                  <a:pt x="4007897" y="1661456"/>
                </a:lnTo>
                <a:lnTo>
                  <a:pt x="0" y="16614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7261427" y="520673"/>
            <a:ext cx="2814955" cy="1346060"/>
          </a:xfrm>
          <a:custGeom>
            <a:avLst/>
            <a:gdLst/>
            <a:ahLst/>
            <a:cxnLst/>
            <a:rect r="r" b="b" t="t" l="l"/>
            <a:pathLst>
              <a:path h="1346060" w="2814955">
                <a:moveTo>
                  <a:pt x="0" y="0"/>
                </a:moveTo>
                <a:lnTo>
                  <a:pt x="2814954" y="0"/>
                </a:lnTo>
                <a:lnTo>
                  <a:pt x="2814954" y="1346060"/>
                </a:lnTo>
                <a:lnTo>
                  <a:pt x="0" y="13460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1756866">
            <a:off x="11981512" y="410112"/>
            <a:ext cx="1758538" cy="2913241"/>
          </a:xfrm>
          <a:custGeom>
            <a:avLst/>
            <a:gdLst/>
            <a:ahLst/>
            <a:cxnLst/>
            <a:rect r="r" b="b" t="t" l="l"/>
            <a:pathLst>
              <a:path h="2913241" w="1758538">
                <a:moveTo>
                  <a:pt x="0" y="0"/>
                </a:moveTo>
                <a:lnTo>
                  <a:pt x="1758538" y="0"/>
                </a:lnTo>
                <a:lnTo>
                  <a:pt x="1758538" y="2913241"/>
                </a:lnTo>
                <a:lnTo>
                  <a:pt x="0" y="29132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951837">
            <a:off x="15696454" y="2678998"/>
            <a:ext cx="1444167" cy="3177168"/>
          </a:xfrm>
          <a:custGeom>
            <a:avLst/>
            <a:gdLst/>
            <a:ahLst/>
            <a:cxnLst/>
            <a:rect r="r" b="b" t="t" l="l"/>
            <a:pathLst>
              <a:path h="3177168" w="1444167">
                <a:moveTo>
                  <a:pt x="0" y="0"/>
                </a:moveTo>
                <a:lnTo>
                  <a:pt x="1444168" y="0"/>
                </a:lnTo>
                <a:lnTo>
                  <a:pt x="1444168" y="3177169"/>
                </a:lnTo>
                <a:lnTo>
                  <a:pt x="0" y="31771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0765900" y="7993298"/>
            <a:ext cx="5332733" cy="5482248"/>
          </a:xfrm>
          <a:custGeom>
            <a:avLst/>
            <a:gdLst/>
            <a:ahLst/>
            <a:cxnLst/>
            <a:rect r="r" b="b" t="t" l="l"/>
            <a:pathLst>
              <a:path h="5482248" w="5332733">
                <a:moveTo>
                  <a:pt x="0" y="0"/>
                </a:moveTo>
                <a:lnTo>
                  <a:pt x="5332733" y="0"/>
                </a:lnTo>
                <a:lnTo>
                  <a:pt x="5332733" y="5482248"/>
                </a:lnTo>
                <a:lnTo>
                  <a:pt x="0" y="548224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2727468" y="7513847"/>
            <a:ext cx="2478206" cy="1896954"/>
          </a:xfrm>
          <a:custGeom>
            <a:avLst/>
            <a:gdLst/>
            <a:ahLst/>
            <a:cxnLst/>
            <a:rect r="r" b="b" t="t" l="l"/>
            <a:pathLst>
              <a:path h="1896954" w="2478206">
                <a:moveTo>
                  <a:pt x="0" y="0"/>
                </a:moveTo>
                <a:lnTo>
                  <a:pt x="2478206" y="0"/>
                </a:lnTo>
                <a:lnTo>
                  <a:pt x="2478206" y="1896954"/>
                </a:lnTo>
                <a:lnTo>
                  <a:pt x="0" y="189695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13" id="13"/>
          <p:cNvGrpSpPr/>
          <p:nvPr/>
        </p:nvGrpSpPr>
        <p:grpSpPr>
          <a:xfrm rot="0">
            <a:off x="3966571" y="2148696"/>
            <a:ext cx="11300547" cy="6869484"/>
            <a:chOff x="0" y="0"/>
            <a:chExt cx="15067396" cy="9159312"/>
          </a:xfrm>
        </p:grpSpPr>
        <p:sp>
          <p:nvSpPr>
            <p:cNvPr name="TextBox 14" id="14"/>
            <p:cNvSpPr txBox="true"/>
            <p:nvPr/>
          </p:nvSpPr>
          <p:spPr>
            <a:xfrm rot="0">
              <a:off x="0" y="1781229"/>
              <a:ext cx="15067396" cy="7378065"/>
            </a:xfrm>
            <a:prstGeom prst="rect">
              <a:avLst/>
            </a:prstGeom>
          </p:spPr>
          <p:txBody>
            <a:bodyPr anchor="t" rtlCol="false" tIns="0" lIns="0" bIns="0" rIns="0">
              <a:spAutoFit/>
            </a:bodyPr>
            <a:lstStyle/>
            <a:p>
              <a:pPr algn="l" marL="906780" indent="-453390" lvl="1">
                <a:lnSpc>
                  <a:spcPts val="6300"/>
                </a:lnSpc>
                <a:buFont typeface="Arial"/>
                <a:buChar char="•"/>
              </a:pPr>
              <a:r>
                <a:rPr lang="en-US" b="true" sz="4200">
                  <a:solidFill>
                    <a:srgbClr val="000000"/>
                  </a:solidFill>
                  <a:latin typeface="Cabin Medium"/>
                  <a:ea typeface="Cabin Medium"/>
                  <a:cs typeface="Cabin Medium"/>
                  <a:sym typeface="Cabin Medium"/>
                </a:rPr>
                <a:t>Thiết kế giao diện hợp lý giúp cải thiện</a:t>
              </a:r>
              <a:r>
                <a:rPr lang="en-US" b="true" sz="4200">
                  <a:solidFill>
                    <a:srgbClr val="000000"/>
                  </a:solidFill>
                  <a:latin typeface="Cabin Medium"/>
                  <a:ea typeface="Cabin Medium"/>
                  <a:cs typeface="Cabin Medium"/>
                  <a:sym typeface="Cabin Medium"/>
                </a:rPr>
                <a:t> trải nghiệm người dùng.</a:t>
              </a:r>
            </a:p>
            <a:p>
              <a:pPr algn="l" marL="906780" indent="-453390" lvl="1">
                <a:lnSpc>
                  <a:spcPts val="6300"/>
                </a:lnSpc>
                <a:buFont typeface="Arial"/>
                <a:buChar char="•"/>
              </a:pPr>
              <a:r>
                <a:rPr lang="en-US" b="true" sz="4200">
                  <a:solidFill>
                    <a:srgbClr val="000000"/>
                  </a:solidFill>
                  <a:latin typeface="Cabin Medium"/>
                  <a:ea typeface="Cabin Medium"/>
                  <a:cs typeface="Cabin Medium"/>
                  <a:sym typeface="Cabin Medium"/>
                </a:rPr>
                <a:t>Chọn đúng control giúp tối ưu hiển thị và giảm lỗi nhập liệu.</a:t>
              </a:r>
            </a:p>
            <a:p>
              <a:pPr algn="l" marL="906780" indent="-453390" lvl="1">
                <a:lnSpc>
                  <a:spcPts val="6300"/>
                </a:lnSpc>
                <a:buFont typeface="Arial"/>
                <a:buChar char="•"/>
              </a:pPr>
              <a:r>
                <a:rPr lang="en-US" b="true" sz="4200">
                  <a:solidFill>
                    <a:srgbClr val="000000"/>
                  </a:solidFill>
                  <a:latin typeface="Cabin Medium"/>
                  <a:ea typeface="Cabin Medium"/>
                  <a:cs typeface="Cabin Medium"/>
                  <a:sym typeface="Cabin Medium"/>
                </a:rPr>
                <a:t>Kết hợp User Control để tăng tính linh hoạt.</a:t>
              </a:r>
            </a:p>
            <a:p>
              <a:pPr algn="l" marL="0" indent="0" lvl="0">
                <a:lnSpc>
                  <a:spcPts val="6300"/>
                </a:lnSpc>
              </a:pPr>
            </a:p>
            <a:p>
              <a:pPr algn="l" marL="0" indent="0" lvl="0">
                <a:lnSpc>
                  <a:spcPts val="6300"/>
                </a:lnSpc>
              </a:pPr>
            </a:p>
          </p:txBody>
        </p:sp>
        <p:sp>
          <p:nvSpPr>
            <p:cNvPr name="TextBox 15" id="15"/>
            <p:cNvSpPr txBox="true"/>
            <p:nvPr/>
          </p:nvSpPr>
          <p:spPr>
            <a:xfrm rot="0">
              <a:off x="0" y="18"/>
              <a:ext cx="15067396" cy="1460500"/>
            </a:xfrm>
            <a:prstGeom prst="rect">
              <a:avLst/>
            </a:prstGeom>
          </p:spPr>
          <p:txBody>
            <a:bodyPr anchor="t" rtlCol="false" tIns="0" lIns="0" bIns="0" rIns="0">
              <a:spAutoFit/>
            </a:bodyPr>
            <a:lstStyle/>
            <a:p>
              <a:pPr algn="l">
                <a:lnSpc>
                  <a:spcPts val="8640"/>
                </a:lnSpc>
                <a:spcBef>
                  <a:spcPct val="0"/>
                </a:spcBef>
              </a:pPr>
              <a:r>
                <a:rPr lang="en-US" b="true" sz="7200">
                  <a:solidFill>
                    <a:srgbClr val="000000"/>
                  </a:solidFill>
                  <a:latin typeface="Cabin Bold"/>
                  <a:ea typeface="Cabin Bold"/>
                  <a:cs typeface="Cabin Bold"/>
                  <a:sym typeface="Cabin Bold"/>
                </a:rPr>
                <a:t>Kết luận: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DAGgq4uUAoQ</dc:identifier>
  <dcterms:modified xsi:type="dcterms:W3CDTF">2011-08-01T06:04:30Z</dcterms:modified>
  <cp:revision>1</cp:revision>
  <dc:title>CONTROLS</dc:title>
</cp:coreProperties>
</file>