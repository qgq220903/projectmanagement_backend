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x="18288000" cy="10287000"/>
  <p:notesSz cx="6858000" cy="9144000"/>
  <p:embeddedFontLst>
    <p:embeddedFont>
      <p:font typeface="Josefin Sans Bold" charset="1" panose="00000800000000000000"/>
      <p:regular r:id="rId62"/>
    </p:embeddedFont>
    <p:embeddedFont>
      <p:font typeface="Josefin Sans" charset="1" panose="00000500000000000000"/>
      <p:regular r:id="rId63"/>
    </p:embeddedFont>
    <p:embeddedFont>
      <p:font typeface="Canva Sans Bold" charset="1" panose="020B0803030501040103"/>
      <p:regular r:id="rId64"/>
    </p:embeddedFont>
    <p:embeddedFont>
      <p:font typeface="Canva Sans" charset="1" panose="020B0503030501040103"/>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9144000" y="2977774"/>
            <a:ext cx="8217084" cy="3678342"/>
            <a:chOff x="0" y="0"/>
            <a:chExt cx="10956112" cy="4904456"/>
          </a:xfrm>
        </p:grpSpPr>
        <p:sp>
          <p:nvSpPr>
            <p:cNvPr name="TextBox 3" id="3"/>
            <p:cNvSpPr txBox="true"/>
            <p:nvPr/>
          </p:nvSpPr>
          <p:spPr>
            <a:xfrm rot="0">
              <a:off x="0" y="1688739"/>
              <a:ext cx="10956112" cy="1494620"/>
            </a:xfrm>
            <a:prstGeom prst="rect">
              <a:avLst/>
            </a:prstGeom>
          </p:spPr>
          <p:txBody>
            <a:bodyPr anchor="t" rtlCol="false" tIns="0" lIns="0" bIns="0" rIns="0">
              <a:spAutoFit/>
            </a:bodyPr>
            <a:lstStyle/>
            <a:p>
              <a:pPr algn="l">
                <a:lnSpc>
                  <a:spcPts val="8595"/>
                </a:lnSpc>
              </a:pPr>
              <a:r>
                <a:rPr lang="en-US" sz="7674" b="true">
                  <a:solidFill>
                    <a:srgbClr val="F7B4A7"/>
                  </a:solidFill>
                  <a:latin typeface="Josefin Sans Bold"/>
                  <a:ea typeface="Josefin Sans Bold"/>
                  <a:cs typeface="Josefin Sans Bold"/>
                  <a:sym typeface="Josefin Sans Bold"/>
                </a:rPr>
                <a:t>User &amp; Usability </a:t>
              </a:r>
            </a:p>
          </p:txBody>
        </p:sp>
        <p:sp>
          <p:nvSpPr>
            <p:cNvPr name="TextBox 4" id="4"/>
            <p:cNvSpPr txBox="true"/>
            <p:nvPr/>
          </p:nvSpPr>
          <p:spPr>
            <a:xfrm rot="0">
              <a:off x="0" y="-71755"/>
              <a:ext cx="10956112" cy="544195"/>
            </a:xfrm>
            <a:prstGeom prst="rect">
              <a:avLst/>
            </a:prstGeom>
          </p:spPr>
          <p:txBody>
            <a:bodyPr anchor="t" rtlCol="false" tIns="0" lIns="0" bIns="0" rIns="0">
              <a:spAutoFit/>
            </a:bodyPr>
            <a:lstStyle/>
            <a:p>
              <a:pPr algn="ctr">
                <a:lnSpc>
                  <a:spcPts val="3359"/>
                </a:lnSpc>
              </a:pPr>
              <a:r>
                <a:rPr lang="en-US" sz="2400" spc="446">
                  <a:solidFill>
                    <a:srgbClr val="94DDDE"/>
                  </a:solidFill>
                  <a:latin typeface="Josefin Sans"/>
                  <a:ea typeface="Josefin Sans"/>
                  <a:cs typeface="Josefin Sans"/>
                  <a:sym typeface="Josefin Sans"/>
                </a:rPr>
                <a:t>CHƯƠNG 3</a:t>
              </a:r>
            </a:p>
          </p:txBody>
        </p:sp>
        <p:sp>
          <p:nvSpPr>
            <p:cNvPr name="TextBox 5" id="5"/>
            <p:cNvSpPr txBox="true"/>
            <p:nvPr/>
          </p:nvSpPr>
          <p:spPr>
            <a:xfrm rot="0">
              <a:off x="0" y="4149229"/>
              <a:ext cx="10956112" cy="761153"/>
            </a:xfrm>
            <a:prstGeom prst="rect">
              <a:avLst/>
            </a:prstGeom>
          </p:spPr>
          <p:txBody>
            <a:bodyPr anchor="t" rtlCol="false" tIns="0" lIns="0" bIns="0" rIns="0">
              <a:spAutoFit/>
            </a:bodyPr>
            <a:lstStyle/>
            <a:p>
              <a:pPr algn="l">
                <a:lnSpc>
                  <a:spcPts val="4760"/>
                </a:lnSpc>
              </a:pPr>
            </a:p>
          </p:txBody>
        </p:sp>
      </p:grpSp>
      <p:sp>
        <p:nvSpPr>
          <p:cNvPr name="Freeform 6" id="6"/>
          <p:cNvSpPr/>
          <p:nvPr/>
        </p:nvSpPr>
        <p:spPr>
          <a:xfrm flipH="false" flipV="false" rot="0">
            <a:off x="1182834" y="-1921745"/>
            <a:ext cx="6755642" cy="4114800"/>
          </a:xfrm>
          <a:custGeom>
            <a:avLst/>
            <a:gdLst/>
            <a:ahLst/>
            <a:cxnLst/>
            <a:rect r="r" b="b" t="t" l="l"/>
            <a:pathLst>
              <a:path h="4114800" w="6755642">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303834" y="1790711"/>
            <a:ext cx="1194327" cy="2586142"/>
          </a:xfrm>
          <a:custGeom>
            <a:avLst/>
            <a:gdLst/>
            <a:ahLst/>
            <a:cxnLst/>
            <a:rect r="r" b="b" t="t" l="l"/>
            <a:pathLst>
              <a:path h="2586142" w="1194327">
                <a:moveTo>
                  <a:pt x="0" y="0"/>
                </a:moveTo>
                <a:lnTo>
                  <a:pt x="1194327" y="0"/>
                </a:lnTo>
                <a:lnTo>
                  <a:pt x="1194327"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2095190" y="2021154"/>
            <a:ext cx="5357753" cy="5591583"/>
          </a:xfrm>
          <a:custGeom>
            <a:avLst/>
            <a:gdLst/>
            <a:ahLst/>
            <a:cxnLst/>
            <a:rect r="r" b="b" t="t" l="l"/>
            <a:pathLst>
              <a:path h="5591583" w="5357753">
                <a:moveTo>
                  <a:pt x="5357753" y="0"/>
                </a:moveTo>
                <a:lnTo>
                  <a:pt x="0" y="0"/>
                </a:lnTo>
                <a:lnTo>
                  <a:pt x="0" y="5591582"/>
                </a:lnTo>
                <a:lnTo>
                  <a:pt x="5357753" y="5591582"/>
                </a:lnTo>
                <a:lnTo>
                  <a:pt x="535775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47148" y="1264426"/>
            <a:ext cx="3144039" cy="2440918"/>
          </a:xfrm>
          <a:custGeom>
            <a:avLst/>
            <a:gdLst/>
            <a:ahLst/>
            <a:cxnLst/>
            <a:rect r="r" b="b" t="t" l="l"/>
            <a:pathLst>
              <a:path h="2440918" w="3144039">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24872" y="5005800"/>
            <a:ext cx="1894295" cy="4252500"/>
          </a:xfrm>
          <a:custGeom>
            <a:avLst/>
            <a:gdLst/>
            <a:ahLst/>
            <a:cxnLst/>
            <a:rect r="r" b="b" t="t" l="l"/>
            <a:pathLst>
              <a:path h="4252500" w="1894295">
                <a:moveTo>
                  <a:pt x="0" y="0"/>
                </a:moveTo>
                <a:lnTo>
                  <a:pt x="1894295" y="0"/>
                </a:lnTo>
                <a:lnTo>
                  <a:pt x="1894295" y="4252500"/>
                </a:lnTo>
                <a:lnTo>
                  <a:pt x="0" y="42525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4011803" y="7612736"/>
            <a:ext cx="3486358" cy="4114800"/>
          </a:xfrm>
          <a:custGeom>
            <a:avLst/>
            <a:gdLst/>
            <a:ahLst/>
            <a:cxnLst/>
            <a:rect r="r" b="b" t="t" l="l"/>
            <a:pathLst>
              <a:path h="4114800" w="3486358">
                <a:moveTo>
                  <a:pt x="0" y="0"/>
                </a:moveTo>
                <a:lnTo>
                  <a:pt x="3486358" y="0"/>
                </a:lnTo>
                <a:lnTo>
                  <a:pt x="34863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9160534" y="1362456"/>
            <a:ext cx="5042831" cy="962025"/>
          </a:xfrm>
          <a:prstGeom prst="rect">
            <a:avLst/>
          </a:prstGeom>
        </p:spPr>
        <p:txBody>
          <a:bodyPr anchor="t" rtlCol="false" tIns="0" lIns="0" bIns="0" rIns="0">
            <a:spAutoFit/>
          </a:bodyPr>
          <a:lstStyle/>
          <a:p>
            <a:pPr algn="l">
              <a:lnSpc>
                <a:spcPts val="7559"/>
              </a:lnSpc>
            </a:pPr>
            <a:r>
              <a:rPr lang="en-US" sz="6299" b="true">
                <a:solidFill>
                  <a:srgbClr val="F7B4A7"/>
                </a:solidFill>
                <a:latin typeface="Josefin Sans Bold"/>
                <a:ea typeface="Josefin Sans Bold"/>
                <a:cs typeface="Josefin Sans Bold"/>
                <a:sym typeface="Josefin Sans Bold"/>
              </a:rPr>
              <a:t>NỘI DUNG</a:t>
            </a:r>
          </a:p>
        </p:txBody>
      </p:sp>
      <p:sp>
        <p:nvSpPr>
          <p:cNvPr name="TextBox 3" id="3"/>
          <p:cNvSpPr txBox="true"/>
          <p:nvPr/>
        </p:nvSpPr>
        <p:spPr>
          <a:xfrm rot="0">
            <a:off x="9160534" y="3086093"/>
            <a:ext cx="5653279" cy="751522"/>
          </a:xfrm>
          <a:prstGeom prst="rect">
            <a:avLst/>
          </a:prstGeom>
        </p:spPr>
        <p:txBody>
          <a:bodyPr anchor="t" rtlCol="false" tIns="0" lIns="0" bIns="0" rIns="0">
            <a:spAutoFit/>
          </a:bodyPr>
          <a:lstStyle/>
          <a:p>
            <a:pPr algn="l">
              <a:lnSpc>
                <a:spcPts val="3052"/>
              </a:lnSpc>
            </a:pPr>
            <a:r>
              <a:rPr lang="en-US" sz="1849" spc="221">
                <a:solidFill>
                  <a:srgbClr val="94DDDE"/>
                </a:solidFill>
                <a:latin typeface="Josefin Sans"/>
                <a:ea typeface="Josefin Sans"/>
                <a:cs typeface="Josefin Sans"/>
                <a:sym typeface="Josefin Sans"/>
              </a:rPr>
              <a:t>CÁC CHỦ ĐỀ CHÍNH ĐƯỢC THẢO LUẬN TRONG BẢN THUYẾT TRÌNH NÀY</a:t>
            </a:r>
          </a:p>
        </p:txBody>
      </p:sp>
      <p:sp>
        <p:nvSpPr>
          <p:cNvPr name="TextBox 4" id="4"/>
          <p:cNvSpPr txBox="true"/>
          <p:nvPr/>
        </p:nvSpPr>
        <p:spPr>
          <a:xfrm rot="0">
            <a:off x="8799279" y="4753009"/>
            <a:ext cx="8592473" cy="3947795"/>
          </a:xfrm>
          <a:prstGeom prst="rect">
            <a:avLst/>
          </a:prstGeom>
        </p:spPr>
        <p:txBody>
          <a:bodyPr anchor="t" rtlCol="false" tIns="0" lIns="0" bIns="0" rIns="0">
            <a:spAutoFit/>
          </a:bodyPr>
          <a:lstStyle/>
          <a:p>
            <a:pPr algn="just">
              <a:lnSpc>
                <a:spcPts val="3955"/>
              </a:lnSpc>
            </a:pPr>
            <a:r>
              <a:rPr lang="en-US" sz="2825">
                <a:solidFill>
                  <a:srgbClr val="94DDDE"/>
                </a:solidFill>
                <a:latin typeface="Josefin Sans"/>
                <a:ea typeface="Josefin Sans"/>
                <a:cs typeface="Josefin Sans"/>
                <a:sym typeface="Josefin Sans"/>
              </a:rPr>
              <a:t>User (Người dùng)</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1. Giới thiệu</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2. Mô hình xử lý thông tin của con người</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3. Quá trình nhận thức</a:t>
            </a:r>
          </a:p>
          <a:p>
            <a:pPr algn="just">
              <a:lnSpc>
                <a:spcPts val="3955"/>
              </a:lnSpc>
            </a:pPr>
            <a:r>
              <a:rPr lang="en-US" sz="2825">
                <a:solidFill>
                  <a:srgbClr val="94DDDE"/>
                </a:solidFill>
                <a:latin typeface="Josefin Sans"/>
                <a:ea typeface="Josefin Sans"/>
                <a:cs typeface="Josefin Sans"/>
                <a:sym typeface="Josefin Sans"/>
              </a:rPr>
              <a:t>Usability (Tính khả dụng)</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1. Khái niệm</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2. Các thành phần của tính khả dụng</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3. Nguyên tắc thiết kế tính khả dụng</a:t>
            </a:r>
          </a:p>
        </p:txBody>
      </p:sp>
      <p:sp>
        <p:nvSpPr>
          <p:cNvPr name="Freeform 5" id="5"/>
          <p:cNvSpPr/>
          <p:nvPr/>
        </p:nvSpPr>
        <p:spPr>
          <a:xfrm flipH="false" flipV="false" rot="0">
            <a:off x="1309758" y="1684366"/>
            <a:ext cx="3874545" cy="5122596"/>
          </a:xfrm>
          <a:custGeom>
            <a:avLst/>
            <a:gdLst/>
            <a:ahLst/>
            <a:cxnLst/>
            <a:rect r="r" b="b" t="t" l="l"/>
            <a:pathLst>
              <a:path h="5122596" w="3874545">
                <a:moveTo>
                  <a:pt x="0" y="0"/>
                </a:moveTo>
                <a:lnTo>
                  <a:pt x="3874546" y="0"/>
                </a:lnTo>
                <a:lnTo>
                  <a:pt x="3874546" y="5122596"/>
                </a:lnTo>
                <a:lnTo>
                  <a:pt x="0" y="5122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380976" y="2475095"/>
            <a:ext cx="3874545" cy="5122596"/>
          </a:xfrm>
          <a:custGeom>
            <a:avLst/>
            <a:gdLst/>
            <a:ahLst/>
            <a:cxnLst/>
            <a:rect r="r" b="b" t="t" l="l"/>
            <a:pathLst>
              <a:path h="5122596" w="3874545">
                <a:moveTo>
                  <a:pt x="0" y="0"/>
                </a:moveTo>
                <a:lnTo>
                  <a:pt x="3874545" y="0"/>
                </a:lnTo>
                <a:lnTo>
                  <a:pt x="3874545" y="5122595"/>
                </a:lnTo>
                <a:lnTo>
                  <a:pt x="0" y="51225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495732" y="3214319"/>
            <a:ext cx="3874545" cy="5122596"/>
          </a:xfrm>
          <a:custGeom>
            <a:avLst/>
            <a:gdLst/>
            <a:ahLst/>
            <a:cxnLst/>
            <a:rect r="r" b="b" t="t" l="l"/>
            <a:pathLst>
              <a:path h="5122596" w="3874545">
                <a:moveTo>
                  <a:pt x="0" y="0"/>
                </a:moveTo>
                <a:lnTo>
                  <a:pt x="3874545" y="0"/>
                </a:lnTo>
                <a:lnTo>
                  <a:pt x="3874545" y="5122596"/>
                </a:lnTo>
                <a:lnTo>
                  <a:pt x="0" y="5122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2076131"/>
            <a:ext cx="9358913" cy="4702810"/>
          </a:xfrm>
          <a:prstGeom prst="rect">
            <a:avLst/>
          </a:prstGeom>
        </p:spPr>
        <p:txBody>
          <a:bodyPr anchor="t" rtlCol="false" tIns="0" lIns="0" bIns="0" rIns="0">
            <a:spAutoFit/>
          </a:bodyPr>
          <a:lstStyle/>
          <a:p>
            <a:pPr algn="l" marL="690881" indent="-345440" lvl="1">
              <a:lnSpc>
                <a:spcPts val="4160"/>
              </a:lnSpc>
              <a:buFont typeface="Arial"/>
              <a:buChar char="•"/>
            </a:pPr>
            <a:r>
              <a:rPr lang="en-US" sz="3200">
                <a:solidFill>
                  <a:srgbClr val="2B4B82"/>
                </a:solidFill>
                <a:latin typeface="Josefin Sans"/>
                <a:ea typeface="Josefin Sans"/>
                <a:cs typeface="Josefin Sans"/>
                <a:sym typeface="Josefin Sans"/>
              </a:rPr>
              <a:t>Con người trong </a:t>
            </a:r>
            <a:r>
              <a:rPr lang="en-US" b="true" sz="3200">
                <a:solidFill>
                  <a:srgbClr val="2B4B82"/>
                </a:solidFill>
                <a:latin typeface="Josefin Sans Bold"/>
                <a:ea typeface="Josefin Sans Bold"/>
                <a:cs typeface="Josefin Sans Bold"/>
                <a:sym typeface="Josefin Sans Bold"/>
              </a:rPr>
              <a:t>HCI </a:t>
            </a:r>
            <a:r>
              <a:rPr lang="en-US" sz="3200">
                <a:solidFill>
                  <a:srgbClr val="2B4B82"/>
                </a:solidFill>
                <a:latin typeface="Josefin Sans"/>
                <a:ea typeface="Josefin Sans"/>
                <a:cs typeface="Josefin Sans"/>
                <a:sym typeface="Josefin Sans"/>
              </a:rPr>
              <a:t>(Tương tác Người - Máy)</a:t>
            </a:r>
          </a:p>
          <a:p>
            <a:pPr algn="l" marL="690881" indent="-345440" lvl="1">
              <a:lnSpc>
                <a:spcPts val="4160"/>
              </a:lnSpc>
              <a:buFont typeface="Arial"/>
              <a:buChar char="•"/>
            </a:pPr>
            <a:r>
              <a:rPr lang="en-US" sz="3200">
                <a:solidFill>
                  <a:srgbClr val="2B4B82"/>
                </a:solidFill>
                <a:latin typeface="Josefin Sans"/>
                <a:ea typeface="Josefin Sans"/>
                <a:cs typeface="Josefin Sans"/>
                <a:sym typeface="Josefin Sans"/>
              </a:rPr>
              <a:t>Con người là mục tiêu tối thượng của tất cả các hệ thống.</a:t>
            </a:r>
          </a:p>
          <a:p>
            <a:pPr algn="l" marL="690881" indent="-345440" lvl="1">
              <a:lnSpc>
                <a:spcPts val="4160"/>
              </a:lnSpc>
              <a:buFont typeface="Arial"/>
              <a:buChar char="•"/>
            </a:pPr>
            <a:r>
              <a:rPr lang="en-US" sz="3200">
                <a:solidFill>
                  <a:srgbClr val="2B4B82"/>
                </a:solidFill>
                <a:latin typeface="Josefin Sans"/>
                <a:ea typeface="Josefin Sans"/>
                <a:cs typeface="Josefin Sans"/>
                <a:sym typeface="Josefin Sans"/>
              </a:rPr>
              <a:t>Cần hiểu rõ về người dùng:</a:t>
            </a:r>
          </a:p>
          <a:p>
            <a:pPr algn="l" marL="1381761" indent="-460587" lvl="2">
              <a:lnSpc>
                <a:spcPts val="4160"/>
              </a:lnSpc>
              <a:buFont typeface="Arial"/>
              <a:buChar char="⚬"/>
            </a:pPr>
            <a:r>
              <a:rPr lang="en-US" sz="3200">
                <a:solidFill>
                  <a:srgbClr val="2B4B82"/>
                </a:solidFill>
                <a:latin typeface="Josefin Sans"/>
                <a:ea typeface="Josefin Sans"/>
                <a:cs typeface="Josefin Sans"/>
                <a:sym typeface="Josefin Sans"/>
              </a:rPr>
              <a:t>Khả năng</a:t>
            </a:r>
          </a:p>
          <a:p>
            <a:pPr algn="l" marL="1381761" indent="-460587" lvl="2">
              <a:lnSpc>
                <a:spcPts val="4160"/>
              </a:lnSpc>
              <a:buFont typeface="Arial"/>
              <a:buChar char="⚬"/>
            </a:pPr>
            <a:r>
              <a:rPr lang="en-US" sz="3200">
                <a:solidFill>
                  <a:srgbClr val="2B4B82"/>
                </a:solidFill>
                <a:latin typeface="Josefin Sans"/>
                <a:ea typeface="Josefin Sans"/>
                <a:cs typeface="Josefin Sans"/>
                <a:sym typeface="Josefin Sans"/>
              </a:rPr>
              <a:t>Thói quen</a:t>
            </a:r>
          </a:p>
          <a:p>
            <a:pPr algn="l" marL="1381761" indent="-460587" lvl="2">
              <a:lnSpc>
                <a:spcPts val="4160"/>
              </a:lnSpc>
              <a:buFont typeface="Arial"/>
              <a:buChar char="⚬"/>
            </a:pPr>
            <a:r>
              <a:rPr lang="en-US" sz="3200">
                <a:solidFill>
                  <a:srgbClr val="2B4B82"/>
                </a:solidFill>
                <a:latin typeface="Josefin Sans"/>
                <a:ea typeface="Josefin Sans"/>
                <a:cs typeface="Josefin Sans"/>
                <a:sym typeface="Josefin Sans"/>
              </a:rPr>
              <a:t>Lỗi &amp; sai sót</a:t>
            </a:r>
          </a:p>
          <a:p>
            <a:pPr algn="l" marL="1381761" indent="-460587" lvl="2">
              <a:lnSpc>
                <a:spcPts val="4160"/>
              </a:lnSpc>
              <a:buFont typeface="Arial"/>
              <a:buChar char="⚬"/>
            </a:pPr>
            <a:r>
              <a:rPr lang="en-US" sz="3200">
                <a:solidFill>
                  <a:srgbClr val="2B4B82"/>
                </a:solidFill>
                <a:latin typeface="Josefin Sans"/>
                <a:ea typeface="Josefin Sans"/>
                <a:cs typeface="Josefin Sans"/>
                <a:sym typeface="Josefin Sans"/>
              </a:rPr>
              <a:t>Quá trình nhận thức</a:t>
            </a:r>
          </a:p>
          <a:p>
            <a:pPr algn="l">
              <a:lnSpc>
                <a:spcPts val="4160"/>
              </a:lnSpc>
            </a:pPr>
          </a:p>
        </p:txBody>
      </p:sp>
      <p:sp>
        <p:nvSpPr>
          <p:cNvPr name="Freeform 3" id="3"/>
          <p:cNvSpPr/>
          <p:nvPr/>
        </p:nvSpPr>
        <p:spPr>
          <a:xfrm flipH="false" flipV="false" rot="0">
            <a:off x="7280700" y="4954776"/>
            <a:ext cx="1874759" cy="532629"/>
          </a:xfrm>
          <a:custGeom>
            <a:avLst/>
            <a:gdLst/>
            <a:ahLst/>
            <a:cxnLst/>
            <a:rect r="r" b="b" t="t" l="l"/>
            <a:pathLst>
              <a:path h="532629" w="1874759">
                <a:moveTo>
                  <a:pt x="0" y="0"/>
                </a:moveTo>
                <a:lnTo>
                  <a:pt x="1874759" y="0"/>
                </a:lnTo>
                <a:lnTo>
                  <a:pt x="1874759" y="532628"/>
                </a:lnTo>
                <a:lnTo>
                  <a:pt x="0" y="5326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040111" y="5937771"/>
            <a:ext cx="5512455" cy="4919866"/>
          </a:xfrm>
          <a:custGeom>
            <a:avLst/>
            <a:gdLst/>
            <a:ahLst/>
            <a:cxnLst/>
            <a:rect r="r" b="b" t="t" l="l"/>
            <a:pathLst>
              <a:path h="4919866" w="5512455">
                <a:moveTo>
                  <a:pt x="0" y="0"/>
                </a:moveTo>
                <a:lnTo>
                  <a:pt x="5512455" y="0"/>
                </a:lnTo>
                <a:lnTo>
                  <a:pt x="5512455" y="4919866"/>
                </a:lnTo>
                <a:lnTo>
                  <a:pt x="0" y="4919866"/>
                </a:lnTo>
                <a:lnTo>
                  <a:pt x="0" y="0"/>
                </a:lnTo>
                <a:close/>
              </a:path>
            </a:pathLst>
          </a:custGeom>
          <a:blipFill>
            <a:blip r:embed="rId4"/>
            <a:stretch>
              <a:fillRect l="0" t="0" r="0" b="0"/>
            </a:stretch>
          </a:blipFill>
        </p:spPr>
      </p:sp>
      <p:sp>
        <p:nvSpPr>
          <p:cNvPr name="TextBox 5" id="5"/>
          <p:cNvSpPr txBox="true"/>
          <p:nvPr/>
        </p:nvSpPr>
        <p:spPr>
          <a:xfrm rot="0">
            <a:off x="6598395" y="654622"/>
            <a:ext cx="5558195" cy="767207"/>
          </a:xfrm>
          <a:prstGeom prst="rect">
            <a:avLst/>
          </a:prstGeom>
        </p:spPr>
        <p:txBody>
          <a:bodyPr anchor="t" rtlCol="false" tIns="0" lIns="0" bIns="0" rIns="0">
            <a:spAutoFit/>
          </a:bodyPr>
          <a:lstStyle/>
          <a:p>
            <a:pPr algn="ctr">
              <a:lnSpc>
                <a:spcPts val="5823"/>
              </a:lnSpc>
              <a:spcBef>
                <a:spcPct val="0"/>
              </a:spcBef>
            </a:pPr>
            <a:r>
              <a:rPr lang="en-US" b="true" sz="5199">
                <a:solidFill>
                  <a:srgbClr val="2B4B82"/>
                </a:solidFill>
                <a:latin typeface="Josefin Sans Bold"/>
                <a:ea typeface="Josefin Sans Bold"/>
                <a:cs typeface="Josefin Sans Bold"/>
                <a:sym typeface="Josefin Sans Bold"/>
              </a:rPr>
              <a:t>Users – Giới thiệu</a:t>
            </a:r>
          </a:p>
        </p:txBody>
      </p:sp>
      <p:sp>
        <p:nvSpPr>
          <p:cNvPr name="TextBox 6" id="6"/>
          <p:cNvSpPr txBox="true"/>
          <p:nvPr/>
        </p:nvSpPr>
        <p:spPr>
          <a:xfrm rot="0">
            <a:off x="9640867" y="5035792"/>
            <a:ext cx="6798487" cy="451612"/>
          </a:xfrm>
          <a:prstGeom prst="rect">
            <a:avLst/>
          </a:prstGeom>
        </p:spPr>
        <p:txBody>
          <a:bodyPr anchor="t" rtlCol="false" tIns="0" lIns="0" bIns="0" rIns="0">
            <a:spAutoFit/>
          </a:bodyPr>
          <a:lstStyle/>
          <a:p>
            <a:pPr algn="ctr">
              <a:lnSpc>
                <a:spcPts val="3584"/>
              </a:lnSpc>
              <a:spcBef>
                <a:spcPct val="0"/>
              </a:spcBef>
            </a:pPr>
            <a:r>
              <a:rPr lang="en-US" b="true" sz="3200">
                <a:solidFill>
                  <a:srgbClr val="2B4B82"/>
                </a:solidFill>
                <a:latin typeface="Josefin Sans Bold"/>
                <a:ea typeface="Josefin Sans Bold"/>
                <a:cs typeface="Josefin Sans Bold"/>
                <a:sym typeface="Josefin Sans Bold"/>
              </a:rPr>
              <a:t> khi sử dụng hệ thống tương tác</a:t>
            </a:r>
          </a:p>
        </p:txBody>
      </p:sp>
      <p:sp>
        <p:nvSpPr>
          <p:cNvPr name="TextBox 7" id="7"/>
          <p:cNvSpPr txBox="true"/>
          <p:nvPr/>
        </p:nvSpPr>
        <p:spPr>
          <a:xfrm rot="0">
            <a:off x="6598395" y="4367254"/>
            <a:ext cx="682305" cy="1945797"/>
          </a:xfrm>
          <a:prstGeom prst="rect">
            <a:avLst/>
          </a:prstGeom>
        </p:spPr>
        <p:txBody>
          <a:bodyPr anchor="t" rtlCol="false" tIns="0" lIns="0" bIns="0" rIns="0">
            <a:spAutoFit/>
          </a:bodyPr>
          <a:lstStyle/>
          <a:p>
            <a:pPr algn="ctr">
              <a:lnSpc>
                <a:spcPts val="15004"/>
              </a:lnSpc>
              <a:spcBef>
                <a:spcPct val="0"/>
              </a:spcBef>
            </a:pPr>
            <a:r>
              <a:rPr lang="en-US" b="true" sz="13397">
                <a:solidFill>
                  <a:srgbClr val="2B4B82"/>
                </a:solidFill>
                <a:latin typeface="Josefin Sans Bold"/>
                <a:ea typeface="Josefin Sans Bold"/>
                <a:cs typeface="Josefin Sans Bold"/>
                <a:sym typeface="Josefin Sans Bold"/>
              </a:rPr>
              <a:t>}</a:t>
            </a:r>
          </a:p>
        </p:txBody>
      </p:sp>
      <p:sp>
        <p:nvSpPr>
          <p:cNvPr name="TextBox 8" id="8"/>
          <p:cNvSpPr txBox="true"/>
          <p:nvPr/>
        </p:nvSpPr>
        <p:spPr>
          <a:xfrm rot="0">
            <a:off x="13281181" y="7031353"/>
            <a:ext cx="1954802" cy="468156"/>
          </a:xfrm>
          <a:prstGeom prst="rect">
            <a:avLst/>
          </a:prstGeom>
        </p:spPr>
        <p:txBody>
          <a:bodyPr anchor="t" rtlCol="false" tIns="0" lIns="0" bIns="0" rIns="0">
            <a:spAutoFit/>
          </a:bodyPr>
          <a:lstStyle/>
          <a:p>
            <a:pPr algn="ctr">
              <a:lnSpc>
                <a:spcPts val="3625"/>
              </a:lnSpc>
              <a:spcBef>
                <a:spcPct val="0"/>
              </a:spcBef>
            </a:pPr>
            <a:r>
              <a:rPr lang="en-US" b="true" sz="3021">
                <a:solidFill>
                  <a:srgbClr val="2B4B82"/>
                </a:solidFill>
                <a:latin typeface="Josefin Sans Bold"/>
                <a:ea typeface="Josefin Sans Bold"/>
                <a:cs typeface="Josefin Sans Bold"/>
                <a:sym typeface="Josefin Sans Bold"/>
              </a:rPr>
              <a:t>HCI là gì ?</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523498"/>
            <a:ext cx="16230600" cy="5224653"/>
          </a:xfrm>
          <a:prstGeom prst="rect">
            <a:avLst/>
          </a:prstGeom>
        </p:spPr>
        <p:txBody>
          <a:bodyPr anchor="t" rtlCol="false" tIns="0" lIns="0" bIns="0" rIns="0">
            <a:spAutoFit/>
          </a:bodyPr>
          <a:lstStyle/>
          <a:p>
            <a:pPr algn="l" marL="690881" indent="-345440" lvl="1">
              <a:lnSpc>
                <a:spcPts val="4160"/>
              </a:lnSpc>
              <a:buFont typeface="Arial"/>
              <a:buChar char="•"/>
            </a:pPr>
            <a:r>
              <a:rPr lang="en-US" sz="3200">
                <a:solidFill>
                  <a:srgbClr val="2B4B82"/>
                </a:solidFill>
                <a:latin typeface="Josefin Sans"/>
                <a:ea typeface="Josefin Sans"/>
                <a:cs typeface="Josefin Sans"/>
                <a:sym typeface="Josefin Sans"/>
              </a:rPr>
              <a:t>HCI viết tắt của</a:t>
            </a:r>
            <a:r>
              <a:rPr lang="en-US" b="true" sz="3200">
                <a:solidFill>
                  <a:srgbClr val="2B4B82"/>
                </a:solidFill>
                <a:latin typeface="Josefin Sans Bold"/>
                <a:ea typeface="Josefin Sans Bold"/>
                <a:cs typeface="Josefin Sans Bold"/>
                <a:sym typeface="Josefin Sans Bold"/>
              </a:rPr>
              <a:t> Hyper-converged infrastructure</a:t>
            </a:r>
            <a:r>
              <a:rPr lang="en-US" sz="3200">
                <a:solidFill>
                  <a:srgbClr val="2B4B82"/>
                </a:solidFill>
                <a:latin typeface="Josefin Sans"/>
                <a:ea typeface="Josefin Sans"/>
                <a:cs typeface="Josefin Sans"/>
                <a:sym typeface="Josefin Sans"/>
              </a:rPr>
              <a:t> là một hạ tầng kiến trúc hệ thống lấy phần mềm là trung tâm trong các hoạt động của nó. Hạ tầng kiến trúc này được dùng để tích hợp với các Networking, tài nguyên ảo hóa đám mây, Storage,…</a:t>
            </a:r>
          </a:p>
          <a:p>
            <a:pPr algn="l" marL="690881" indent="-345440" lvl="1">
              <a:lnSpc>
                <a:spcPts val="4192"/>
              </a:lnSpc>
              <a:buFont typeface="Arial"/>
              <a:buChar char="•"/>
            </a:pPr>
            <a:r>
              <a:rPr lang="en-US" sz="3200">
                <a:solidFill>
                  <a:srgbClr val="2B4B82"/>
                </a:solidFill>
                <a:latin typeface="Josefin Sans"/>
                <a:ea typeface="Josefin Sans"/>
                <a:cs typeface="Josefin Sans"/>
                <a:sym typeface="Josefin Sans"/>
              </a:rPr>
              <a:t>HCI được tạo thành từ bốn thành phần chính sau đây :</a:t>
            </a:r>
          </a:p>
          <a:p>
            <a:pPr algn="l" marL="1381761" indent="-460587" lvl="2">
              <a:lnSpc>
                <a:spcPts val="4192"/>
              </a:lnSpc>
              <a:buFont typeface="Arial"/>
              <a:buChar char="⚬"/>
            </a:pPr>
            <a:r>
              <a:rPr lang="en-US" sz="3200">
                <a:solidFill>
                  <a:srgbClr val="2B4B82"/>
                </a:solidFill>
                <a:latin typeface="Josefin Sans"/>
                <a:ea typeface="Josefin Sans"/>
                <a:cs typeface="Josefin Sans"/>
                <a:sym typeface="Josefin Sans"/>
              </a:rPr>
              <a:t>Người dùng </a:t>
            </a:r>
          </a:p>
          <a:p>
            <a:pPr algn="l" marL="1381761" indent="-460587" lvl="2">
              <a:lnSpc>
                <a:spcPts val="4192"/>
              </a:lnSpc>
              <a:buFont typeface="Arial"/>
              <a:buChar char="⚬"/>
            </a:pPr>
            <a:r>
              <a:rPr lang="en-US" sz="3200">
                <a:solidFill>
                  <a:srgbClr val="2B4B82"/>
                </a:solidFill>
                <a:latin typeface="Josefin Sans"/>
                <a:ea typeface="Josefin Sans"/>
                <a:cs typeface="Josefin Sans"/>
                <a:sym typeface="Josefin Sans"/>
              </a:rPr>
              <a:t>Nhiệm vụ hướng tới</a:t>
            </a:r>
          </a:p>
          <a:p>
            <a:pPr algn="l" marL="1381761" indent="-460587" lvl="2">
              <a:lnSpc>
                <a:spcPts val="4192"/>
              </a:lnSpc>
              <a:buFont typeface="Arial"/>
              <a:buChar char="⚬"/>
            </a:pPr>
            <a:r>
              <a:rPr lang="en-US" sz="3200">
                <a:solidFill>
                  <a:srgbClr val="2B4B82"/>
                </a:solidFill>
                <a:latin typeface="Josefin Sans"/>
                <a:ea typeface="Josefin Sans"/>
                <a:cs typeface="Josefin Sans"/>
                <a:sym typeface="Josefin Sans"/>
              </a:rPr>
              <a:t>Giao diện</a:t>
            </a:r>
          </a:p>
          <a:p>
            <a:pPr algn="l" marL="1381761" indent="-460587" lvl="2">
              <a:lnSpc>
                <a:spcPts val="4192"/>
              </a:lnSpc>
              <a:buFont typeface="Arial"/>
              <a:buChar char="⚬"/>
            </a:pPr>
            <a:r>
              <a:rPr lang="en-US" sz="3200">
                <a:solidFill>
                  <a:srgbClr val="2B4B82"/>
                </a:solidFill>
                <a:latin typeface="Josefin Sans"/>
                <a:ea typeface="Josefin Sans"/>
                <a:cs typeface="Josefin Sans"/>
                <a:sym typeface="Josefin Sans"/>
              </a:rPr>
              <a:t>Bối cảnh</a:t>
            </a:r>
          </a:p>
          <a:p>
            <a:pPr algn="l">
              <a:lnSpc>
                <a:spcPts val="4192"/>
              </a:lnSpc>
            </a:pPr>
          </a:p>
        </p:txBody>
      </p:sp>
      <p:sp>
        <p:nvSpPr>
          <p:cNvPr name="TextBox 3" id="3"/>
          <p:cNvSpPr txBox="true"/>
          <p:nvPr/>
        </p:nvSpPr>
        <p:spPr>
          <a:xfrm rot="0">
            <a:off x="7228030" y="245174"/>
            <a:ext cx="4140994" cy="990600"/>
          </a:xfrm>
          <a:prstGeom prst="rect">
            <a:avLst/>
          </a:prstGeom>
        </p:spPr>
        <p:txBody>
          <a:bodyPr anchor="t" rtlCol="false" tIns="0" lIns="0" bIns="0" rIns="0">
            <a:spAutoFit/>
          </a:bodyPr>
          <a:lstStyle/>
          <a:p>
            <a:pPr algn="ctr">
              <a:lnSpc>
                <a:spcPts val="7679"/>
              </a:lnSpc>
              <a:spcBef>
                <a:spcPct val="0"/>
              </a:spcBef>
            </a:pPr>
            <a:r>
              <a:rPr lang="en-US" b="true" sz="6399">
                <a:solidFill>
                  <a:srgbClr val="2B4B82"/>
                </a:solidFill>
                <a:latin typeface="Josefin Sans Bold"/>
                <a:ea typeface="Josefin Sans Bold"/>
                <a:cs typeface="Josefin Sans Bold"/>
                <a:sym typeface="Josefin Sans Bold"/>
              </a:rPr>
              <a:t>HCI là gì ?</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46377" y="990600"/>
            <a:ext cx="16212923" cy="8097520"/>
          </a:xfrm>
          <a:prstGeom prst="rect">
            <a:avLst/>
          </a:prstGeom>
        </p:spPr>
        <p:txBody>
          <a:bodyPr anchor="t" rtlCol="false" tIns="0" lIns="0" bIns="0" rIns="0">
            <a:spAutoFit/>
          </a:bodyPr>
          <a:lstStyle/>
          <a:p>
            <a:pPr algn="l">
              <a:lnSpc>
                <a:spcPts val="3770"/>
              </a:lnSpc>
            </a:pPr>
            <a:r>
              <a:rPr lang="en-US" b="true" sz="2900">
                <a:solidFill>
                  <a:srgbClr val="2B4B82"/>
                </a:solidFill>
                <a:latin typeface="Josefin Sans Bold"/>
                <a:ea typeface="Josefin Sans Bold"/>
                <a:cs typeface="Josefin Sans Bold"/>
                <a:sym typeface="Josefin Sans Bold"/>
              </a:rPr>
              <a:t>HCI được tạo thành từ bốn thành phần chính sau đây :</a:t>
            </a:r>
          </a:p>
          <a:p>
            <a:pPr algn="l" marL="626111" indent="-313055" lvl="1">
              <a:lnSpc>
                <a:spcPts val="3770"/>
              </a:lnSpc>
              <a:buFont typeface="Arial"/>
              <a:buChar char="•"/>
            </a:pPr>
            <a:r>
              <a:rPr lang="en-US" sz="2900">
                <a:solidFill>
                  <a:srgbClr val="2B4B82"/>
                </a:solidFill>
                <a:latin typeface="Josefin Sans"/>
                <a:ea typeface="Josefin Sans"/>
                <a:cs typeface="Josefin Sans"/>
                <a:sym typeface="Josefin Sans"/>
              </a:rPr>
              <a:t>Người dùng </a:t>
            </a:r>
          </a:p>
          <a:p>
            <a:pPr algn="l" marL="1252221" indent="-417407" lvl="2">
              <a:lnSpc>
                <a:spcPts val="3770"/>
              </a:lnSpc>
              <a:buFont typeface="Arial"/>
              <a:buChar char="⚬"/>
            </a:pPr>
            <a:r>
              <a:rPr lang="en-US" sz="2900">
                <a:solidFill>
                  <a:srgbClr val="2B4B82"/>
                </a:solidFill>
                <a:latin typeface="Josefin Sans"/>
                <a:ea typeface="Josefin Sans"/>
                <a:cs typeface="Josefin Sans"/>
                <a:sym typeface="Josefin Sans"/>
              </a:rPr>
              <a:t>Nghiên cứu nhu cầu, mục tiêu và mô hình tương tác của người dùng. </a:t>
            </a:r>
          </a:p>
          <a:p>
            <a:pPr algn="l" marL="1252221" indent="-417407" lvl="2">
              <a:lnSpc>
                <a:spcPts val="3770"/>
              </a:lnSpc>
              <a:buFont typeface="Arial"/>
              <a:buChar char="⚬"/>
            </a:pPr>
            <a:r>
              <a:rPr lang="en-US" sz="2900">
                <a:solidFill>
                  <a:srgbClr val="2B4B82"/>
                </a:solidFill>
                <a:latin typeface="Josefin Sans"/>
                <a:ea typeface="Josefin Sans"/>
                <a:cs typeface="Josefin Sans"/>
                <a:sym typeface="Josefin Sans"/>
              </a:rPr>
              <a:t>Nó phân tích các thông số khác nhau như khả năng nhận thức, cảm xúc và trải nghiệm của người dùng để cung cấp cho họ trải nghiệm liền mạch trong khi tương tác với hệ thống máy tính.</a:t>
            </a:r>
          </a:p>
          <a:p>
            <a:pPr algn="l" marL="626111" indent="-313055" lvl="1">
              <a:lnSpc>
                <a:spcPts val="3770"/>
              </a:lnSpc>
              <a:buFont typeface="Arial"/>
              <a:buChar char="•"/>
            </a:pPr>
            <a:r>
              <a:rPr lang="en-US" sz="2900">
                <a:solidFill>
                  <a:srgbClr val="2B4B82"/>
                </a:solidFill>
                <a:latin typeface="Josefin Sans"/>
                <a:ea typeface="Josefin Sans"/>
                <a:cs typeface="Josefin Sans"/>
                <a:sym typeface="Josefin Sans"/>
              </a:rPr>
              <a:t>Nhiệm vụ hướng tới</a:t>
            </a:r>
          </a:p>
          <a:p>
            <a:pPr algn="l" marL="1252221" indent="-417407" lvl="2">
              <a:lnSpc>
                <a:spcPts val="3770"/>
              </a:lnSpc>
              <a:buFont typeface="Arial"/>
              <a:buChar char="⚬"/>
            </a:pPr>
            <a:r>
              <a:rPr lang="en-US" sz="2900">
                <a:solidFill>
                  <a:srgbClr val="2B4B82"/>
                </a:solidFill>
                <a:latin typeface="Josefin Sans"/>
                <a:ea typeface="Josefin Sans"/>
                <a:cs typeface="Josefin Sans"/>
                <a:sym typeface="Josefin Sans"/>
              </a:rPr>
              <a:t>Người dùng vận hành hệ thống máy tính với mục tiêu cụ thể hoặc các mục tiêu được lên sẵn trong đầu. Máy tính sẽ cung cấp một biểu kỹ thuật số của các đối tượng để thực hiện mục tiêu này. </a:t>
            </a:r>
          </a:p>
          <a:p>
            <a:pPr algn="l" marL="626111" indent="-313055" lvl="1">
              <a:lnSpc>
                <a:spcPts val="3770"/>
              </a:lnSpc>
              <a:buFont typeface="Arial"/>
              <a:buChar char="•"/>
            </a:pPr>
            <a:r>
              <a:rPr lang="en-US" sz="2900">
                <a:solidFill>
                  <a:srgbClr val="2B4B82"/>
                </a:solidFill>
                <a:latin typeface="Josefin Sans"/>
                <a:ea typeface="Josefin Sans"/>
                <a:cs typeface="Josefin Sans"/>
                <a:sym typeface="Josefin Sans"/>
              </a:rPr>
              <a:t>Giao diện</a:t>
            </a:r>
          </a:p>
          <a:p>
            <a:pPr algn="l" marL="1252221" indent="-417407" lvl="2">
              <a:lnSpc>
                <a:spcPts val="3770"/>
              </a:lnSpc>
              <a:buFont typeface="Arial"/>
              <a:buChar char="⚬"/>
            </a:pPr>
            <a:r>
              <a:rPr lang="en-US" sz="2900">
                <a:solidFill>
                  <a:srgbClr val="2B4B82"/>
                </a:solidFill>
                <a:latin typeface="Josefin Sans"/>
                <a:ea typeface="Josefin Sans"/>
                <a:cs typeface="Josefin Sans"/>
                <a:sym typeface="Josefin Sans"/>
              </a:rPr>
              <a:t>Thành phần giao diện HCI là gì? Đây là một thành phần HCI quan trọng giúp nâng cao trải nghiệm tương tác tổng thể của người dùng. Các khía cạnh khác nhau liên quan đến giao diện phải được xem xét.</a:t>
            </a:r>
          </a:p>
          <a:p>
            <a:pPr algn="l" marL="626111" indent="-313055" lvl="1">
              <a:lnSpc>
                <a:spcPts val="3770"/>
              </a:lnSpc>
              <a:buFont typeface="Arial"/>
              <a:buChar char="•"/>
            </a:pPr>
            <a:r>
              <a:rPr lang="en-US" sz="2900">
                <a:solidFill>
                  <a:srgbClr val="2B4B82"/>
                </a:solidFill>
                <a:latin typeface="Josefin Sans"/>
                <a:ea typeface="Josefin Sans"/>
                <a:cs typeface="Josefin Sans"/>
                <a:sym typeface="Josefin Sans"/>
              </a:rPr>
              <a:t>Bối cảnh</a:t>
            </a:r>
          </a:p>
          <a:p>
            <a:pPr algn="l" marL="1252221" indent="-417407" lvl="2">
              <a:lnSpc>
                <a:spcPts val="3770"/>
              </a:lnSpc>
              <a:buFont typeface="Arial"/>
              <a:buChar char="⚬"/>
            </a:pPr>
            <a:r>
              <a:rPr lang="en-US" sz="2900">
                <a:solidFill>
                  <a:srgbClr val="2B4B82"/>
                </a:solidFill>
                <a:latin typeface="Josefin Sans"/>
                <a:ea typeface="Josefin Sans"/>
                <a:cs typeface="Josefin Sans"/>
                <a:sym typeface="Josefin Sans"/>
              </a:rPr>
              <a:t>Bối cảnh HCI cung cấp giao tiếp tốt hơn giữa người dùng và máy tính. Đồng thời bao quát trong bối cảnh và môi trường mà hệ thống được truy cập.</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16727358" cy="809625"/>
          </a:xfrm>
          <a:prstGeom prst="rect">
            <a:avLst/>
          </a:prstGeom>
        </p:spPr>
        <p:txBody>
          <a:bodyPr anchor="t" rtlCol="false" tIns="0" lIns="0" bIns="0" rIns="0">
            <a:spAutoFit/>
          </a:bodyPr>
          <a:lstStyle/>
          <a:p>
            <a:pPr algn="l">
              <a:lnSpc>
                <a:spcPts val="6239"/>
              </a:lnSpc>
            </a:pPr>
            <a:r>
              <a:rPr lang="en-US" sz="5199" b="true">
                <a:solidFill>
                  <a:srgbClr val="2B4B82"/>
                </a:solidFill>
                <a:latin typeface="Josefin Sans Bold"/>
                <a:ea typeface="Josefin Sans Bold"/>
                <a:cs typeface="Josefin Sans Bold"/>
                <a:sym typeface="Josefin Sans Bold"/>
              </a:rPr>
              <a:t>các khía cạnh quan trọng về người dùng trong HCI:</a:t>
            </a:r>
          </a:p>
        </p:txBody>
      </p:sp>
      <p:sp>
        <p:nvSpPr>
          <p:cNvPr name="TextBox 3" id="3"/>
          <p:cNvSpPr txBox="true"/>
          <p:nvPr/>
        </p:nvSpPr>
        <p:spPr>
          <a:xfrm rot="0">
            <a:off x="1028700" y="2566361"/>
            <a:ext cx="16230600" cy="4584065"/>
          </a:xfrm>
          <a:prstGeom prst="rect">
            <a:avLst/>
          </a:prstGeom>
        </p:spPr>
        <p:txBody>
          <a:bodyPr anchor="t" rtlCol="false" tIns="0" lIns="0" bIns="0" rIns="0">
            <a:spAutoFit/>
          </a:bodyPr>
          <a:lstStyle/>
          <a:p>
            <a:pPr algn="l">
              <a:lnSpc>
                <a:spcPts val="3639"/>
              </a:lnSpc>
            </a:pPr>
            <a:r>
              <a:rPr lang="en-US" b="true" sz="2799">
                <a:solidFill>
                  <a:srgbClr val="2B4B82"/>
                </a:solidFill>
                <a:latin typeface="Josefin Sans Bold"/>
                <a:ea typeface="Josefin Sans Bold"/>
                <a:cs typeface="Josefin Sans Bold"/>
                <a:sym typeface="Josefin Sans Bold"/>
              </a:rPr>
              <a:t>1. Khả năng của Người Dùng</a:t>
            </a:r>
          </a:p>
          <a:p>
            <a:pPr algn="l" marL="604519" indent="-302260" lvl="1">
              <a:lnSpc>
                <a:spcPts val="3639"/>
              </a:lnSpc>
              <a:buFont typeface="Arial"/>
              <a:buChar char="•"/>
            </a:pPr>
            <a:r>
              <a:rPr lang="en-US" sz="2799">
                <a:solidFill>
                  <a:srgbClr val="2B4B82"/>
                </a:solidFill>
                <a:latin typeface="Josefin Sans"/>
                <a:ea typeface="Josefin Sans"/>
                <a:cs typeface="Josefin Sans"/>
                <a:sym typeface="Josefin Sans"/>
              </a:rPr>
              <a:t>Khả năng thể chất: Bao gồm tầm nhìn, thính giác, tốc độ phản xạ, khả năng vận động (ví dụ: sử dụng chuột, bàn phím, màn hình cảm ứng).</a:t>
            </a:r>
          </a:p>
          <a:p>
            <a:pPr algn="l" marL="604519" indent="-302260" lvl="1">
              <a:lnSpc>
                <a:spcPts val="3639"/>
              </a:lnSpc>
              <a:buFont typeface="Arial"/>
              <a:buChar char="•"/>
            </a:pPr>
            <a:r>
              <a:rPr lang="en-US" sz="2799">
                <a:solidFill>
                  <a:srgbClr val="2B4B82"/>
                </a:solidFill>
                <a:latin typeface="Josefin Sans"/>
                <a:ea typeface="Josefin Sans"/>
                <a:cs typeface="Josefin Sans"/>
                <a:sym typeface="Josefin Sans"/>
              </a:rPr>
              <a:t>Khả năng nhận thức: Cách con người xử lý thông tin, ghi nhớ, ra quyết định và giải quyết vấn đề.</a:t>
            </a:r>
          </a:p>
          <a:p>
            <a:pPr algn="l" marL="604519" indent="-302260" lvl="1">
              <a:lnSpc>
                <a:spcPts val="3639"/>
              </a:lnSpc>
              <a:buFont typeface="Arial"/>
              <a:buChar char="•"/>
            </a:pPr>
            <a:r>
              <a:rPr lang="en-US" sz="2799">
                <a:solidFill>
                  <a:srgbClr val="2B4B82"/>
                </a:solidFill>
                <a:latin typeface="Josefin Sans"/>
                <a:ea typeface="Josefin Sans"/>
                <a:cs typeface="Josefin Sans"/>
                <a:sym typeface="Josefin Sans"/>
              </a:rPr>
              <a:t>Trình độ kỹ thuật: Mức độ quen thuộc với công nghệ, từ người dùng phổ thông đến chuyên gia.</a:t>
            </a:r>
          </a:p>
          <a:p>
            <a:pPr algn="l">
              <a:lnSpc>
                <a:spcPts val="3639"/>
              </a:lnSpc>
            </a:pPr>
            <a:r>
              <a:rPr lang="en-US" b="true" sz="2799">
                <a:solidFill>
                  <a:srgbClr val="2B4B82"/>
                </a:solidFill>
                <a:latin typeface="Josefin Sans Bold"/>
                <a:ea typeface="Josefin Sans Bold"/>
                <a:cs typeface="Josefin Sans Bold"/>
                <a:sym typeface="Josefin Sans Bold"/>
              </a:rPr>
              <a:t>2. Thói Quen Sử Dụng</a:t>
            </a:r>
          </a:p>
          <a:p>
            <a:pPr algn="l" marL="604519" indent="-302260" lvl="1">
              <a:lnSpc>
                <a:spcPts val="3639"/>
              </a:lnSpc>
              <a:buFont typeface="Arial"/>
              <a:buChar char="•"/>
            </a:pPr>
            <a:r>
              <a:rPr lang="en-US" sz="2799">
                <a:solidFill>
                  <a:srgbClr val="2B4B82"/>
                </a:solidFill>
                <a:latin typeface="Josefin Sans"/>
                <a:ea typeface="Josefin Sans"/>
                <a:cs typeface="Josefin Sans"/>
                <a:sym typeface="Josefin Sans"/>
              </a:rPr>
              <a:t>Người dùng có những thói quen riêng khi tương tác với hệ thống, ví dụ:</a:t>
            </a:r>
          </a:p>
          <a:p>
            <a:pPr algn="l" marL="604519" indent="-302260" lvl="1">
              <a:lnSpc>
                <a:spcPts val="3639"/>
              </a:lnSpc>
              <a:buFont typeface="Arial"/>
              <a:buChar char="•"/>
            </a:pPr>
            <a:r>
              <a:rPr lang="en-US" sz="2799">
                <a:solidFill>
                  <a:srgbClr val="2B4B82"/>
                </a:solidFill>
                <a:latin typeface="Josefin Sans"/>
                <a:ea typeface="Josefin Sans"/>
                <a:cs typeface="Josefin Sans"/>
                <a:sym typeface="Josefin Sans"/>
              </a:rPr>
              <a:t>Người quen dùng điện thoại cảm ứng thường vuốt thay vì bấm nút.</a:t>
            </a:r>
          </a:p>
          <a:p>
            <a:pPr algn="l" marL="604519" indent="-302260" lvl="1">
              <a:lnSpc>
                <a:spcPts val="3639"/>
              </a:lnSpc>
              <a:buFont typeface="Arial"/>
              <a:buChar char="•"/>
            </a:pPr>
            <a:r>
              <a:rPr lang="en-US" sz="2799">
                <a:solidFill>
                  <a:srgbClr val="2B4B82"/>
                </a:solidFill>
                <a:latin typeface="Josefin Sans"/>
                <a:ea typeface="Josefin Sans"/>
                <a:cs typeface="Josefin Sans"/>
                <a:sym typeface="Josefin Sans"/>
              </a:rPr>
              <a:t>Người dùng quen giao diện Windows sẽ tìm kiếm thanh Start hoặc File Explorer.</a:t>
            </a:r>
          </a:p>
          <a:p>
            <a:pPr algn="l" marL="604519" indent="-302260" lvl="1">
              <a:lnSpc>
                <a:spcPts val="3639"/>
              </a:lnSpc>
              <a:buFont typeface="Arial"/>
              <a:buChar char="•"/>
            </a:pPr>
            <a:r>
              <a:rPr lang="en-US" sz="2799">
                <a:solidFill>
                  <a:srgbClr val="2B4B82"/>
                </a:solidFill>
                <a:latin typeface="Josefin Sans"/>
                <a:ea typeface="Josefin Sans"/>
                <a:cs typeface="Josefin Sans"/>
                <a:sym typeface="Josefin Sans"/>
              </a:rPr>
              <a:t>Hiểu thói quen giúp thiết kế giao diện trực quan, dễ tiếp cận.</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1716059"/>
            <a:ext cx="16230600" cy="5886450"/>
          </a:xfrm>
          <a:prstGeom prst="rect">
            <a:avLst/>
          </a:prstGeom>
        </p:spPr>
        <p:txBody>
          <a:bodyPr anchor="t" rtlCol="false" tIns="0" lIns="0" bIns="0" rIns="0">
            <a:spAutoFit/>
          </a:bodyPr>
          <a:lstStyle/>
          <a:p>
            <a:pPr algn="l">
              <a:lnSpc>
                <a:spcPts val="3359"/>
              </a:lnSpc>
              <a:spcBef>
                <a:spcPct val="0"/>
              </a:spcBef>
            </a:pPr>
            <a:r>
              <a:rPr lang="en-US" b="true" sz="2799">
                <a:solidFill>
                  <a:srgbClr val="2B4B82"/>
                </a:solidFill>
                <a:latin typeface="Josefin Sans Bold"/>
                <a:ea typeface="Josefin Sans Bold"/>
                <a:cs typeface="Josefin Sans Bold"/>
                <a:sym typeface="Josefin Sans Bold"/>
              </a:rPr>
              <a:t>3</a:t>
            </a:r>
            <a:r>
              <a:rPr lang="en-US" b="true" sz="2799">
                <a:solidFill>
                  <a:srgbClr val="2B4B82"/>
                </a:solidFill>
                <a:latin typeface="Josefin Sans Bold"/>
                <a:ea typeface="Josefin Sans Bold"/>
                <a:cs typeface="Josefin Sans Bold"/>
                <a:sym typeface="Josefin Sans Bold"/>
              </a:rPr>
              <a:t>. Lỗi &amp; Sai Sót của Người Dùng</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Lỗi nhập sai dữ liệu: Nhập sai mật khẩu, điền sai thông tin trong form.</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Lỗi điều hướng: Nhấn nhầm nút, đóng nhầm tab, nhập sai đường dẫn.</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Lỗi do hiểu sai hệ thống: Không biết cách thực hiện một thao tác do giao diện kém trực quan.</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Hệ thống cần có cơ chế chống lỗi như xác nhận thao tác quan trọng, hướng dẫn rõ ràng, hoặc hỗ trợ khôi phục sai sót.</a:t>
            </a:r>
          </a:p>
          <a:p>
            <a:pPr algn="l">
              <a:lnSpc>
                <a:spcPts val="3359"/>
              </a:lnSpc>
              <a:spcBef>
                <a:spcPct val="0"/>
              </a:spcBef>
            </a:pPr>
            <a:r>
              <a:rPr lang="en-US" b="true" sz="2799">
                <a:solidFill>
                  <a:srgbClr val="2B4B82"/>
                </a:solidFill>
                <a:latin typeface="Josefin Sans Bold"/>
                <a:ea typeface="Josefin Sans Bold"/>
                <a:cs typeface="Josefin Sans Bold"/>
                <a:sym typeface="Josefin Sans Bold"/>
              </a:rPr>
              <a:t>4. Quá Trình Nhận Thức</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Người dùng tiếp nhận, xử lý và phản hồi thông tin theo cách khác nhau:</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Chú ý có giới hạn: Con người không thể tập trung vào quá nhiều thông tin cùng lúc → giao diện cần đơn giản, dễ nhận diện.</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Ghi nhớ ngắn hạn có hạn chế: Người dùng chỉ nhớ được khoảng 5-9 mục thông tin cùng lúc → hệ thống nên giảm tải bộ nhớ ngắn hạn (ví dụ: hiển thị gợi ý thay vì yêu cầu nhập nhớ mã số dài).</a:t>
            </a:r>
          </a:p>
          <a:p>
            <a:pPr algn="l" marL="604519" indent="-302260" lvl="1">
              <a:lnSpc>
                <a:spcPts val="3359"/>
              </a:lnSpc>
              <a:buFont typeface="Arial"/>
              <a:buChar char="•"/>
            </a:pPr>
            <a:r>
              <a:rPr lang="en-US" sz="2799">
                <a:solidFill>
                  <a:srgbClr val="2B4B82"/>
                </a:solidFill>
                <a:latin typeface="Josefin Sans"/>
                <a:ea typeface="Josefin Sans"/>
                <a:cs typeface="Josefin Sans"/>
                <a:sym typeface="Josefin Sans"/>
              </a:rPr>
              <a:t>Nhận diện nhanh hơn nhớ lại: Người dùng dễ nhận diện biểu tượng, màu sắc hơn là nhớ chính xác một cú pháp → thiết kế giao diện ưu tiên hình ảnh, biểu tượng thay vì yêu cầu nhập lệnh.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3175315" y="1850451"/>
            <a:ext cx="11937370" cy="3138175"/>
          </a:xfrm>
          <a:custGeom>
            <a:avLst/>
            <a:gdLst/>
            <a:ahLst/>
            <a:cxnLst/>
            <a:rect r="r" b="b" t="t" l="l"/>
            <a:pathLst>
              <a:path h="3138175" w="11937370">
                <a:moveTo>
                  <a:pt x="0" y="0"/>
                </a:moveTo>
                <a:lnTo>
                  <a:pt x="11937370" y="0"/>
                </a:lnTo>
                <a:lnTo>
                  <a:pt x="11937370" y="3138175"/>
                </a:lnTo>
                <a:lnTo>
                  <a:pt x="0" y="3138175"/>
                </a:lnTo>
                <a:lnTo>
                  <a:pt x="0" y="0"/>
                </a:lnTo>
                <a:close/>
              </a:path>
            </a:pathLst>
          </a:custGeom>
          <a:blipFill>
            <a:blip r:embed="rId2"/>
            <a:stretch>
              <a:fillRect l="0" t="0" r="0" b="0"/>
            </a:stretch>
          </a:blipFill>
        </p:spPr>
      </p:sp>
      <p:sp>
        <p:nvSpPr>
          <p:cNvPr name="TextBox 3" id="3"/>
          <p:cNvSpPr txBox="true"/>
          <p:nvPr/>
        </p:nvSpPr>
        <p:spPr>
          <a:xfrm rot="0">
            <a:off x="1028700" y="523875"/>
            <a:ext cx="16135350" cy="990600"/>
          </a:xfrm>
          <a:prstGeom prst="rect">
            <a:avLst/>
          </a:prstGeom>
        </p:spPr>
        <p:txBody>
          <a:bodyPr anchor="t" rtlCol="false" tIns="0" lIns="0" bIns="0" rIns="0">
            <a:spAutoFit/>
          </a:bodyPr>
          <a:lstStyle/>
          <a:p>
            <a:pPr algn="ctr">
              <a:lnSpc>
                <a:spcPts val="7680"/>
              </a:lnSpc>
            </a:pPr>
            <a:r>
              <a:rPr lang="en-US" b="true" sz="6400">
                <a:solidFill>
                  <a:srgbClr val="2B4B82"/>
                </a:solidFill>
                <a:latin typeface="Josefin Sans Bold"/>
                <a:ea typeface="Josefin Sans Bold"/>
                <a:cs typeface="Josefin Sans Bold"/>
                <a:sym typeface="Josefin Sans Bold"/>
              </a:rPr>
              <a:t>Người dùng – Mô hình xử lý thông tin</a:t>
            </a:r>
          </a:p>
        </p:txBody>
      </p:sp>
      <p:sp>
        <p:nvSpPr>
          <p:cNvPr name="TextBox 4" id="4"/>
          <p:cNvSpPr txBox="true"/>
          <p:nvPr/>
        </p:nvSpPr>
        <p:spPr>
          <a:xfrm rot="0">
            <a:off x="3175315" y="5324602"/>
            <a:ext cx="9861352" cy="3933698"/>
          </a:xfrm>
          <a:prstGeom prst="rect">
            <a:avLst/>
          </a:prstGeom>
        </p:spPr>
        <p:txBody>
          <a:bodyPr anchor="t" rtlCol="false" tIns="0" lIns="0" bIns="0" rIns="0">
            <a:spAutoFit/>
          </a:bodyPr>
          <a:lstStyle/>
          <a:p>
            <a:pPr algn="l">
              <a:lnSpc>
                <a:spcPts val="3135"/>
              </a:lnSpc>
              <a:spcBef>
                <a:spcPct val="0"/>
              </a:spcBef>
            </a:pPr>
            <a:r>
              <a:rPr lang="en-US" b="true" sz="2799">
                <a:solidFill>
                  <a:srgbClr val="2B4B82"/>
                </a:solidFill>
                <a:latin typeface="Josefin Sans Bold"/>
                <a:ea typeface="Josefin Sans Bold"/>
                <a:cs typeface="Josefin Sans Bold"/>
                <a:sym typeface="Josefin Sans Bold"/>
              </a:rPr>
              <a:t>Các thành phần chính:</a:t>
            </a:r>
          </a:p>
          <a:p>
            <a:pPr algn="l" marL="604518" indent="-302259" lvl="1">
              <a:lnSpc>
                <a:spcPts val="3135"/>
              </a:lnSpc>
              <a:buFont typeface="Arial"/>
              <a:buChar char="•"/>
            </a:pPr>
            <a:r>
              <a:rPr lang="en-US" sz="2799">
                <a:solidFill>
                  <a:srgbClr val="2B4B82"/>
                </a:solidFill>
                <a:latin typeface="Josefin Sans"/>
                <a:ea typeface="Josefin Sans"/>
                <a:cs typeface="Josefin Sans"/>
                <a:sym typeface="Josefin Sans"/>
              </a:rPr>
              <a:t>Đầu vào/đầu ra:</a:t>
            </a:r>
          </a:p>
          <a:p>
            <a:pPr algn="l" marL="1209036" indent="-403012" lvl="2">
              <a:lnSpc>
                <a:spcPts val="3135"/>
              </a:lnSpc>
              <a:buFont typeface="Arial"/>
              <a:buChar char="⚬"/>
            </a:pPr>
            <a:r>
              <a:rPr lang="en-US" sz="2799">
                <a:solidFill>
                  <a:srgbClr val="2B4B82"/>
                </a:solidFill>
                <a:latin typeface="Josefin Sans"/>
                <a:ea typeface="Josefin Sans"/>
                <a:cs typeface="Josefin Sans"/>
                <a:sym typeface="Josefin Sans"/>
              </a:rPr>
              <a:t>Ví dụ đầu vào:</a:t>
            </a:r>
          </a:p>
          <a:p>
            <a:pPr algn="l" marL="1813554" indent="-453388" lvl="3">
              <a:lnSpc>
                <a:spcPts val="3135"/>
              </a:lnSpc>
              <a:buFont typeface="Arial"/>
              <a:buChar char="￭"/>
            </a:pPr>
            <a:r>
              <a:rPr lang="en-US" sz="2799">
                <a:solidFill>
                  <a:srgbClr val="2B4B82"/>
                </a:solidFill>
                <a:latin typeface="Josefin Sans"/>
                <a:ea typeface="Josefin Sans"/>
                <a:cs typeface="Josefin Sans"/>
                <a:sym typeface="Josefin Sans"/>
              </a:rPr>
              <a:t>Con người : nhìn nghe</a:t>
            </a:r>
          </a:p>
          <a:p>
            <a:pPr algn="l" marL="1813554" indent="-453388" lvl="3">
              <a:lnSpc>
                <a:spcPts val="3135"/>
              </a:lnSpc>
              <a:buFont typeface="Arial"/>
              <a:buChar char="￭"/>
            </a:pPr>
            <a:r>
              <a:rPr lang="en-US" sz="2799">
                <a:solidFill>
                  <a:srgbClr val="2B4B82"/>
                </a:solidFill>
                <a:latin typeface="Josefin Sans"/>
                <a:ea typeface="Josefin Sans"/>
                <a:cs typeface="Josefin Sans"/>
                <a:sym typeface="Josefin Sans"/>
              </a:rPr>
              <a:t>Máy tính : từ bàn phím, chuột</a:t>
            </a:r>
          </a:p>
          <a:p>
            <a:pPr algn="l" marL="1209036" indent="-403012" lvl="2">
              <a:lnSpc>
                <a:spcPts val="3135"/>
              </a:lnSpc>
              <a:buFont typeface="Arial"/>
              <a:buChar char="⚬"/>
            </a:pPr>
            <a:r>
              <a:rPr lang="en-US" sz="2799">
                <a:solidFill>
                  <a:srgbClr val="2B4B82"/>
                </a:solidFill>
                <a:latin typeface="Josefin Sans"/>
                <a:ea typeface="Josefin Sans"/>
                <a:cs typeface="Josefin Sans"/>
                <a:sym typeface="Josefin Sans"/>
              </a:rPr>
              <a:t>Ví dụ đầu ra : </a:t>
            </a:r>
          </a:p>
          <a:p>
            <a:pPr algn="l" marL="1813554" indent="-453388" lvl="3">
              <a:lnSpc>
                <a:spcPts val="3135"/>
              </a:lnSpc>
              <a:buFont typeface="Arial"/>
              <a:buChar char="￭"/>
            </a:pPr>
            <a:r>
              <a:rPr lang="en-US" sz="2799">
                <a:solidFill>
                  <a:srgbClr val="2B4B82"/>
                </a:solidFill>
                <a:latin typeface="Josefin Sans"/>
                <a:ea typeface="Josefin Sans"/>
                <a:cs typeface="Josefin Sans"/>
                <a:sym typeface="Josefin Sans"/>
              </a:rPr>
              <a:t>Con người : lời nói, hành động</a:t>
            </a:r>
          </a:p>
          <a:p>
            <a:pPr algn="l" marL="1813554" indent="-453388" lvl="3">
              <a:lnSpc>
                <a:spcPts val="3135"/>
              </a:lnSpc>
              <a:buFont typeface="Arial"/>
              <a:buChar char="￭"/>
            </a:pPr>
            <a:r>
              <a:rPr lang="en-US" sz="2799">
                <a:solidFill>
                  <a:srgbClr val="2B4B82"/>
                </a:solidFill>
                <a:latin typeface="Josefin Sans"/>
                <a:ea typeface="Josefin Sans"/>
                <a:cs typeface="Josefin Sans"/>
                <a:sym typeface="Josefin Sans"/>
              </a:rPr>
              <a:t>Máy tính : hiển thị trên màn hình, âm thanh từ loa</a:t>
            </a:r>
          </a:p>
          <a:p>
            <a:pPr algn="l" marL="604518" indent="-302259" lvl="1">
              <a:lnSpc>
                <a:spcPts val="3135"/>
              </a:lnSpc>
              <a:buFont typeface="Arial"/>
              <a:buChar char="•"/>
            </a:pPr>
            <a:r>
              <a:rPr lang="en-US" sz="2799">
                <a:solidFill>
                  <a:srgbClr val="2B4B82"/>
                </a:solidFill>
                <a:latin typeface="Josefin Sans"/>
                <a:ea typeface="Josefin Sans"/>
                <a:cs typeface="Josefin Sans"/>
                <a:sym typeface="Josefin Sans"/>
              </a:rPr>
              <a:t>Bộ nhớ : bộ não của con người, bộ nhớ của máy tính</a:t>
            </a:r>
          </a:p>
          <a:p>
            <a:pPr algn="l" marL="604518" indent="-302259" lvl="1">
              <a:lnSpc>
                <a:spcPts val="3135"/>
              </a:lnSpc>
              <a:buFont typeface="Arial"/>
              <a:buChar char="•"/>
            </a:pPr>
            <a:r>
              <a:rPr lang="en-US" sz="2799">
                <a:solidFill>
                  <a:srgbClr val="2B4B82"/>
                </a:solidFill>
                <a:latin typeface="Josefin Sans"/>
                <a:ea typeface="Josefin Sans"/>
                <a:cs typeface="Josefin Sans"/>
                <a:sym typeface="Josefin Sans"/>
              </a:rPr>
              <a:t>Bộ xử lý</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5700323" y="3516910"/>
            <a:ext cx="6887353" cy="5741390"/>
          </a:xfrm>
          <a:custGeom>
            <a:avLst/>
            <a:gdLst/>
            <a:ahLst/>
            <a:cxnLst/>
            <a:rect r="r" b="b" t="t" l="l"/>
            <a:pathLst>
              <a:path h="5741390" w="6887353">
                <a:moveTo>
                  <a:pt x="0" y="0"/>
                </a:moveTo>
                <a:lnTo>
                  <a:pt x="6887354" y="0"/>
                </a:lnTo>
                <a:lnTo>
                  <a:pt x="6887354" y="5741390"/>
                </a:lnTo>
                <a:lnTo>
                  <a:pt x="0" y="5741390"/>
                </a:lnTo>
                <a:lnTo>
                  <a:pt x="0" y="0"/>
                </a:lnTo>
                <a:close/>
              </a:path>
            </a:pathLst>
          </a:custGeom>
          <a:blipFill>
            <a:blip r:embed="rId2"/>
            <a:stretch>
              <a:fillRect l="0" t="0" r="0" b="0"/>
            </a:stretch>
          </a:blipFill>
        </p:spPr>
      </p:sp>
      <p:sp>
        <p:nvSpPr>
          <p:cNvPr name="TextBox 3" id="3"/>
          <p:cNvSpPr txBox="true"/>
          <p:nvPr/>
        </p:nvSpPr>
        <p:spPr>
          <a:xfrm rot="0">
            <a:off x="1028700" y="369348"/>
            <a:ext cx="16135350" cy="990600"/>
          </a:xfrm>
          <a:prstGeom prst="rect">
            <a:avLst/>
          </a:prstGeom>
        </p:spPr>
        <p:txBody>
          <a:bodyPr anchor="t" rtlCol="false" tIns="0" lIns="0" bIns="0" rIns="0">
            <a:spAutoFit/>
          </a:bodyPr>
          <a:lstStyle/>
          <a:p>
            <a:pPr algn="ctr">
              <a:lnSpc>
                <a:spcPts val="7680"/>
              </a:lnSpc>
            </a:pPr>
            <a:r>
              <a:rPr lang="en-US" b="true" sz="6400">
                <a:solidFill>
                  <a:srgbClr val="2B4B82"/>
                </a:solidFill>
                <a:latin typeface="Josefin Sans Bold"/>
                <a:ea typeface="Josefin Sans Bold"/>
                <a:cs typeface="Josefin Sans Bold"/>
                <a:sym typeface="Josefin Sans Bold"/>
              </a:rPr>
              <a:t>Người dùng – Xử lý thông tin</a:t>
            </a:r>
          </a:p>
        </p:txBody>
      </p:sp>
      <p:sp>
        <p:nvSpPr>
          <p:cNvPr name="TextBox 4" id="4"/>
          <p:cNvSpPr txBox="true"/>
          <p:nvPr/>
        </p:nvSpPr>
        <p:spPr>
          <a:xfrm rot="0">
            <a:off x="1028700" y="1672027"/>
            <a:ext cx="5183376" cy="809625"/>
          </a:xfrm>
          <a:prstGeom prst="rect">
            <a:avLst/>
          </a:prstGeom>
        </p:spPr>
        <p:txBody>
          <a:bodyPr anchor="t" rtlCol="false" tIns="0" lIns="0" bIns="0" rIns="0">
            <a:spAutoFit/>
          </a:bodyPr>
          <a:lstStyle/>
          <a:p>
            <a:pPr algn="ctr">
              <a:lnSpc>
                <a:spcPts val="6239"/>
              </a:lnSpc>
              <a:spcBef>
                <a:spcPct val="0"/>
              </a:spcBef>
            </a:pPr>
            <a:r>
              <a:rPr lang="en-US" b="true" sz="5199">
                <a:solidFill>
                  <a:srgbClr val="2B4B82"/>
                </a:solidFill>
                <a:latin typeface="Josefin Sans Bold"/>
                <a:ea typeface="Josefin Sans Bold"/>
                <a:cs typeface="Josefin Sans Bold"/>
                <a:sym typeface="Josefin Sans Bold"/>
              </a:rPr>
              <a:t>Looking (</a:t>
            </a:r>
            <a:r>
              <a:rPr lang="en-US" b="true" sz="5199">
                <a:solidFill>
                  <a:srgbClr val="2B4B82"/>
                </a:solidFill>
                <a:latin typeface="Josefin Sans Bold"/>
                <a:ea typeface="Josefin Sans Bold"/>
                <a:cs typeface="Josefin Sans Bold"/>
                <a:sym typeface="Josefin Sans Bold"/>
              </a:rPr>
              <a:t>Nhìn)</a:t>
            </a:r>
          </a:p>
        </p:txBody>
      </p:sp>
      <p:sp>
        <p:nvSpPr>
          <p:cNvPr name="TextBox 5" id="5"/>
          <p:cNvSpPr txBox="true"/>
          <p:nvPr/>
        </p:nvSpPr>
        <p:spPr>
          <a:xfrm rot="0">
            <a:off x="1174359" y="2815027"/>
            <a:ext cx="11256466" cy="485775"/>
          </a:xfrm>
          <a:prstGeom prst="rect">
            <a:avLst/>
          </a:prstGeom>
        </p:spPr>
        <p:txBody>
          <a:bodyPr anchor="t" rtlCol="false" tIns="0" lIns="0" bIns="0" rIns="0">
            <a:spAutoFit/>
          </a:bodyPr>
          <a:lstStyle/>
          <a:p>
            <a:pPr algn="ctr">
              <a:lnSpc>
                <a:spcPts val="3840"/>
              </a:lnSpc>
              <a:spcBef>
                <a:spcPct val="0"/>
              </a:spcBef>
            </a:pPr>
            <a:r>
              <a:rPr lang="en-US" sz="3200">
                <a:solidFill>
                  <a:srgbClr val="2B4B82"/>
                </a:solidFill>
                <a:latin typeface="Josefin Sans"/>
                <a:ea typeface="Josefin Sans"/>
                <a:cs typeface="Josefin Sans"/>
                <a:sym typeface="Josefin Sans"/>
              </a:rPr>
              <a:t>Nhìn có ảnh hưởng lớn nhất đến giao diện người dùng (GUI).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231916"/>
            <a:ext cx="9442081" cy="6464849"/>
          </a:xfrm>
          <a:custGeom>
            <a:avLst/>
            <a:gdLst/>
            <a:ahLst/>
            <a:cxnLst/>
            <a:rect r="r" b="b" t="t" l="l"/>
            <a:pathLst>
              <a:path h="6464849" w="9442081">
                <a:moveTo>
                  <a:pt x="0" y="0"/>
                </a:moveTo>
                <a:lnTo>
                  <a:pt x="9442081" y="0"/>
                </a:lnTo>
                <a:lnTo>
                  <a:pt x="9442081" y="6464848"/>
                </a:lnTo>
                <a:lnTo>
                  <a:pt x="0" y="6464848"/>
                </a:lnTo>
                <a:lnTo>
                  <a:pt x="0" y="0"/>
                </a:lnTo>
                <a:close/>
              </a:path>
            </a:pathLst>
          </a:custGeom>
          <a:blipFill>
            <a:blip r:embed="rId2"/>
            <a:stretch>
              <a:fillRect l="0" t="0" r="0" b="0"/>
            </a:stretch>
          </a:blipFill>
        </p:spPr>
      </p:sp>
      <p:sp>
        <p:nvSpPr>
          <p:cNvPr name="TextBox 3" id="3"/>
          <p:cNvSpPr txBox="true"/>
          <p:nvPr/>
        </p:nvSpPr>
        <p:spPr>
          <a:xfrm rot="0">
            <a:off x="1028700" y="1019175"/>
            <a:ext cx="15514096" cy="704850"/>
          </a:xfrm>
          <a:prstGeom prst="rect">
            <a:avLst/>
          </a:prstGeom>
        </p:spPr>
        <p:txBody>
          <a:bodyPr anchor="t" rtlCol="false" tIns="0" lIns="0" bIns="0" rIns="0">
            <a:spAutoFit/>
          </a:bodyPr>
          <a:lstStyle/>
          <a:p>
            <a:pPr algn="l">
              <a:lnSpc>
                <a:spcPts val="5519"/>
              </a:lnSpc>
              <a:spcBef>
                <a:spcPct val="0"/>
              </a:spcBef>
            </a:pPr>
            <a:r>
              <a:rPr lang="en-US" b="true" sz="4599">
                <a:solidFill>
                  <a:srgbClr val="FFFFFF"/>
                </a:solidFill>
                <a:latin typeface="Josefin Sans Bold"/>
                <a:ea typeface="Josefin Sans Bold"/>
                <a:cs typeface="Josefin Sans Bold"/>
                <a:sym typeface="Josefin Sans Bold"/>
              </a:rPr>
              <a:t>Thiết kế với màu sắc để tối ưu khả năng nhìn nhận.</a:t>
            </a:r>
          </a:p>
        </p:txBody>
      </p:sp>
      <p:grpSp>
        <p:nvGrpSpPr>
          <p:cNvPr name="Group 4" id="4"/>
          <p:cNvGrpSpPr/>
          <p:nvPr/>
        </p:nvGrpSpPr>
        <p:grpSpPr>
          <a:xfrm rot="0">
            <a:off x="7632020" y="5077309"/>
            <a:ext cx="310893" cy="660913"/>
            <a:chOff x="0" y="0"/>
            <a:chExt cx="373380" cy="793750"/>
          </a:xfrm>
        </p:grpSpPr>
        <p:sp>
          <p:nvSpPr>
            <p:cNvPr name="Freeform 5" id="5"/>
            <p:cNvSpPr/>
            <p:nvPr/>
          </p:nvSpPr>
          <p:spPr>
            <a:xfrm flipH="false" flipV="false" rot="0">
              <a:off x="48260" y="43180"/>
              <a:ext cx="278130" cy="699770"/>
            </a:xfrm>
            <a:custGeom>
              <a:avLst/>
              <a:gdLst/>
              <a:ahLst/>
              <a:cxnLst/>
              <a:rect r="r" b="b" t="t" l="l"/>
              <a:pathLst>
                <a:path h="699770" w="278130">
                  <a:moveTo>
                    <a:pt x="13970" y="410210"/>
                  </a:moveTo>
                  <a:cubicBezTo>
                    <a:pt x="66040" y="368300"/>
                    <a:pt x="86360" y="335280"/>
                    <a:pt x="102870" y="298450"/>
                  </a:cubicBezTo>
                  <a:cubicBezTo>
                    <a:pt x="124460" y="247650"/>
                    <a:pt x="134620" y="157480"/>
                    <a:pt x="154940" y="105410"/>
                  </a:cubicBezTo>
                  <a:cubicBezTo>
                    <a:pt x="168910" y="67310"/>
                    <a:pt x="182880" y="25400"/>
                    <a:pt x="201930" y="11430"/>
                  </a:cubicBezTo>
                  <a:cubicBezTo>
                    <a:pt x="213360" y="3810"/>
                    <a:pt x="231140" y="0"/>
                    <a:pt x="240030" y="7620"/>
                  </a:cubicBezTo>
                  <a:cubicBezTo>
                    <a:pt x="255270" y="19050"/>
                    <a:pt x="250190" y="69850"/>
                    <a:pt x="254000" y="119380"/>
                  </a:cubicBezTo>
                  <a:cubicBezTo>
                    <a:pt x="260350" y="213360"/>
                    <a:pt x="247650" y="427990"/>
                    <a:pt x="254000" y="528320"/>
                  </a:cubicBezTo>
                  <a:cubicBezTo>
                    <a:pt x="259080" y="589280"/>
                    <a:pt x="278130" y="645160"/>
                    <a:pt x="274320" y="671830"/>
                  </a:cubicBezTo>
                  <a:cubicBezTo>
                    <a:pt x="273050" y="681990"/>
                    <a:pt x="270510" y="688340"/>
                    <a:pt x="265430" y="693420"/>
                  </a:cubicBezTo>
                  <a:cubicBezTo>
                    <a:pt x="259080" y="697230"/>
                    <a:pt x="247650" y="699770"/>
                    <a:pt x="241300" y="697230"/>
                  </a:cubicBezTo>
                  <a:cubicBezTo>
                    <a:pt x="233680" y="694690"/>
                    <a:pt x="223520" y="680720"/>
                    <a:pt x="223520" y="673100"/>
                  </a:cubicBezTo>
                  <a:cubicBezTo>
                    <a:pt x="223520" y="665480"/>
                    <a:pt x="229870" y="655320"/>
                    <a:pt x="234950" y="651510"/>
                  </a:cubicBezTo>
                  <a:cubicBezTo>
                    <a:pt x="241300" y="647700"/>
                    <a:pt x="252730" y="647700"/>
                    <a:pt x="259080" y="650240"/>
                  </a:cubicBezTo>
                  <a:cubicBezTo>
                    <a:pt x="265430" y="652780"/>
                    <a:pt x="273050" y="661670"/>
                    <a:pt x="274320" y="669290"/>
                  </a:cubicBezTo>
                  <a:cubicBezTo>
                    <a:pt x="275590" y="675640"/>
                    <a:pt x="271780" y="687070"/>
                    <a:pt x="266700" y="692150"/>
                  </a:cubicBezTo>
                  <a:cubicBezTo>
                    <a:pt x="261620" y="695960"/>
                    <a:pt x="251460" y="699770"/>
                    <a:pt x="243840" y="698500"/>
                  </a:cubicBezTo>
                  <a:cubicBezTo>
                    <a:pt x="237490" y="697230"/>
                    <a:pt x="231140" y="692150"/>
                    <a:pt x="226060" y="683260"/>
                  </a:cubicBezTo>
                  <a:cubicBezTo>
                    <a:pt x="212090" y="659130"/>
                    <a:pt x="208280" y="595630"/>
                    <a:pt x="203200" y="528320"/>
                  </a:cubicBezTo>
                  <a:cubicBezTo>
                    <a:pt x="194310" y="407670"/>
                    <a:pt x="165100" y="53340"/>
                    <a:pt x="201930" y="11430"/>
                  </a:cubicBezTo>
                  <a:cubicBezTo>
                    <a:pt x="212090" y="0"/>
                    <a:pt x="232410" y="2540"/>
                    <a:pt x="240030" y="7620"/>
                  </a:cubicBezTo>
                  <a:cubicBezTo>
                    <a:pt x="246380" y="11430"/>
                    <a:pt x="247650" y="22860"/>
                    <a:pt x="246380" y="35560"/>
                  </a:cubicBezTo>
                  <a:cubicBezTo>
                    <a:pt x="243840" y="60960"/>
                    <a:pt x="204470" y="113030"/>
                    <a:pt x="189230" y="154940"/>
                  </a:cubicBezTo>
                  <a:cubicBezTo>
                    <a:pt x="173990" y="196850"/>
                    <a:pt x="172720" y="248920"/>
                    <a:pt x="158750" y="289560"/>
                  </a:cubicBezTo>
                  <a:cubicBezTo>
                    <a:pt x="146050" y="326390"/>
                    <a:pt x="130810" y="363220"/>
                    <a:pt x="107950" y="391160"/>
                  </a:cubicBezTo>
                  <a:cubicBezTo>
                    <a:pt x="87630" y="417830"/>
                    <a:pt x="49530" y="455930"/>
                    <a:pt x="30480" y="457200"/>
                  </a:cubicBezTo>
                  <a:cubicBezTo>
                    <a:pt x="19050" y="457200"/>
                    <a:pt x="5080" y="445770"/>
                    <a:pt x="2540" y="436880"/>
                  </a:cubicBezTo>
                  <a:cubicBezTo>
                    <a:pt x="0" y="430530"/>
                    <a:pt x="13970" y="410210"/>
                    <a:pt x="13970" y="410210"/>
                  </a:cubicBezTo>
                </a:path>
              </a:pathLst>
            </a:custGeom>
            <a:solidFill>
              <a:srgbClr val="0571D3"/>
            </a:solidFill>
            <a:ln cap="sq">
              <a:noFill/>
              <a:prstDash val="solid"/>
              <a:miter/>
            </a:ln>
          </p:spPr>
        </p:sp>
      </p:grpSp>
      <p:grpSp>
        <p:nvGrpSpPr>
          <p:cNvPr name="Group 6" id="6"/>
          <p:cNvGrpSpPr/>
          <p:nvPr/>
        </p:nvGrpSpPr>
        <p:grpSpPr>
          <a:xfrm rot="0">
            <a:off x="9088142" y="5003287"/>
            <a:ext cx="628131" cy="767716"/>
            <a:chOff x="0" y="0"/>
            <a:chExt cx="754380" cy="922020"/>
          </a:xfrm>
        </p:grpSpPr>
        <p:sp>
          <p:nvSpPr>
            <p:cNvPr name="Freeform 7" id="7"/>
            <p:cNvSpPr/>
            <p:nvPr/>
          </p:nvSpPr>
          <p:spPr>
            <a:xfrm flipH="false" flipV="false" rot="0">
              <a:off x="48260" y="35560"/>
              <a:ext cx="655320" cy="843280"/>
            </a:xfrm>
            <a:custGeom>
              <a:avLst/>
              <a:gdLst/>
              <a:ahLst/>
              <a:cxnLst/>
              <a:rect r="r" b="b" t="t" l="l"/>
              <a:pathLst>
                <a:path h="843280" w="655320">
                  <a:moveTo>
                    <a:pt x="209550" y="378460"/>
                  </a:moveTo>
                  <a:cubicBezTo>
                    <a:pt x="88900" y="105410"/>
                    <a:pt x="83820" y="69850"/>
                    <a:pt x="90170" y="46990"/>
                  </a:cubicBezTo>
                  <a:cubicBezTo>
                    <a:pt x="93980" y="33020"/>
                    <a:pt x="99060" y="21590"/>
                    <a:pt x="114300" y="15240"/>
                  </a:cubicBezTo>
                  <a:cubicBezTo>
                    <a:pt x="149860" y="0"/>
                    <a:pt x="274320" y="20320"/>
                    <a:pt x="327660" y="35560"/>
                  </a:cubicBezTo>
                  <a:cubicBezTo>
                    <a:pt x="363220" y="45720"/>
                    <a:pt x="383540" y="59690"/>
                    <a:pt x="410210" y="74930"/>
                  </a:cubicBezTo>
                  <a:cubicBezTo>
                    <a:pt x="438150" y="90170"/>
                    <a:pt x="464820" y="105410"/>
                    <a:pt x="491490" y="127000"/>
                  </a:cubicBezTo>
                  <a:cubicBezTo>
                    <a:pt x="521970" y="152400"/>
                    <a:pt x="554990" y="185420"/>
                    <a:pt x="581660" y="217170"/>
                  </a:cubicBezTo>
                  <a:cubicBezTo>
                    <a:pt x="605790" y="247650"/>
                    <a:pt x="633730" y="281940"/>
                    <a:pt x="645160" y="311150"/>
                  </a:cubicBezTo>
                  <a:cubicBezTo>
                    <a:pt x="652780" y="331470"/>
                    <a:pt x="655320" y="345440"/>
                    <a:pt x="655320" y="367030"/>
                  </a:cubicBezTo>
                  <a:cubicBezTo>
                    <a:pt x="654050" y="397510"/>
                    <a:pt x="648970" y="439420"/>
                    <a:pt x="628650" y="472440"/>
                  </a:cubicBezTo>
                  <a:cubicBezTo>
                    <a:pt x="604520" y="514350"/>
                    <a:pt x="556260" y="549910"/>
                    <a:pt x="500380" y="586740"/>
                  </a:cubicBezTo>
                  <a:cubicBezTo>
                    <a:pt x="421640" y="641350"/>
                    <a:pt x="273050" y="717550"/>
                    <a:pt x="184150" y="746760"/>
                  </a:cubicBezTo>
                  <a:cubicBezTo>
                    <a:pt x="125730" y="767080"/>
                    <a:pt x="59690" y="783590"/>
                    <a:pt x="30480" y="774700"/>
                  </a:cubicBezTo>
                  <a:cubicBezTo>
                    <a:pt x="15240" y="769620"/>
                    <a:pt x="2540" y="756920"/>
                    <a:pt x="2540" y="748030"/>
                  </a:cubicBezTo>
                  <a:cubicBezTo>
                    <a:pt x="2540" y="740410"/>
                    <a:pt x="11430" y="730250"/>
                    <a:pt x="25400" y="723900"/>
                  </a:cubicBezTo>
                  <a:cubicBezTo>
                    <a:pt x="67310" y="706120"/>
                    <a:pt x="227330" y="716280"/>
                    <a:pt x="313690" y="723900"/>
                  </a:cubicBezTo>
                  <a:cubicBezTo>
                    <a:pt x="388620" y="731520"/>
                    <a:pt x="466090" y="748030"/>
                    <a:pt x="516890" y="762000"/>
                  </a:cubicBezTo>
                  <a:cubicBezTo>
                    <a:pt x="548640" y="770890"/>
                    <a:pt x="579120" y="777240"/>
                    <a:pt x="590550" y="791210"/>
                  </a:cubicBezTo>
                  <a:cubicBezTo>
                    <a:pt x="598170" y="798830"/>
                    <a:pt x="600710" y="812800"/>
                    <a:pt x="598170" y="820420"/>
                  </a:cubicBezTo>
                  <a:cubicBezTo>
                    <a:pt x="595630" y="826770"/>
                    <a:pt x="586740" y="835660"/>
                    <a:pt x="579120" y="835660"/>
                  </a:cubicBezTo>
                  <a:cubicBezTo>
                    <a:pt x="570230" y="835660"/>
                    <a:pt x="552450" y="821690"/>
                    <a:pt x="549910" y="812800"/>
                  </a:cubicBezTo>
                  <a:cubicBezTo>
                    <a:pt x="547370" y="806450"/>
                    <a:pt x="552450" y="796290"/>
                    <a:pt x="558800" y="791210"/>
                  </a:cubicBezTo>
                  <a:cubicBezTo>
                    <a:pt x="563880" y="786130"/>
                    <a:pt x="575310" y="782320"/>
                    <a:pt x="581660" y="786130"/>
                  </a:cubicBezTo>
                  <a:cubicBezTo>
                    <a:pt x="589280" y="789940"/>
                    <a:pt x="600710" y="810260"/>
                    <a:pt x="599440" y="817880"/>
                  </a:cubicBezTo>
                  <a:cubicBezTo>
                    <a:pt x="596900" y="825500"/>
                    <a:pt x="588010" y="833120"/>
                    <a:pt x="574040" y="835660"/>
                  </a:cubicBezTo>
                  <a:cubicBezTo>
                    <a:pt x="533400" y="843280"/>
                    <a:pt x="405130" y="787400"/>
                    <a:pt x="313690" y="774700"/>
                  </a:cubicBezTo>
                  <a:cubicBezTo>
                    <a:pt x="217170" y="762000"/>
                    <a:pt x="30480" y="792480"/>
                    <a:pt x="8890" y="765810"/>
                  </a:cubicBezTo>
                  <a:cubicBezTo>
                    <a:pt x="0" y="755650"/>
                    <a:pt x="5080" y="737870"/>
                    <a:pt x="13970" y="727710"/>
                  </a:cubicBezTo>
                  <a:cubicBezTo>
                    <a:pt x="33020" y="708660"/>
                    <a:pt x="109220" y="718820"/>
                    <a:pt x="158750" y="703580"/>
                  </a:cubicBezTo>
                  <a:cubicBezTo>
                    <a:pt x="215900" y="685800"/>
                    <a:pt x="280670" y="646430"/>
                    <a:pt x="335280" y="618490"/>
                  </a:cubicBezTo>
                  <a:cubicBezTo>
                    <a:pt x="383540" y="594360"/>
                    <a:pt x="426720" y="575310"/>
                    <a:pt x="468630" y="547370"/>
                  </a:cubicBezTo>
                  <a:cubicBezTo>
                    <a:pt x="510540" y="519430"/>
                    <a:pt x="561340" y="485140"/>
                    <a:pt x="582930" y="450850"/>
                  </a:cubicBezTo>
                  <a:cubicBezTo>
                    <a:pt x="599440" y="426720"/>
                    <a:pt x="604520" y="400050"/>
                    <a:pt x="604520" y="374650"/>
                  </a:cubicBezTo>
                  <a:cubicBezTo>
                    <a:pt x="604520" y="350520"/>
                    <a:pt x="599440" y="328930"/>
                    <a:pt x="584200" y="303530"/>
                  </a:cubicBezTo>
                  <a:cubicBezTo>
                    <a:pt x="562610" y="262890"/>
                    <a:pt x="508000" y="207010"/>
                    <a:pt x="463550" y="170180"/>
                  </a:cubicBezTo>
                  <a:cubicBezTo>
                    <a:pt x="420370" y="134620"/>
                    <a:pt x="373380" y="105410"/>
                    <a:pt x="321310" y="86360"/>
                  </a:cubicBezTo>
                  <a:cubicBezTo>
                    <a:pt x="266700" y="64770"/>
                    <a:pt x="160020" y="27940"/>
                    <a:pt x="138430" y="50800"/>
                  </a:cubicBezTo>
                  <a:cubicBezTo>
                    <a:pt x="118110" y="72390"/>
                    <a:pt x="154940" y="148590"/>
                    <a:pt x="173990" y="198120"/>
                  </a:cubicBezTo>
                  <a:cubicBezTo>
                    <a:pt x="194310" y="252730"/>
                    <a:pt x="257810" y="328930"/>
                    <a:pt x="257810" y="361950"/>
                  </a:cubicBezTo>
                  <a:cubicBezTo>
                    <a:pt x="256540" y="375920"/>
                    <a:pt x="248920" y="388620"/>
                    <a:pt x="241300" y="391160"/>
                  </a:cubicBezTo>
                  <a:cubicBezTo>
                    <a:pt x="232410" y="393700"/>
                    <a:pt x="209550" y="378460"/>
                    <a:pt x="209550" y="378460"/>
                  </a:cubicBezTo>
                </a:path>
              </a:pathLst>
            </a:custGeom>
            <a:solidFill>
              <a:srgbClr val="0571D3"/>
            </a:solidFill>
            <a:ln cap="sq">
              <a:noFill/>
              <a:prstDash val="solid"/>
              <a:miter/>
            </a:ln>
          </p:spPr>
        </p:sp>
      </p:grpSp>
      <p:grpSp>
        <p:nvGrpSpPr>
          <p:cNvPr name="Group 8" id="8"/>
          <p:cNvGrpSpPr/>
          <p:nvPr/>
        </p:nvGrpSpPr>
        <p:grpSpPr>
          <a:xfrm rot="0">
            <a:off x="7648939" y="6453065"/>
            <a:ext cx="394433" cy="626016"/>
            <a:chOff x="0" y="0"/>
            <a:chExt cx="473710" cy="751840"/>
          </a:xfrm>
        </p:grpSpPr>
        <p:sp>
          <p:nvSpPr>
            <p:cNvPr name="Freeform 9" id="9"/>
            <p:cNvSpPr/>
            <p:nvPr/>
          </p:nvSpPr>
          <p:spPr>
            <a:xfrm flipH="false" flipV="false" rot="0">
              <a:off x="49530" y="49530"/>
              <a:ext cx="381000" cy="652780"/>
            </a:xfrm>
            <a:custGeom>
              <a:avLst/>
              <a:gdLst/>
              <a:ahLst/>
              <a:cxnLst/>
              <a:rect r="r" b="b" t="t" l="l"/>
              <a:pathLst>
                <a:path h="652780" w="381000">
                  <a:moveTo>
                    <a:pt x="82550" y="156210"/>
                  </a:moveTo>
                  <a:cubicBezTo>
                    <a:pt x="147320" y="12700"/>
                    <a:pt x="167640" y="2540"/>
                    <a:pt x="185420" y="1270"/>
                  </a:cubicBezTo>
                  <a:cubicBezTo>
                    <a:pt x="203200" y="0"/>
                    <a:pt x="224790" y="5080"/>
                    <a:pt x="236220" y="17780"/>
                  </a:cubicBezTo>
                  <a:cubicBezTo>
                    <a:pt x="250190" y="34290"/>
                    <a:pt x="252730" y="81280"/>
                    <a:pt x="250190" y="110490"/>
                  </a:cubicBezTo>
                  <a:cubicBezTo>
                    <a:pt x="247650" y="135890"/>
                    <a:pt x="238760" y="156210"/>
                    <a:pt x="227330" y="184150"/>
                  </a:cubicBezTo>
                  <a:cubicBezTo>
                    <a:pt x="212090" y="220980"/>
                    <a:pt x="189230" y="288290"/>
                    <a:pt x="162560" y="313690"/>
                  </a:cubicBezTo>
                  <a:cubicBezTo>
                    <a:pt x="146050" y="328930"/>
                    <a:pt x="105410" y="337820"/>
                    <a:pt x="105410" y="336550"/>
                  </a:cubicBezTo>
                  <a:cubicBezTo>
                    <a:pt x="105410" y="336550"/>
                    <a:pt x="185420" y="289560"/>
                    <a:pt x="224790" y="284480"/>
                  </a:cubicBezTo>
                  <a:cubicBezTo>
                    <a:pt x="261620" y="278130"/>
                    <a:pt x="308610" y="283210"/>
                    <a:pt x="332740" y="297180"/>
                  </a:cubicBezTo>
                  <a:cubicBezTo>
                    <a:pt x="350520" y="307340"/>
                    <a:pt x="361950" y="323850"/>
                    <a:pt x="368300" y="344170"/>
                  </a:cubicBezTo>
                  <a:cubicBezTo>
                    <a:pt x="378460" y="370840"/>
                    <a:pt x="381000" y="420370"/>
                    <a:pt x="372110" y="449580"/>
                  </a:cubicBezTo>
                  <a:cubicBezTo>
                    <a:pt x="365760" y="473710"/>
                    <a:pt x="350520" y="488950"/>
                    <a:pt x="334010" y="508000"/>
                  </a:cubicBezTo>
                  <a:cubicBezTo>
                    <a:pt x="312420" y="529590"/>
                    <a:pt x="285750" y="549910"/>
                    <a:pt x="250190" y="568960"/>
                  </a:cubicBezTo>
                  <a:cubicBezTo>
                    <a:pt x="195580" y="598170"/>
                    <a:pt x="67310" y="650240"/>
                    <a:pt x="30480" y="651510"/>
                  </a:cubicBezTo>
                  <a:cubicBezTo>
                    <a:pt x="19050" y="651510"/>
                    <a:pt x="12700" y="648970"/>
                    <a:pt x="7620" y="643890"/>
                  </a:cubicBezTo>
                  <a:cubicBezTo>
                    <a:pt x="3810" y="638810"/>
                    <a:pt x="0" y="628650"/>
                    <a:pt x="1270" y="621030"/>
                  </a:cubicBezTo>
                  <a:cubicBezTo>
                    <a:pt x="2540" y="614680"/>
                    <a:pt x="8890" y="605790"/>
                    <a:pt x="15240" y="603250"/>
                  </a:cubicBezTo>
                  <a:cubicBezTo>
                    <a:pt x="22860" y="599440"/>
                    <a:pt x="34290" y="600710"/>
                    <a:pt x="39370" y="604520"/>
                  </a:cubicBezTo>
                  <a:cubicBezTo>
                    <a:pt x="45720" y="608330"/>
                    <a:pt x="52070" y="618490"/>
                    <a:pt x="52070" y="624840"/>
                  </a:cubicBezTo>
                  <a:cubicBezTo>
                    <a:pt x="50800" y="633730"/>
                    <a:pt x="40640" y="647700"/>
                    <a:pt x="34290" y="650240"/>
                  </a:cubicBezTo>
                  <a:cubicBezTo>
                    <a:pt x="26670" y="652780"/>
                    <a:pt x="15240" y="650240"/>
                    <a:pt x="10160" y="646430"/>
                  </a:cubicBezTo>
                  <a:cubicBezTo>
                    <a:pt x="5080" y="641350"/>
                    <a:pt x="0" y="631190"/>
                    <a:pt x="1270" y="624840"/>
                  </a:cubicBezTo>
                  <a:cubicBezTo>
                    <a:pt x="1270" y="617220"/>
                    <a:pt x="5080" y="612140"/>
                    <a:pt x="13970" y="604520"/>
                  </a:cubicBezTo>
                  <a:cubicBezTo>
                    <a:pt x="43180" y="579120"/>
                    <a:pt x="215900" y="528320"/>
                    <a:pt x="259080" y="502920"/>
                  </a:cubicBezTo>
                  <a:cubicBezTo>
                    <a:pt x="276860" y="492760"/>
                    <a:pt x="283210" y="487680"/>
                    <a:pt x="293370" y="476250"/>
                  </a:cubicBezTo>
                  <a:cubicBezTo>
                    <a:pt x="304800" y="462280"/>
                    <a:pt x="317500" y="441960"/>
                    <a:pt x="322580" y="421640"/>
                  </a:cubicBezTo>
                  <a:cubicBezTo>
                    <a:pt x="327660" y="398780"/>
                    <a:pt x="331470" y="359410"/>
                    <a:pt x="318770" y="344170"/>
                  </a:cubicBezTo>
                  <a:cubicBezTo>
                    <a:pt x="307340" y="330200"/>
                    <a:pt x="280670" y="330200"/>
                    <a:pt x="255270" y="331470"/>
                  </a:cubicBezTo>
                  <a:cubicBezTo>
                    <a:pt x="213360" y="332740"/>
                    <a:pt x="124460" y="386080"/>
                    <a:pt x="96520" y="379730"/>
                  </a:cubicBezTo>
                  <a:cubicBezTo>
                    <a:pt x="83820" y="377190"/>
                    <a:pt x="76200" y="367030"/>
                    <a:pt x="72390" y="358140"/>
                  </a:cubicBezTo>
                  <a:cubicBezTo>
                    <a:pt x="69850" y="346710"/>
                    <a:pt x="76200" y="325120"/>
                    <a:pt x="83820" y="312420"/>
                  </a:cubicBezTo>
                  <a:cubicBezTo>
                    <a:pt x="91440" y="300990"/>
                    <a:pt x="109220" y="299720"/>
                    <a:pt x="120650" y="285750"/>
                  </a:cubicBezTo>
                  <a:cubicBezTo>
                    <a:pt x="140970" y="261620"/>
                    <a:pt x="165100" y="199390"/>
                    <a:pt x="179070" y="167640"/>
                  </a:cubicBezTo>
                  <a:cubicBezTo>
                    <a:pt x="187960" y="146050"/>
                    <a:pt x="195580" y="132080"/>
                    <a:pt x="199390" y="113030"/>
                  </a:cubicBezTo>
                  <a:cubicBezTo>
                    <a:pt x="203200" y="92710"/>
                    <a:pt x="207010" y="55880"/>
                    <a:pt x="199390" y="50800"/>
                  </a:cubicBezTo>
                  <a:cubicBezTo>
                    <a:pt x="194310" y="46990"/>
                    <a:pt x="180340" y="53340"/>
                    <a:pt x="173990" y="58420"/>
                  </a:cubicBezTo>
                  <a:cubicBezTo>
                    <a:pt x="167640" y="63500"/>
                    <a:pt x="163830" y="71120"/>
                    <a:pt x="158750" y="82550"/>
                  </a:cubicBezTo>
                  <a:cubicBezTo>
                    <a:pt x="148590" y="104140"/>
                    <a:pt x="142240" y="166370"/>
                    <a:pt x="125730" y="180340"/>
                  </a:cubicBezTo>
                  <a:cubicBezTo>
                    <a:pt x="116840" y="187960"/>
                    <a:pt x="99060" y="187960"/>
                    <a:pt x="92710" y="184150"/>
                  </a:cubicBezTo>
                  <a:cubicBezTo>
                    <a:pt x="85090" y="179070"/>
                    <a:pt x="82550" y="156210"/>
                    <a:pt x="82550" y="156210"/>
                  </a:cubicBezTo>
                </a:path>
              </a:pathLst>
            </a:custGeom>
            <a:solidFill>
              <a:srgbClr val="0571D3"/>
            </a:solidFill>
            <a:ln cap="sq">
              <a:noFill/>
              <a:prstDash val="solid"/>
              <a:miter/>
            </a:ln>
          </p:spPr>
        </p:sp>
      </p:grpSp>
      <p:grpSp>
        <p:nvGrpSpPr>
          <p:cNvPr name="Group 10" id="10"/>
          <p:cNvGrpSpPr/>
          <p:nvPr/>
        </p:nvGrpSpPr>
        <p:grpSpPr>
          <a:xfrm rot="0">
            <a:off x="8874535" y="6453065"/>
            <a:ext cx="678889" cy="727532"/>
            <a:chOff x="0" y="0"/>
            <a:chExt cx="815340" cy="873760"/>
          </a:xfrm>
        </p:grpSpPr>
        <p:sp>
          <p:nvSpPr>
            <p:cNvPr name="Freeform 11" id="11"/>
            <p:cNvSpPr/>
            <p:nvPr/>
          </p:nvSpPr>
          <p:spPr>
            <a:xfrm flipH="false" flipV="false" rot="0">
              <a:off x="46990" y="45720"/>
              <a:ext cx="718820" cy="777240"/>
            </a:xfrm>
            <a:custGeom>
              <a:avLst/>
              <a:gdLst/>
              <a:ahLst/>
              <a:cxnLst/>
              <a:rect r="r" b="b" t="t" l="l"/>
              <a:pathLst>
                <a:path h="777240" w="718820">
                  <a:moveTo>
                    <a:pt x="373380" y="31750"/>
                  </a:moveTo>
                  <a:cubicBezTo>
                    <a:pt x="341630" y="121920"/>
                    <a:pt x="273050" y="207010"/>
                    <a:pt x="227330" y="264160"/>
                  </a:cubicBezTo>
                  <a:cubicBezTo>
                    <a:pt x="184150" y="317500"/>
                    <a:pt x="124460" y="386080"/>
                    <a:pt x="93980" y="414020"/>
                  </a:cubicBezTo>
                  <a:cubicBezTo>
                    <a:pt x="80010" y="425450"/>
                    <a:pt x="72390" y="435610"/>
                    <a:pt x="60960" y="435610"/>
                  </a:cubicBezTo>
                  <a:cubicBezTo>
                    <a:pt x="52070" y="436880"/>
                    <a:pt x="33020" y="426720"/>
                    <a:pt x="34290" y="422910"/>
                  </a:cubicBezTo>
                  <a:cubicBezTo>
                    <a:pt x="36830" y="406400"/>
                    <a:pt x="495300" y="429260"/>
                    <a:pt x="554990" y="403860"/>
                  </a:cubicBezTo>
                  <a:cubicBezTo>
                    <a:pt x="570230" y="397510"/>
                    <a:pt x="574040" y="394970"/>
                    <a:pt x="579120" y="382270"/>
                  </a:cubicBezTo>
                  <a:cubicBezTo>
                    <a:pt x="591820" y="354330"/>
                    <a:pt x="570230" y="246380"/>
                    <a:pt x="586740" y="220980"/>
                  </a:cubicBezTo>
                  <a:cubicBezTo>
                    <a:pt x="594360" y="208280"/>
                    <a:pt x="612140" y="201930"/>
                    <a:pt x="619760" y="203200"/>
                  </a:cubicBezTo>
                  <a:cubicBezTo>
                    <a:pt x="627380" y="205740"/>
                    <a:pt x="632460" y="213360"/>
                    <a:pt x="636270" y="227330"/>
                  </a:cubicBezTo>
                  <a:cubicBezTo>
                    <a:pt x="651510" y="273050"/>
                    <a:pt x="638810" y="471170"/>
                    <a:pt x="647700" y="554990"/>
                  </a:cubicBezTo>
                  <a:cubicBezTo>
                    <a:pt x="654050" y="609600"/>
                    <a:pt x="656590" y="652780"/>
                    <a:pt x="671830" y="687070"/>
                  </a:cubicBezTo>
                  <a:cubicBezTo>
                    <a:pt x="681990" y="711200"/>
                    <a:pt x="716280" y="728980"/>
                    <a:pt x="716280" y="745490"/>
                  </a:cubicBezTo>
                  <a:cubicBezTo>
                    <a:pt x="716280" y="756920"/>
                    <a:pt x="704850" y="774700"/>
                    <a:pt x="695960" y="775970"/>
                  </a:cubicBezTo>
                  <a:cubicBezTo>
                    <a:pt x="687070" y="777240"/>
                    <a:pt x="669290" y="762000"/>
                    <a:pt x="666750" y="753110"/>
                  </a:cubicBezTo>
                  <a:cubicBezTo>
                    <a:pt x="664210" y="746760"/>
                    <a:pt x="669290" y="736600"/>
                    <a:pt x="675640" y="731520"/>
                  </a:cubicBezTo>
                  <a:cubicBezTo>
                    <a:pt x="680720" y="726440"/>
                    <a:pt x="692150" y="723900"/>
                    <a:pt x="698500" y="726440"/>
                  </a:cubicBezTo>
                  <a:cubicBezTo>
                    <a:pt x="706120" y="730250"/>
                    <a:pt x="718820" y="750570"/>
                    <a:pt x="716280" y="758190"/>
                  </a:cubicBezTo>
                  <a:cubicBezTo>
                    <a:pt x="713740" y="767080"/>
                    <a:pt x="693420" y="775970"/>
                    <a:pt x="681990" y="774700"/>
                  </a:cubicBezTo>
                  <a:cubicBezTo>
                    <a:pt x="668020" y="772160"/>
                    <a:pt x="650240" y="755650"/>
                    <a:pt x="637540" y="735330"/>
                  </a:cubicBezTo>
                  <a:cubicBezTo>
                    <a:pt x="617220" y="701040"/>
                    <a:pt x="607060" y="631190"/>
                    <a:pt x="598170" y="563880"/>
                  </a:cubicBezTo>
                  <a:cubicBezTo>
                    <a:pt x="585470" y="471170"/>
                    <a:pt x="575310" y="271780"/>
                    <a:pt x="585470" y="227330"/>
                  </a:cubicBezTo>
                  <a:cubicBezTo>
                    <a:pt x="588010" y="215900"/>
                    <a:pt x="590550" y="210820"/>
                    <a:pt x="596900" y="205740"/>
                  </a:cubicBezTo>
                  <a:cubicBezTo>
                    <a:pt x="601980" y="201930"/>
                    <a:pt x="613410" y="200660"/>
                    <a:pt x="619760" y="203200"/>
                  </a:cubicBezTo>
                  <a:cubicBezTo>
                    <a:pt x="627380" y="207010"/>
                    <a:pt x="632460" y="214630"/>
                    <a:pt x="636270" y="227330"/>
                  </a:cubicBezTo>
                  <a:cubicBezTo>
                    <a:pt x="645160" y="256540"/>
                    <a:pt x="636270" y="360680"/>
                    <a:pt x="628650" y="392430"/>
                  </a:cubicBezTo>
                  <a:cubicBezTo>
                    <a:pt x="624840" y="405130"/>
                    <a:pt x="621030" y="410210"/>
                    <a:pt x="613410" y="419100"/>
                  </a:cubicBezTo>
                  <a:cubicBezTo>
                    <a:pt x="601980" y="431800"/>
                    <a:pt x="586740" y="444500"/>
                    <a:pt x="560070" y="453390"/>
                  </a:cubicBezTo>
                  <a:cubicBezTo>
                    <a:pt x="495300" y="474980"/>
                    <a:pt x="307340" y="473710"/>
                    <a:pt x="208280" y="473710"/>
                  </a:cubicBezTo>
                  <a:cubicBezTo>
                    <a:pt x="135890" y="473710"/>
                    <a:pt x="44450" y="481330"/>
                    <a:pt x="17780" y="462280"/>
                  </a:cubicBezTo>
                  <a:cubicBezTo>
                    <a:pt x="6350" y="453390"/>
                    <a:pt x="0" y="443230"/>
                    <a:pt x="3810" y="427990"/>
                  </a:cubicBezTo>
                  <a:cubicBezTo>
                    <a:pt x="11430" y="387350"/>
                    <a:pt x="132080" y="299720"/>
                    <a:pt x="185420" y="236220"/>
                  </a:cubicBezTo>
                  <a:cubicBezTo>
                    <a:pt x="233680" y="179070"/>
                    <a:pt x="292100" y="107950"/>
                    <a:pt x="313690" y="64770"/>
                  </a:cubicBezTo>
                  <a:cubicBezTo>
                    <a:pt x="325120" y="43180"/>
                    <a:pt x="320040" y="17780"/>
                    <a:pt x="330200" y="8890"/>
                  </a:cubicBezTo>
                  <a:cubicBezTo>
                    <a:pt x="339090" y="2540"/>
                    <a:pt x="356870" y="0"/>
                    <a:pt x="363220" y="5080"/>
                  </a:cubicBezTo>
                  <a:cubicBezTo>
                    <a:pt x="370840" y="8890"/>
                    <a:pt x="373380" y="31750"/>
                    <a:pt x="373380" y="31750"/>
                  </a:cubicBezTo>
                </a:path>
              </a:pathLst>
            </a:custGeom>
            <a:solidFill>
              <a:srgbClr val="0571D3"/>
            </a:solidFill>
            <a:ln cap="sq">
              <a:noFill/>
              <a:prstDash val="solid"/>
              <a:miter/>
            </a:ln>
          </p:spPr>
        </p:sp>
      </p:grpSp>
      <p:grpSp>
        <p:nvGrpSpPr>
          <p:cNvPr name="Group 12" id="12"/>
          <p:cNvGrpSpPr/>
          <p:nvPr/>
        </p:nvGrpSpPr>
        <p:grpSpPr>
          <a:xfrm rot="0">
            <a:off x="9174854" y="7103403"/>
            <a:ext cx="630246" cy="194573"/>
            <a:chOff x="0" y="0"/>
            <a:chExt cx="756920" cy="233680"/>
          </a:xfrm>
        </p:grpSpPr>
        <p:sp>
          <p:nvSpPr>
            <p:cNvPr name="Freeform 13" id="13"/>
            <p:cNvSpPr/>
            <p:nvPr/>
          </p:nvSpPr>
          <p:spPr>
            <a:xfrm flipH="false" flipV="false" rot="0">
              <a:off x="49530" y="35560"/>
              <a:ext cx="656590" cy="156210"/>
            </a:xfrm>
            <a:custGeom>
              <a:avLst/>
              <a:gdLst/>
              <a:ahLst/>
              <a:cxnLst/>
              <a:rect r="r" b="b" t="t" l="l"/>
              <a:pathLst>
                <a:path h="156210" w="656590">
                  <a:moveTo>
                    <a:pt x="26670" y="95250"/>
                  </a:moveTo>
                  <a:cubicBezTo>
                    <a:pt x="262890" y="86360"/>
                    <a:pt x="565150" y="0"/>
                    <a:pt x="626110" y="15240"/>
                  </a:cubicBezTo>
                  <a:cubicBezTo>
                    <a:pt x="643890" y="19050"/>
                    <a:pt x="655320" y="29210"/>
                    <a:pt x="655320" y="38100"/>
                  </a:cubicBezTo>
                  <a:cubicBezTo>
                    <a:pt x="656590" y="45720"/>
                    <a:pt x="640080" y="64770"/>
                    <a:pt x="631190" y="66040"/>
                  </a:cubicBezTo>
                  <a:cubicBezTo>
                    <a:pt x="623570" y="66040"/>
                    <a:pt x="604520" y="48260"/>
                    <a:pt x="604520" y="40640"/>
                  </a:cubicBezTo>
                  <a:cubicBezTo>
                    <a:pt x="605790" y="31750"/>
                    <a:pt x="623570" y="15240"/>
                    <a:pt x="632460" y="15240"/>
                  </a:cubicBezTo>
                  <a:cubicBezTo>
                    <a:pt x="640080" y="15240"/>
                    <a:pt x="654050" y="26670"/>
                    <a:pt x="655320" y="35560"/>
                  </a:cubicBezTo>
                  <a:cubicBezTo>
                    <a:pt x="656590" y="43180"/>
                    <a:pt x="648970" y="55880"/>
                    <a:pt x="635000" y="66040"/>
                  </a:cubicBezTo>
                  <a:cubicBezTo>
                    <a:pt x="580390" y="100330"/>
                    <a:pt x="267970" y="138430"/>
                    <a:pt x="154940" y="146050"/>
                  </a:cubicBezTo>
                  <a:cubicBezTo>
                    <a:pt x="95250" y="151130"/>
                    <a:pt x="35560" y="156210"/>
                    <a:pt x="13970" y="143510"/>
                  </a:cubicBezTo>
                  <a:cubicBezTo>
                    <a:pt x="5080" y="137160"/>
                    <a:pt x="0" y="125730"/>
                    <a:pt x="1270" y="118110"/>
                  </a:cubicBezTo>
                  <a:cubicBezTo>
                    <a:pt x="2540" y="109220"/>
                    <a:pt x="26670" y="95250"/>
                    <a:pt x="26670" y="95250"/>
                  </a:cubicBezTo>
                </a:path>
              </a:pathLst>
            </a:custGeom>
            <a:solidFill>
              <a:srgbClr val="0571D3"/>
            </a:solidFill>
            <a:ln cap="sq">
              <a:noFill/>
              <a:prstDash val="solid"/>
              <a:miter/>
            </a:ln>
          </p:spPr>
        </p:sp>
      </p:grpSp>
      <p:sp>
        <p:nvSpPr>
          <p:cNvPr name="TextBox 14" id="14"/>
          <p:cNvSpPr txBox="true"/>
          <p:nvPr/>
        </p:nvSpPr>
        <p:spPr>
          <a:xfrm rot="0">
            <a:off x="11365425" y="5164878"/>
            <a:ext cx="4439394" cy="485775"/>
          </a:xfrm>
          <a:prstGeom prst="rect">
            <a:avLst/>
          </a:prstGeom>
        </p:spPr>
        <p:txBody>
          <a:bodyPr anchor="t" rtlCol="false" tIns="0" lIns="0" bIns="0" rIns="0">
            <a:spAutoFit/>
          </a:bodyPr>
          <a:lstStyle/>
          <a:p>
            <a:pPr algn="ctr">
              <a:lnSpc>
                <a:spcPts val="3840"/>
              </a:lnSpc>
              <a:spcBef>
                <a:spcPct val="0"/>
              </a:spcBef>
            </a:pPr>
            <a:r>
              <a:rPr lang="en-US" b="true" sz="3200">
                <a:solidFill>
                  <a:srgbClr val="FFFFFF"/>
                </a:solidFill>
                <a:latin typeface="Josefin Sans Bold"/>
                <a:ea typeface="Josefin Sans Bold"/>
                <a:cs typeface="Josefin Sans Bold"/>
                <a:sym typeface="Josefin Sans Bold"/>
              </a:rPr>
              <a:t>Hình 4 là nhìn rõ nhất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4334073" y="2677277"/>
            <a:ext cx="9619853" cy="5687738"/>
          </a:xfrm>
          <a:custGeom>
            <a:avLst/>
            <a:gdLst/>
            <a:ahLst/>
            <a:cxnLst/>
            <a:rect r="r" b="b" t="t" l="l"/>
            <a:pathLst>
              <a:path h="5687738" w="9619853">
                <a:moveTo>
                  <a:pt x="0" y="0"/>
                </a:moveTo>
                <a:lnTo>
                  <a:pt x="9619854" y="0"/>
                </a:lnTo>
                <a:lnTo>
                  <a:pt x="9619854" y="5687739"/>
                </a:lnTo>
                <a:lnTo>
                  <a:pt x="0" y="5687739"/>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2722897"/>
            <a:ext cx="11301259" cy="5777769"/>
          </a:xfrm>
          <a:custGeom>
            <a:avLst/>
            <a:gdLst/>
            <a:ahLst/>
            <a:cxnLst/>
            <a:rect r="r" b="b" t="t" l="l"/>
            <a:pathLst>
              <a:path h="5777769" w="11301259">
                <a:moveTo>
                  <a:pt x="0" y="0"/>
                </a:moveTo>
                <a:lnTo>
                  <a:pt x="11301258" y="0"/>
                </a:lnTo>
                <a:lnTo>
                  <a:pt x="11301258" y="5777769"/>
                </a:lnTo>
                <a:lnTo>
                  <a:pt x="0" y="5777769"/>
                </a:lnTo>
                <a:lnTo>
                  <a:pt x="0" y="0"/>
                </a:lnTo>
                <a:close/>
              </a:path>
            </a:pathLst>
          </a:custGeom>
          <a:blipFill>
            <a:blip r:embed="rId2"/>
            <a:stretch>
              <a:fillRect l="0" t="0" r="0" b="0"/>
            </a:stretch>
          </a:blipFill>
        </p:spPr>
      </p:sp>
      <p:sp>
        <p:nvSpPr>
          <p:cNvPr name="TextBox 3" id="3"/>
          <p:cNvSpPr txBox="true"/>
          <p:nvPr/>
        </p:nvSpPr>
        <p:spPr>
          <a:xfrm rot="0">
            <a:off x="1028700" y="1028700"/>
            <a:ext cx="16230600" cy="971550"/>
          </a:xfrm>
          <a:prstGeom prst="rect">
            <a:avLst/>
          </a:prstGeom>
        </p:spPr>
        <p:txBody>
          <a:bodyPr anchor="t" rtlCol="false" tIns="0" lIns="0" bIns="0" rIns="0">
            <a:spAutoFit/>
          </a:bodyPr>
          <a:lstStyle/>
          <a:p>
            <a:pPr algn="ctr">
              <a:lnSpc>
                <a:spcPts val="3840"/>
              </a:lnSpc>
              <a:spcBef>
                <a:spcPct val="0"/>
              </a:spcBef>
            </a:pPr>
            <a:r>
              <a:rPr lang="en-US" b="true" sz="3200">
                <a:solidFill>
                  <a:srgbClr val="2B4B82"/>
                </a:solidFill>
                <a:latin typeface="Josefin Sans Bold"/>
                <a:ea typeface="Josefin Sans Bold"/>
                <a:cs typeface="Josefin Sans Bold"/>
                <a:sym typeface="Josefin Sans Bold"/>
              </a:rPr>
              <a:t>Hình này mô tả mô hình xử lý thông tin của người dùng liên quan đến bộ nhớ. Nó minh họa cách thông tin đi qua các giai đoạn khác nhau của bộ nhớ:</a:t>
            </a:r>
          </a:p>
        </p:txBody>
      </p:sp>
      <p:sp>
        <p:nvSpPr>
          <p:cNvPr name="TextBox 4" id="4"/>
          <p:cNvSpPr txBox="true"/>
          <p:nvPr/>
        </p:nvSpPr>
        <p:spPr>
          <a:xfrm rot="0">
            <a:off x="5742199" y="2831110"/>
            <a:ext cx="1002953" cy="485775"/>
          </a:xfrm>
          <a:prstGeom prst="rect">
            <a:avLst/>
          </a:prstGeom>
        </p:spPr>
        <p:txBody>
          <a:bodyPr anchor="t" rtlCol="false" tIns="0" lIns="0" bIns="0" rIns="0">
            <a:spAutoFit/>
          </a:bodyPr>
          <a:lstStyle/>
          <a:p>
            <a:pPr algn="ctr">
              <a:lnSpc>
                <a:spcPts val="3840"/>
              </a:lnSpc>
              <a:spcBef>
                <a:spcPct val="0"/>
              </a:spcBef>
            </a:pPr>
            <a:r>
              <a:rPr lang="en-US" b="true" sz="3200">
                <a:solidFill>
                  <a:srgbClr val="F0ABC1"/>
                </a:solidFill>
                <a:latin typeface="Josefin Sans Bold"/>
                <a:ea typeface="Josefin Sans Bold"/>
                <a:cs typeface="Josefin Sans Bold"/>
                <a:sym typeface="Josefin Sans Bold"/>
              </a:rPr>
              <a:t>ký ức</a:t>
            </a:r>
          </a:p>
        </p:txBody>
      </p:sp>
      <p:sp>
        <p:nvSpPr>
          <p:cNvPr name="TextBox 5" id="5"/>
          <p:cNvSpPr txBox="true"/>
          <p:nvPr/>
        </p:nvSpPr>
        <p:spPr>
          <a:xfrm rot="0">
            <a:off x="4133442" y="3994261"/>
            <a:ext cx="3217515" cy="485775"/>
          </a:xfrm>
          <a:prstGeom prst="rect">
            <a:avLst/>
          </a:prstGeom>
        </p:spPr>
        <p:txBody>
          <a:bodyPr anchor="t" rtlCol="false" tIns="0" lIns="0" bIns="0" rIns="0">
            <a:spAutoFit/>
          </a:bodyPr>
          <a:lstStyle/>
          <a:p>
            <a:pPr algn="ctr">
              <a:lnSpc>
                <a:spcPts val="3840"/>
              </a:lnSpc>
              <a:spcBef>
                <a:spcPct val="0"/>
              </a:spcBef>
            </a:pPr>
            <a:r>
              <a:rPr lang="en-US" b="true" sz="3200">
                <a:solidFill>
                  <a:srgbClr val="F0ABC1"/>
                </a:solidFill>
                <a:latin typeface="Josefin Sans Bold"/>
                <a:ea typeface="Josefin Sans Bold"/>
                <a:cs typeface="Josefin Sans Bold"/>
                <a:sym typeface="Josefin Sans Bold"/>
              </a:rPr>
              <a:t>Bộ nhớ cảm giác</a:t>
            </a:r>
          </a:p>
        </p:txBody>
      </p:sp>
      <p:sp>
        <p:nvSpPr>
          <p:cNvPr name="TextBox 6" id="6"/>
          <p:cNvSpPr txBox="true"/>
          <p:nvPr/>
        </p:nvSpPr>
        <p:spPr>
          <a:xfrm rot="0">
            <a:off x="5990321" y="6013330"/>
            <a:ext cx="7999214"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F0ABC1"/>
                </a:solidFill>
                <a:latin typeface="Canva Sans Bold"/>
                <a:ea typeface="Canva Sans Bold"/>
                <a:cs typeface="Canva Sans Bold"/>
                <a:sym typeface="Canva Sans Bold"/>
              </a:rPr>
              <a:t>trí nhớ ngắn hạn hoặc trí nhớ làm việc</a:t>
            </a:r>
          </a:p>
        </p:txBody>
      </p:sp>
      <p:sp>
        <p:nvSpPr>
          <p:cNvPr name="TextBox 7" id="7"/>
          <p:cNvSpPr txBox="true"/>
          <p:nvPr/>
        </p:nvSpPr>
        <p:spPr>
          <a:xfrm rot="0">
            <a:off x="9846601" y="4971084"/>
            <a:ext cx="1132582"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F0ABC1"/>
                </a:solidFill>
                <a:latin typeface="Canva Sans Bold"/>
                <a:ea typeface="Canva Sans Bold"/>
                <a:cs typeface="Canva Sans Bold"/>
                <a:sym typeface="Canva Sans Bold"/>
              </a:rPr>
              <a:t>chú ý</a:t>
            </a:r>
          </a:p>
        </p:txBody>
      </p:sp>
      <p:sp>
        <p:nvSpPr>
          <p:cNvPr name="TextBox 8" id="8"/>
          <p:cNvSpPr txBox="true"/>
          <p:nvPr/>
        </p:nvSpPr>
        <p:spPr>
          <a:xfrm rot="0">
            <a:off x="11542984" y="6723305"/>
            <a:ext cx="2996654"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F0ABC1"/>
                </a:solidFill>
                <a:latin typeface="Canva Sans Bold"/>
                <a:ea typeface="Canva Sans Bold"/>
                <a:cs typeface="Canva Sans Bold"/>
                <a:sym typeface="Canva Sans Bold"/>
              </a:rPr>
              <a:t>Lặp lại, ôn tập</a:t>
            </a:r>
          </a:p>
        </p:txBody>
      </p:sp>
      <p:sp>
        <p:nvSpPr>
          <p:cNvPr name="TextBox 9" id="9"/>
          <p:cNvSpPr txBox="true"/>
          <p:nvPr/>
        </p:nvSpPr>
        <p:spPr>
          <a:xfrm rot="0">
            <a:off x="355477" y="9092055"/>
            <a:ext cx="17932523" cy="742950"/>
          </a:xfrm>
          <a:prstGeom prst="rect">
            <a:avLst/>
          </a:prstGeom>
        </p:spPr>
        <p:txBody>
          <a:bodyPr anchor="t" rtlCol="false" tIns="0" lIns="0" bIns="0" rIns="0">
            <a:spAutoFit/>
          </a:bodyPr>
          <a:lstStyle/>
          <a:p>
            <a:pPr algn="l">
              <a:lnSpc>
                <a:spcPts val="2880"/>
              </a:lnSpc>
              <a:spcBef>
                <a:spcPct val="0"/>
              </a:spcBef>
            </a:pPr>
            <a:r>
              <a:rPr lang="en-US" b="true" sz="2400">
                <a:solidFill>
                  <a:srgbClr val="2B4B82"/>
                </a:solidFill>
                <a:latin typeface="Josefin Sans Bold"/>
                <a:ea typeface="Josefin Sans Bold"/>
                <a:cs typeface="Josefin Sans Bold"/>
                <a:sym typeface="Josefin Sans Bold"/>
              </a:rPr>
              <a:t>Lặp lại, ôn tập: Nếu thông tin trong bộ nhớ ngắn hạn được lặp lại hoặc sử dụng nhiều lần, nó sẽ có cơ hội chuyển sang bộ nhớ dài hạn, nơi thông tin có thể được lưu giữ lâu hơn.</a:t>
            </a:r>
          </a:p>
        </p:txBody>
      </p:sp>
      <p:sp>
        <p:nvSpPr>
          <p:cNvPr name="TextBox 10" id="10"/>
          <p:cNvSpPr txBox="true"/>
          <p:nvPr/>
        </p:nvSpPr>
        <p:spPr>
          <a:xfrm rot="0">
            <a:off x="7806119" y="2685084"/>
            <a:ext cx="6988510" cy="1466850"/>
          </a:xfrm>
          <a:prstGeom prst="rect">
            <a:avLst/>
          </a:prstGeom>
        </p:spPr>
        <p:txBody>
          <a:bodyPr anchor="t" rtlCol="false" tIns="0" lIns="0" bIns="0" rIns="0">
            <a:spAutoFit/>
          </a:bodyPr>
          <a:lstStyle/>
          <a:p>
            <a:pPr algn="l">
              <a:lnSpc>
                <a:spcPts val="2879"/>
              </a:lnSpc>
              <a:spcBef>
                <a:spcPct val="0"/>
              </a:spcBef>
            </a:pPr>
            <a:r>
              <a:rPr lang="en-US" b="true" sz="2400">
                <a:solidFill>
                  <a:srgbClr val="2B4B82"/>
                </a:solidFill>
                <a:latin typeface="Josefin Sans Bold"/>
                <a:ea typeface="Josefin Sans Bold"/>
                <a:cs typeface="Josefin Sans Bold"/>
                <a:sym typeface="Josefin Sans Bold"/>
              </a:rPr>
              <a:t>Bộ nhớ cảm giác: Đây là giai đoạn đầu tiên, nơi thông tin được tiếp nhận từ môi trường thông qua các giác quan. </a:t>
            </a:r>
            <a:r>
              <a:rPr lang="en-US" b="true" sz="2400">
                <a:solidFill>
                  <a:srgbClr val="FFBD59"/>
                </a:solidFill>
                <a:latin typeface="Josefin Sans Bold"/>
                <a:ea typeface="Josefin Sans Bold"/>
                <a:cs typeface="Josefin Sans Bold"/>
                <a:sym typeface="Josefin Sans Bold"/>
              </a:rPr>
              <a:t>Tuy nhiên, nếu không được chú ý, thông tin sẽ bị lãng quên nhanh chóng.</a:t>
            </a:r>
          </a:p>
        </p:txBody>
      </p:sp>
      <p:sp>
        <p:nvSpPr>
          <p:cNvPr name="TextBox 11" id="11"/>
          <p:cNvSpPr txBox="true"/>
          <p:nvPr/>
        </p:nvSpPr>
        <p:spPr>
          <a:xfrm rot="0">
            <a:off x="355477" y="6504609"/>
            <a:ext cx="7450642" cy="1857375"/>
          </a:xfrm>
          <a:prstGeom prst="rect">
            <a:avLst/>
          </a:prstGeom>
        </p:spPr>
        <p:txBody>
          <a:bodyPr anchor="t" rtlCol="false" tIns="0" lIns="0" bIns="0" rIns="0">
            <a:spAutoFit/>
          </a:bodyPr>
          <a:lstStyle/>
          <a:p>
            <a:pPr algn="l">
              <a:lnSpc>
                <a:spcPts val="2999"/>
              </a:lnSpc>
              <a:spcBef>
                <a:spcPct val="0"/>
              </a:spcBef>
            </a:pPr>
            <a:r>
              <a:rPr lang="en-US" b="true" sz="2499">
                <a:solidFill>
                  <a:srgbClr val="2B4B82"/>
                </a:solidFill>
                <a:latin typeface="Josefin Sans Bold"/>
                <a:ea typeface="Josefin Sans Bold"/>
                <a:cs typeface="Josefin Sans Bold"/>
                <a:sym typeface="Josefin Sans Bold"/>
              </a:rPr>
              <a:t>Chú ý: Khi một người tập trung vào một thông tin cụ thể, nó sẽ được chuyển vào bộ nhớ ngắn hạn hoặc bộ nhớ làm việc. </a:t>
            </a:r>
          </a:p>
          <a:p>
            <a:pPr algn="l">
              <a:lnSpc>
                <a:spcPts val="2999"/>
              </a:lnSpc>
              <a:spcBef>
                <a:spcPct val="0"/>
              </a:spcBef>
            </a:pPr>
            <a:r>
              <a:rPr lang="en-US" b="true" sz="2499">
                <a:solidFill>
                  <a:srgbClr val="FFBD59"/>
                </a:solidFill>
                <a:latin typeface="Josefin Sans Bold"/>
                <a:ea typeface="Josefin Sans Bold"/>
                <a:cs typeface="Josefin Sans Bold"/>
                <a:sym typeface="Josefin Sans Bold"/>
              </a:rPr>
              <a:t>Bộ nhớ này có dung lượng hạn chế và chỉ lưu giữ thông tin trong một thời gian ngắn.</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1992957" cy="990600"/>
          </a:xfrm>
          <a:prstGeom prst="rect">
            <a:avLst/>
          </a:prstGeom>
        </p:spPr>
        <p:txBody>
          <a:bodyPr anchor="t" rtlCol="false" tIns="0" lIns="0" bIns="0" rIns="0">
            <a:spAutoFit/>
          </a:bodyPr>
          <a:lstStyle/>
          <a:p>
            <a:pPr algn="ctr">
              <a:lnSpc>
                <a:spcPts val="7679"/>
              </a:lnSpc>
              <a:spcBef>
                <a:spcPct val="0"/>
              </a:spcBef>
            </a:pPr>
            <a:r>
              <a:rPr lang="en-US" b="true" sz="6399">
                <a:solidFill>
                  <a:srgbClr val="2B4B82"/>
                </a:solidFill>
                <a:latin typeface="Josefin Sans Bold"/>
                <a:ea typeface="Josefin Sans Bold"/>
                <a:cs typeface="Josefin Sans Bold"/>
                <a:sym typeface="Josefin Sans Bold"/>
              </a:rPr>
              <a:t>Xử lý</a:t>
            </a:r>
          </a:p>
        </p:txBody>
      </p:sp>
      <p:sp>
        <p:nvSpPr>
          <p:cNvPr name="TextBox 3" id="3"/>
          <p:cNvSpPr txBox="true"/>
          <p:nvPr/>
        </p:nvSpPr>
        <p:spPr>
          <a:xfrm rot="0">
            <a:off x="1028700" y="2857740"/>
            <a:ext cx="4343995" cy="1943100"/>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2B4B82"/>
                </a:solidFill>
                <a:latin typeface="Josefin Sans"/>
                <a:ea typeface="Josefin Sans"/>
                <a:cs typeface="Josefin Sans"/>
                <a:sym typeface="Josefin Sans"/>
              </a:rPr>
              <a:t>Lý luận  </a:t>
            </a:r>
          </a:p>
          <a:p>
            <a:pPr algn="l" marL="690881" indent="-345440" lvl="1">
              <a:lnSpc>
                <a:spcPts val="3840"/>
              </a:lnSpc>
              <a:buFont typeface="Arial"/>
              <a:buChar char="•"/>
            </a:pPr>
            <a:r>
              <a:rPr lang="en-US" sz="3200">
                <a:solidFill>
                  <a:srgbClr val="2B4B82"/>
                </a:solidFill>
                <a:latin typeface="Josefin Sans"/>
                <a:ea typeface="Josefin Sans"/>
                <a:cs typeface="Josefin Sans"/>
                <a:sym typeface="Josefin Sans"/>
              </a:rPr>
              <a:t>Giải quyết vấn đề  </a:t>
            </a:r>
          </a:p>
          <a:p>
            <a:pPr algn="ctr" marL="690881" indent="-345440" lvl="1">
              <a:lnSpc>
                <a:spcPts val="3840"/>
              </a:lnSpc>
              <a:buFont typeface="Arial"/>
              <a:buChar char="•"/>
            </a:pPr>
            <a:r>
              <a:rPr lang="en-US" sz="3200">
                <a:solidFill>
                  <a:srgbClr val="2B4B82"/>
                </a:solidFill>
                <a:latin typeface="Josefin Sans"/>
                <a:ea typeface="Josefin Sans"/>
                <a:cs typeface="Josefin Sans"/>
                <a:sym typeface="Josefin Sans"/>
              </a:rPr>
              <a:t>Đào tạo kỹ năng  </a:t>
            </a:r>
          </a:p>
          <a:p>
            <a:pPr algn="l" marL="690881" indent="-345440" lvl="1">
              <a:lnSpc>
                <a:spcPts val="3840"/>
              </a:lnSpc>
              <a:buFont typeface="Arial"/>
              <a:buChar char="•"/>
            </a:pPr>
            <a:r>
              <a:rPr lang="en-US" sz="3200">
                <a:solidFill>
                  <a:srgbClr val="2B4B82"/>
                </a:solidFill>
                <a:latin typeface="Josefin Sans"/>
                <a:ea typeface="Josefin Sans"/>
                <a:cs typeface="Josefin Sans"/>
                <a:sym typeface="Josefin Sans"/>
              </a:rPr>
              <a:t>Xử lý lỗi</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sp>
        <p:nvSpPr>
          <p:cNvPr name="TextBox 2" id="2"/>
          <p:cNvSpPr txBox="true"/>
          <p:nvPr/>
        </p:nvSpPr>
        <p:spPr>
          <a:xfrm rot="0">
            <a:off x="3729532" y="904875"/>
            <a:ext cx="9807476"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2B4B82"/>
                </a:solidFill>
                <a:latin typeface="Canva Sans Bold"/>
                <a:ea typeface="Canva Sans Bold"/>
                <a:cs typeface="Canva Sans Bold"/>
                <a:sym typeface="Canva Sans Bold"/>
              </a:rPr>
              <a:t>Người dùng – Nhận thức</a:t>
            </a:r>
          </a:p>
        </p:txBody>
      </p:sp>
      <p:sp>
        <p:nvSpPr>
          <p:cNvPr name="TextBox 3" id="3"/>
          <p:cNvSpPr txBox="true"/>
          <p:nvPr/>
        </p:nvSpPr>
        <p:spPr>
          <a:xfrm rot="0">
            <a:off x="2371620" y="2746964"/>
            <a:ext cx="11807587" cy="4471670"/>
          </a:xfrm>
          <a:prstGeom prst="rect">
            <a:avLst/>
          </a:prstGeom>
        </p:spPr>
        <p:txBody>
          <a:bodyPr anchor="t" rtlCol="false" tIns="0" lIns="0" bIns="0" rIns="0">
            <a:spAutoFit/>
          </a:bodyPr>
          <a:lstStyle/>
          <a:p>
            <a:pPr algn="l">
              <a:lnSpc>
                <a:spcPts val="4480"/>
              </a:lnSpc>
              <a:spcBef>
                <a:spcPct val="0"/>
              </a:spcBef>
            </a:pPr>
            <a:r>
              <a:rPr lang="en-US" sz="3200">
                <a:solidFill>
                  <a:srgbClr val="2B4B82"/>
                </a:solidFill>
                <a:latin typeface="Canva Sans"/>
                <a:ea typeface="Canva Sans"/>
                <a:cs typeface="Canva Sans"/>
                <a:sym typeface="Canva Sans"/>
              </a:rPr>
              <a:t>Nhận thức: quá trình mà qua đó chúng ta trở nên quen thuộc với mọi thứ, hoặc cách chúng ta đạt được kiến thức.</a:t>
            </a:r>
          </a:p>
          <a:p>
            <a:pPr algn="l">
              <a:lnSpc>
                <a:spcPts val="4480"/>
              </a:lnSpc>
              <a:spcBef>
                <a:spcPct val="0"/>
              </a:spcBef>
            </a:pPr>
          </a:p>
          <a:p>
            <a:pPr algn="l">
              <a:lnSpc>
                <a:spcPts val="4480"/>
              </a:lnSpc>
              <a:spcBef>
                <a:spcPct val="0"/>
              </a:spcBef>
            </a:pPr>
            <a:r>
              <a:rPr lang="en-US" sz="3200">
                <a:solidFill>
                  <a:srgbClr val="2B4B82"/>
                </a:solidFill>
                <a:latin typeface="Canva Sans"/>
                <a:ea typeface="Canva Sans"/>
                <a:cs typeface="Canva Sans"/>
                <a:sym typeface="Canva Sans"/>
              </a:rPr>
              <a:t>Các quá trình nhận thức cốt lõi cho</a:t>
            </a:r>
            <a:r>
              <a:rPr lang="en-US" b="true" sz="3200">
                <a:solidFill>
                  <a:srgbClr val="2B4B82"/>
                </a:solidFill>
                <a:latin typeface="Canva Sans Bold"/>
                <a:ea typeface="Canva Sans Bold"/>
                <a:cs typeface="Canva Sans Bold"/>
                <a:sym typeface="Canva Sans Bold"/>
              </a:rPr>
              <a:t> HCI</a:t>
            </a:r>
            <a:r>
              <a:rPr lang="en-US" sz="3200">
                <a:solidFill>
                  <a:srgbClr val="2B4B82"/>
                </a:solidFill>
                <a:latin typeface="Canva Sans"/>
                <a:ea typeface="Canva Sans"/>
                <a:cs typeface="Canva Sans"/>
                <a:sym typeface="Canva Sans"/>
              </a:rPr>
              <a:t>: </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Chú ý </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Nhận thức </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Trí nhớ </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Học tập</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sp>
        <p:nvSpPr>
          <p:cNvPr name="TextBox 2" id="2"/>
          <p:cNvSpPr txBox="true"/>
          <p:nvPr/>
        </p:nvSpPr>
        <p:spPr>
          <a:xfrm rot="0">
            <a:off x="938065" y="2482719"/>
            <a:ext cx="16321235" cy="7181215"/>
          </a:xfrm>
          <a:prstGeom prst="rect">
            <a:avLst/>
          </a:prstGeom>
        </p:spPr>
        <p:txBody>
          <a:bodyPr anchor="t" rtlCol="false" tIns="0" lIns="0" bIns="0" rIns="0">
            <a:spAutoFit/>
          </a:bodyPr>
          <a:lstStyle/>
          <a:p>
            <a:pPr algn="l">
              <a:lnSpc>
                <a:spcPts val="4759"/>
              </a:lnSpc>
            </a:pPr>
            <a:r>
              <a:rPr lang="en-US" sz="3399" b="true">
                <a:solidFill>
                  <a:srgbClr val="2B4B82"/>
                </a:solidFill>
                <a:latin typeface="Canva Sans Bold"/>
                <a:ea typeface="Canva Sans Bold"/>
                <a:cs typeface="Canva Sans Bold"/>
                <a:sym typeface="Canva Sans Bold"/>
              </a:rPr>
              <a:t>Sự chú ý là gì?</a:t>
            </a:r>
          </a:p>
          <a:p>
            <a:pPr algn="l" marL="734059" indent="-367030" lvl="1">
              <a:lnSpc>
                <a:spcPts val="4759"/>
              </a:lnSpc>
              <a:buFont typeface="Arial"/>
              <a:buChar char="•"/>
            </a:pPr>
            <a:r>
              <a:rPr lang="en-US" sz="3399">
                <a:solidFill>
                  <a:srgbClr val="2B4B82"/>
                </a:solidFill>
                <a:latin typeface="Canva Sans"/>
                <a:ea typeface="Canva Sans"/>
                <a:cs typeface="Canva Sans"/>
                <a:sym typeface="Canva Sans"/>
              </a:rPr>
              <a:t>Sự chú ý là quá trình chọn lọc thông tin quan trọng để tập trung trong một môi trường có nhiều yếu tố gây xao nhãng.</a:t>
            </a:r>
          </a:p>
          <a:p>
            <a:pPr algn="l">
              <a:lnSpc>
                <a:spcPts val="4759"/>
              </a:lnSpc>
            </a:pPr>
            <a:r>
              <a:rPr lang="en-US" sz="3399" b="true">
                <a:solidFill>
                  <a:srgbClr val="2B4B82"/>
                </a:solidFill>
                <a:latin typeface="Canva Sans Bold"/>
                <a:ea typeface="Canva Sans Bold"/>
                <a:cs typeface="Canva Sans Bold"/>
                <a:sym typeface="Canva Sans Bold"/>
              </a:rPr>
              <a:t> Đặc điểm của sự chú ý:</a:t>
            </a:r>
          </a:p>
          <a:p>
            <a:pPr algn="l" marL="734059" indent="-367030" lvl="1">
              <a:lnSpc>
                <a:spcPts val="4759"/>
              </a:lnSpc>
              <a:buFont typeface="Arial"/>
              <a:buChar char="•"/>
            </a:pPr>
            <a:r>
              <a:rPr lang="en-US" sz="3399">
                <a:solidFill>
                  <a:srgbClr val="2B4B82"/>
                </a:solidFill>
                <a:latin typeface="Canva Sans"/>
                <a:ea typeface="Canva Sans"/>
                <a:cs typeface="Canva Sans"/>
                <a:sym typeface="Canva Sans"/>
              </a:rPr>
              <a:t>Chọn lọc thông tin: Con người không thể tiếp nhận tất cả thông tin cùng một lúc mà chỉ tập trung vào một số yếu tố quan trọng.</a:t>
            </a:r>
          </a:p>
          <a:p>
            <a:pPr algn="l" marL="734059" indent="-367030" lvl="1">
              <a:lnSpc>
                <a:spcPts val="4759"/>
              </a:lnSpc>
              <a:buFont typeface="Arial"/>
              <a:buChar char="•"/>
            </a:pPr>
            <a:r>
              <a:rPr lang="en-US" sz="3399">
                <a:solidFill>
                  <a:srgbClr val="2B4B82"/>
                </a:solidFill>
                <a:latin typeface="Canva Sans"/>
                <a:ea typeface="Canva Sans"/>
                <a:cs typeface="Canva Sans"/>
                <a:sym typeface="Canva Sans"/>
              </a:rPr>
              <a:t>Liên quan đến thị giác: Phần lớn sự chú ý của con người được điều hướng bởi thị giác.</a:t>
            </a:r>
          </a:p>
          <a:p>
            <a:pPr algn="l" marL="734059" indent="-367030" lvl="1">
              <a:lnSpc>
                <a:spcPts val="4759"/>
              </a:lnSpc>
              <a:buFont typeface="Arial"/>
              <a:buChar char="•"/>
            </a:pPr>
            <a:r>
              <a:rPr lang="en-US" sz="3399">
                <a:solidFill>
                  <a:srgbClr val="2B4B82"/>
                </a:solidFill>
                <a:latin typeface="Canva Sans"/>
                <a:ea typeface="Canva Sans"/>
                <a:cs typeface="Canva Sans"/>
                <a:sym typeface="Canva Sans"/>
              </a:rPr>
              <a:t>Giúp tập trung vào thông tin cần thiết nhưng có giới hạn: Người dùng có thể bỏ lỡ nhiều sự kiện nếu không nổi bật hoặc không liên quan trực tiếp đến nhiệm vụ của họ.</a:t>
            </a:r>
          </a:p>
          <a:p>
            <a:pPr algn="l">
              <a:lnSpc>
                <a:spcPts val="4759"/>
              </a:lnSpc>
            </a:pPr>
          </a:p>
        </p:txBody>
      </p:sp>
      <p:sp>
        <p:nvSpPr>
          <p:cNvPr name="TextBox 3" id="3"/>
          <p:cNvSpPr txBox="true"/>
          <p:nvPr/>
        </p:nvSpPr>
        <p:spPr>
          <a:xfrm rot="0">
            <a:off x="3268485" y="904875"/>
            <a:ext cx="12355264"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2B4B82"/>
                </a:solidFill>
                <a:latin typeface="Canva Sans Bold"/>
                <a:ea typeface="Canva Sans Bold"/>
                <a:cs typeface="Canva Sans Bold"/>
                <a:sym typeface="Canva Sans Bold"/>
              </a:rPr>
              <a:t>Người dùng – Nhận thức: chú 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1780540"/>
          </a:xfrm>
          <a:prstGeom prst="rect">
            <a:avLst/>
          </a:prstGeom>
        </p:spPr>
        <p:txBody>
          <a:bodyPr anchor="t" rtlCol="false" tIns="0" lIns="0" bIns="0" rIns="0">
            <a:spAutoFit/>
          </a:bodyPr>
          <a:lstStyle/>
          <a:p>
            <a:pPr algn="l">
              <a:lnSpc>
                <a:spcPts val="4759"/>
              </a:lnSpc>
              <a:spcBef>
                <a:spcPct val="0"/>
              </a:spcBef>
            </a:pPr>
            <a:r>
              <a:rPr lang="en-US" b="true" sz="3399">
                <a:solidFill>
                  <a:srgbClr val="2B4B82"/>
                </a:solidFill>
                <a:latin typeface="Canva Sans Bold"/>
                <a:ea typeface="Canva Sans Bold"/>
                <a:cs typeface="Canva Sans Bold"/>
                <a:sym typeface="Canva Sans Bold"/>
              </a:rPr>
              <a:t>Trong Windows XP, tại</a:t>
            </a:r>
            <a:r>
              <a:rPr lang="en-US" b="true" sz="3399">
                <a:solidFill>
                  <a:srgbClr val="2B4B82"/>
                </a:solidFill>
                <a:latin typeface="Canva Sans Bold"/>
                <a:ea typeface="Canva Sans Bold"/>
                <a:cs typeface="Canva Sans Bold"/>
                <a:sym typeface="Canva Sans Bold"/>
              </a:rPr>
              <a:t> sao máy in ("Printers and Other Hardware") lại được tách riêng trong Bảng điều khiển?</a:t>
            </a:r>
          </a:p>
          <a:p>
            <a:pPr algn="l">
              <a:lnSpc>
                <a:spcPts val="4759"/>
              </a:lnSpc>
              <a:spcBef>
                <a:spcPct val="0"/>
              </a:spcBef>
            </a:pPr>
          </a:p>
        </p:txBody>
      </p:sp>
      <p:sp>
        <p:nvSpPr>
          <p:cNvPr name="Freeform 3" id="3"/>
          <p:cNvSpPr/>
          <p:nvPr/>
        </p:nvSpPr>
        <p:spPr>
          <a:xfrm flipH="false" flipV="false" rot="0">
            <a:off x="5247015" y="3124371"/>
            <a:ext cx="7793971" cy="5800918"/>
          </a:xfrm>
          <a:custGeom>
            <a:avLst/>
            <a:gdLst/>
            <a:ahLst/>
            <a:cxnLst/>
            <a:rect r="r" b="b" t="t" l="l"/>
            <a:pathLst>
              <a:path h="5800918" w="7793971">
                <a:moveTo>
                  <a:pt x="0" y="0"/>
                </a:moveTo>
                <a:lnTo>
                  <a:pt x="7793970" y="0"/>
                </a:lnTo>
                <a:lnTo>
                  <a:pt x="7793970" y="5800918"/>
                </a:lnTo>
                <a:lnTo>
                  <a:pt x="0" y="5800918"/>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sp>
        <p:nvSpPr>
          <p:cNvPr name="TextBox 2" id="2"/>
          <p:cNvSpPr txBox="true"/>
          <p:nvPr/>
        </p:nvSpPr>
        <p:spPr>
          <a:xfrm rot="0">
            <a:off x="1028700" y="2718318"/>
            <a:ext cx="16230600" cy="5981065"/>
          </a:xfrm>
          <a:prstGeom prst="rect">
            <a:avLst/>
          </a:prstGeom>
        </p:spPr>
        <p:txBody>
          <a:bodyPr anchor="t" rtlCol="false" tIns="0" lIns="0" bIns="0" rIns="0">
            <a:spAutoFit/>
          </a:bodyPr>
          <a:lstStyle/>
          <a:p>
            <a:pPr algn="l">
              <a:lnSpc>
                <a:spcPts val="4759"/>
              </a:lnSpc>
              <a:spcBef>
                <a:spcPct val="0"/>
              </a:spcBef>
            </a:pPr>
            <a:r>
              <a:rPr lang="en-US" sz="3399">
                <a:solidFill>
                  <a:srgbClr val="2B4B82"/>
                </a:solidFill>
                <a:latin typeface="Canva Sans"/>
                <a:ea typeface="Canva Sans"/>
                <a:cs typeface="Canva Sans"/>
                <a:sym typeface="Canva Sans"/>
              </a:rPr>
              <a:t>Thí nghiệm với người dùng cho thấy rằng việc cài đặt hoặc cấu hình máy in là một trong những lý do phổ biến nhất khiến người dùng truy cập vào Bảng điều khiển.</a:t>
            </a:r>
          </a:p>
          <a:p>
            <a:pPr algn="l">
              <a:lnSpc>
                <a:spcPts val="4759"/>
              </a:lnSpc>
              <a:spcBef>
                <a:spcPct val="0"/>
              </a:spcBef>
            </a:pPr>
          </a:p>
          <a:p>
            <a:pPr algn="l">
              <a:lnSpc>
                <a:spcPts val="4759"/>
              </a:lnSpc>
              <a:spcBef>
                <a:spcPct val="0"/>
              </a:spcBef>
            </a:pPr>
            <a:r>
              <a:rPr lang="en-US" sz="3399">
                <a:solidFill>
                  <a:srgbClr val="2B4B82"/>
                </a:solidFill>
                <a:latin typeface="Canva Sans"/>
                <a:ea typeface="Canva Sans"/>
                <a:cs typeface="Canva Sans"/>
                <a:sym typeface="Canva Sans"/>
              </a:rPr>
              <a:t>Việc này giúp người dùng dễ dàng tìm thấy liên kết cần thiết mà không mất nhiều thời gian tìm kiếm.</a:t>
            </a:r>
          </a:p>
          <a:p>
            <a:pPr algn="l">
              <a:lnSpc>
                <a:spcPts val="4759"/>
              </a:lnSpc>
              <a:spcBef>
                <a:spcPct val="0"/>
              </a:spcBef>
            </a:pPr>
          </a:p>
          <a:p>
            <a:pPr algn="l">
              <a:lnSpc>
                <a:spcPts val="4759"/>
              </a:lnSpc>
              <a:spcBef>
                <a:spcPct val="0"/>
              </a:spcBef>
            </a:pPr>
            <a:r>
              <a:rPr lang="en-US" sz="3399">
                <a:solidFill>
                  <a:srgbClr val="2B4B82"/>
                </a:solidFill>
                <a:latin typeface="Canva Sans"/>
                <a:ea typeface="Canva Sans"/>
                <a:cs typeface="Canva Sans"/>
                <a:sym typeface="Canva Sans"/>
              </a:rPr>
              <a:t>Nói cách khác, vì rất nhiều người cần truy cập để cài đặt máy in, nên Windows XP đã thiết kế một danh mục riêng biệt "Printers and Other Hardware" (Máy in và phần cứng khác) để giúp họ tìm thấy nhanh hơn.</a:t>
            </a:r>
          </a:p>
        </p:txBody>
      </p:sp>
      <p:sp>
        <p:nvSpPr>
          <p:cNvPr name="TextBox 3" id="3"/>
          <p:cNvSpPr txBox="true"/>
          <p:nvPr/>
        </p:nvSpPr>
        <p:spPr>
          <a:xfrm rot="0">
            <a:off x="1028700" y="962025"/>
            <a:ext cx="16230600" cy="1180465"/>
          </a:xfrm>
          <a:prstGeom prst="rect">
            <a:avLst/>
          </a:prstGeom>
        </p:spPr>
        <p:txBody>
          <a:bodyPr anchor="t" rtlCol="false" tIns="0" lIns="0" bIns="0" rIns="0">
            <a:spAutoFit/>
          </a:bodyPr>
          <a:lstStyle/>
          <a:p>
            <a:pPr algn="l">
              <a:lnSpc>
                <a:spcPts val="4759"/>
              </a:lnSpc>
              <a:spcBef>
                <a:spcPct val="0"/>
              </a:spcBef>
            </a:pPr>
            <a:r>
              <a:rPr lang="en-US" b="true" sz="3399">
                <a:solidFill>
                  <a:srgbClr val="2B4B82"/>
                </a:solidFill>
                <a:latin typeface="Canva Sans Bold"/>
                <a:ea typeface="Canva Sans Bold"/>
                <a:cs typeface="Canva Sans Bold"/>
                <a:sym typeface="Canva Sans Bold"/>
              </a:rPr>
              <a:t>Trong Windows XP, tại sao máy in ("Printers and Other Hardware") lại được tách riêng trong Bảng điều khiển?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1244534" y="2248914"/>
            <a:ext cx="7899466" cy="4459798"/>
          </a:xfrm>
          <a:custGeom>
            <a:avLst/>
            <a:gdLst/>
            <a:ahLst/>
            <a:cxnLst/>
            <a:rect r="r" b="b" t="t" l="l"/>
            <a:pathLst>
              <a:path h="4459798" w="7899466">
                <a:moveTo>
                  <a:pt x="0" y="0"/>
                </a:moveTo>
                <a:lnTo>
                  <a:pt x="7899466" y="0"/>
                </a:lnTo>
                <a:lnTo>
                  <a:pt x="7899466" y="4459798"/>
                </a:lnTo>
                <a:lnTo>
                  <a:pt x="0" y="4459798"/>
                </a:lnTo>
                <a:lnTo>
                  <a:pt x="0" y="0"/>
                </a:lnTo>
                <a:close/>
              </a:path>
            </a:pathLst>
          </a:custGeom>
          <a:blipFill>
            <a:blip r:embed="rId2"/>
            <a:stretch>
              <a:fillRect l="0" t="0" r="0" b="0"/>
            </a:stretch>
          </a:blipFill>
        </p:spPr>
      </p:sp>
      <p:grpSp>
        <p:nvGrpSpPr>
          <p:cNvPr name="Group 3" id="3"/>
          <p:cNvGrpSpPr/>
          <p:nvPr/>
        </p:nvGrpSpPr>
        <p:grpSpPr>
          <a:xfrm rot="0">
            <a:off x="4994647" y="3613879"/>
            <a:ext cx="2727008" cy="296228"/>
            <a:chOff x="0" y="0"/>
            <a:chExt cx="3636010" cy="394970"/>
          </a:xfrm>
        </p:grpSpPr>
        <p:sp>
          <p:nvSpPr>
            <p:cNvPr name="Freeform 4" id="4"/>
            <p:cNvSpPr/>
            <p:nvPr/>
          </p:nvSpPr>
          <p:spPr>
            <a:xfrm flipH="false" flipV="false" rot="0">
              <a:off x="49530" y="49530"/>
              <a:ext cx="3536950" cy="349250"/>
            </a:xfrm>
            <a:custGeom>
              <a:avLst/>
              <a:gdLst/>
              <a:ahLst/>
              <a:cxnLst/>
              <a:rect r="r" b="b" t="t" l="l"/>
              <a:pathLst>
                <a:path h="349250" w="3536950">
                  <a:moveTo>
                    <a:pt x="25400" y="242570"/>
                  </a:moveTo>
                  <a:cubicBezTo>
                    <a:pt x="1964690" y="209550"/>
                    <a:pt x="2020570" y="182880"/>
                    <a:pt x="2123440" y="172720"/>
                  </a:cubicBezTo>
                  <a:cubicBezTo>
                    <a:pt x="2228850" y="162560"/>
                    <a:pt x="2345690" y="171450"/>
                    <a:pt x="2446020" y="162560"/>
                  </a:cubicBezTo>
                  <a:cubicBezTo>
                    <a:pt x="2537460" y="153670"/>
                    <a:pt x="2626360" y="132080"/>
                    <a:pt x="2703830" y="125730"/>
                  </a:cubicBezTo>
                  <a:cubicBezTo>
                    <a:pt x="2768600" y="120650"/>
                    <a:pt x="2805430" y="128270"/>
                    <a:pt x="2879090" y="121920"/>
                  </a:cubicBezTo>
                  <a:cubicBezTo>
                    <a:pt x="3012440" y="110490"/>
                    <a:pt x="3333750" y="73660"/>
                    <a:pt x="3432810" y="41910"/>
                  </a:cubicBezTo>
                  <a:cubicBezTo>
                    <a:pt x="3470910" y="29210"/>
                    <a:pt x="3491230" y="1270"/>
                    <a:pt x="3509010" y="1270"/>
                  </a:cubicBezTo>
                  <a:cubicBezTo>
                    <a:pt x="3519170" y="1270"/>
                    <a:pt x="3526790" y="5080"/>
                    <a:pt x="3530600" y="11430"/>
                  </a:cubicBezTo>
                  <a:cubicBezTo>
                    <a:pt x="3534410" y="16510"/>
                    <a:pt x="3536950" y="27940"/>
                    <a:pt x="3534410" y="34290"/>
                  </a:cubicBezTo>
                  <a:cubicBezTo>
                    <a:pt x="3530600" y="41910"/>
                    <a:pt x="3516630" y="52070"/>
                    <a:pt x="3509010" y="52070"/>
                  </a:cubicBezTo>
                  <a:cubicBezTo>
                    <a:pt x="3501390" y="52070"/>
                    <a:pt x="3492500" y="45720"/>
                    <a:pt x="3488690" y="39370"/>
                  </a:cubicBezTo>
                  <a:cubicBezTo>
                    <a:pt x="3484880" y="33020"/>
                    <a:pt x="3483610" y="21590"/>
                    <a:pt x="3487420" y="15240"/>
                  </a:cubicBezTo>
                  <a:cubicBezTo>
                    <a:pt x="3491230" y="8890"/>
                    <a:pt x="3506470" y="0"/>
                    <a:pt x="3515360" y="1270"/>
                  </a:cubicBezTo>
                  <a:cubicBezTo>
                    <a:pt x="3521710" y="2540"/>
                    <a:pt x="3530600" y="10160"/>
                    <a:pt x="3533140" y="16510"/>
                  </a:cubicBezTo>
                  <a:cubicBezTo>
                    <a:pt x="3536950" y="22860"/>
                    <a:pt x="3536950" y="31750"/>
                    <a:pt x="3531870" y="39370"/>
                  </a:cubicBezTo>
                  <a:cubicBezTo>
                    <a:pt x="3522980" y="53340"/>
                    <a:pt x="3495040" y="66040"/>
                    <a:pt x="3467100" y="77470"/>
                  </a:cubicBezTo>
                  <a:cubicBezTo>
                    <a:pt x="3421380" y="93980"/>
                    <a:pt x="3354070" y="102870"/>
                    <a:pt x="3280410" y="116840"/>
                  </a:cubicBezTo>
                  <a:cubicBezTo>
                    <a:pt x="3172460" y="134620"/>
                    <a:pt x="2993390" y="162560"/>
                    <a:pt x="2880360" y="172720"/>
                  </a:cubicBezTo>
                  <a:cubicBezTo>
                    <a:pt x="2797810" y="180340"/>
                    <a:pt x="2735580" y="173990"/>
                    <a:pt x="2663190" y="180340"/>
                  </a:cubicBezTo>
                  <a:cubicBezTo>
                    <a:pt x="2590800" y="186690"/>
                    <a:pt x="2526030" y="205740"/>
                    <a:pt x="2447290" y="213360"/>
                  </a:cubicBezTo>
                  <a:cubicBezTo>
                    <a:pt x="2352040" y="220980"/>
                    <a:pt x="2237740" y="212090"/>
                    <a:pt x="2133600" y="222250"/>
                  </a:cubicBezTo>
                  <a:cubicBezTo>
                    <a:pt x="2029460" y="232410"/>
                    <a:pt x="1968500" y="260350"/>
                    <a:pt x="1821180" y="273050"/>
                  </a:cubicBezTo>
                  <a:cubicBezTo>
                    <a:pt x="1470660" y="303530"/>
                    <a:pt x="152400" y="349250"/>
                    <a:pt x="25400" y="293370"/>
                  </a:cubicBezTo>
                  <a:cubicBezTo>
                    <a:pt x="7620" y="285750"/>
                    <a:pt x="0" y="273050"/>
                    <a:pt x="1270" y="265430"/>
                  </a:cubicBezTo>
                  <a:cubicBezTo>
                    <a:pt x="1270" y="256540"/>
                    <a:pt x="25400" y="242570"/>
                    <a:pt x="25400" y="242570"/>
                  </a:cubicBezTo>
                </a:path>
              </a:pathLst>
            </a:custGeom>
            <a:solidFill>
              <a:srgbClr val="FF4500"/>
            </a:solidFill>
            <a:ln cap="sq">
              <a:noFill/>
              <a:prstDash val="solid"/>
              <a:miter/>
            </a:ln>
          </p:spPr>
        </p:sp>
      </p:grpSp>
      <p:grpSp>
        <p:nvGrpSpPr>
          <p:cNvPr name="Group 5" id="5"/>
          <p:cNvGrpSpPr/>
          <p:nvPr/>
        </p:nvGrpSpPr>
        <p:grpSpPr>
          <a:xfrm rot="0">
            <a:off x="4617457" y="3281456"/>
            <a:ext cx="3165158" cy="628650"/>
            <a:chOff x="0" y="0"/>
            <a:chExt cx="4220210" cy="838200"/>
          </a:xfrm>
        </p:grpSpPr>
        <p:sp>
          <p:nvSpPr>
            <p:cNvPr name="Freeform 6" id="6"/>
            <p:cNvSpPr/>
            <p:nvPr/>
          </p:nvSpPr>
          <p:spPr>
            <a:xfrm flipH="false" flipV="false" rot="0">
              <a:off x="41910" y="29210"/>
              <a:ext cx="4133850" cy="756920"/>
            </a:xfrm>
            <a:custGeom>
              <a:avLst/>
              <a:gdLst/>
              <a:ahLst/>
              <a:cxnLst/>
              <a:rect r="r" b="b" t="t" l="l"/>
              <a:pathLst>
                <a:path h="756920" w="4133850">
                  <a:moveTo>
                    <a:pt x="435610" y="756920"/>
                  </a:moveTo>
                  <a:cubicBezTo>
                    <a:pt x="276860" y="737870"/>
                    <a:pt x="260350" y="727710"/>
                    <a:pt x="241300" y="713740"/>
                  </a:cubicBezTo>
                  <a:cubicBezTo>
                    <a:pt x="219710" y="698500"/>
                    <a:pt x="200660" y="679450"/>
                    <a:pt x="177800" y="651510"/>
                  </a:cubicBezTo>
                  <a:cubicBezTo>
                    <a:pt x="143510" y="609600"/>
                    <a:pt x="92710" y="525780"/>
                    <a:pt x="67310" y="478790"/>
                  </a:cubicBezTo>
                  <a:cubicBezTo>
                    <a:pt x="50800" y="447040"/>
                    <a:pt x="41910" y="429260"/>
                    <a:pt x="33020" y="396240"/>
                  </a:cubicBezTo>
                  <a:cubicBezTo>
                    <a:pt x="20320" y="350520"/>
                    <a:pt x="0" y="266700"/>
                    <a:pt x="8890" y="224790"/>
                  </a:cubicBezTo>
                  <a:cubicBezTo>
                    <a:pt x="13970" y="198120"/>
                    <a:pt x="25400" y="181610"/>
                    <a:pt x="44450" y="165100"/>
                  </a:cubicBezTo>
                  <a:cubicBezTo>
                    <a:pt x="67310" y="144780"/>
                    <a:pt x="101600" y="138430"/>
                    <a:pt x="143510" y="124460"/>
                  </a:cubicBezTo>
                  <a:cubicBezTo>
                    <a:pt x="213360" y="101600"/>
                    <a:pt x="337820" y="69850"/>
                    <a:pt x="429260" y="53340"/>
                  </a:cubicBezTo>
                  <a:cubicBezTo>
                    <a:pt x="514350" y="38100"/>
                    <a:pt x="557530" y="31750"/>
                    <a:pt x="676910" y="25400"/>
                  </a:cubicBezTo>
                  <a:cubicBezTo>
                    <a:pt x="996950" y="7620"/>
                    <a:pt x="2188210" y="3810"/>
                    <a:pt x="2434590" y="21590"/>
                  </a:cubicBezTo>
                  <a:cubicBezTo>
                    <a:pt x="2500630" y="26670"/>
                    <a:pt x="2504440" y="35560"/>
                    <a:pt x="2560320" y="39370"/>
                  </a:cubicBezTo>
                  <a:cubicBezTo>
                    <a:pt x="2670810" y="48260"/>
                    <a:pt x="2993390" y="27940"/>
                    <a:pt x="3059430" y="41910"/>
                  </a:cubicBezTo>
                  <a:cubicBezTo>
                    <a:pt x="3077210" y="45720"/>
                    <a:pt x="3075940" y="52070"/>
                    <a:pt x="3089910" y="55880"/>
                  </a:cubicBezTo>
                  <a:cubicBezTo>
                    <a:pt x="3120390" y="63500"/>
                    <a:pt x="3177540" y="60960"/>
                    <a:pt x="3232150" y="60960"/>
                  </a:cubicBezTo>
                  <a:cubicBezTo>
                    <a:pt x="3302000" y="63500"/>
                    <a:pt x="3423920" y="68580"/>
                    <a:pt x="3477260" y="62230"/>
                  </a:cubicBezTo>
                  <a:cubicBezTo>
                    <a:pt x="3502660" y="58420"/>
                    <a:pt x="3505200" y="49530"/>
                    <a:pt x="3533140" y="45720"/>
                  </a:cubicBezTo>
                  <a:cubicBezTo>
                    <a:pt x="3608070" y="33020"/>
                    <a:pt x="3860800" y="0"/>
                    <a:pt x="3952240" y="25400"/>
                  </a:cubicBezTo>
                  <a:cubicBezTo>
                    <a:pt x="4004310" y="39370"/>
                    <a:pt x="4033520" y="66040"/>
                    <a:pt x="4062730" y="96520"/>
                  </a:cubicBezTo>
                  <a:cubicBezTo>
                    <a:pt x="4089400" y="127000"/>
                    <a:pt x="4109720" y="163830"/>
                    <a:pt x="4121150" y="205740"/>
                  </a:cubicBezTo>
                  <a:cubicBezTo>
                    <a:pt x="4133850" y="254000"/>
                    <a:pt x="4131310" y="334010"/>
                    <a:pt x="4126230" y="374650"/>
                  </a:cubicBezTo>
                  <a:cubicBezTo>
                    <a:pt x="4123690" y="397510"/>
                    <a:pt x="4123690" y="411480"/>
                    <a:pt x="4110990" y="427990"/>
                  </a:cubicBezTo>
                  <a:cubicBezTo>
                    <a:pt x="4093210" y="452120"/>
                    <a:pt x="4032250" y="487680"/>
                    <a:pt x="4010660" y="492760"/>
                  </a:cubicBezTo>
                  <a:cubicBezTo>
                    <a:pt x="4000500" y="495300"/>
                    <a:pt x="3991610" y="495300"/>
                    <a:pt x="3986530" y="490220"/>
                  </a:cubicBezTo>
                  <a:cubicBezTo>
                    <a:pt x="3980180" y="485140"/>
                    <a:pt x="3975100" y="469900"/>
                    <a:pt x="3976370" y="461010"/>
                  </a:cubicBezTo>
                  <a:cubicBezTo>
                    <a:pt x="3978910" y="454660"/>
                    <a:pt x="3986530" y="447040"/>
                    <a:pt x="3994150" y="445770"/>
                  </a:cubicBezTo>
                  <a:cubicBezTo>
                    <a:pt x="4001770" y="443230"/>
                    <a:pt x="4018280" y="449580"/>
                    <a:pt x="4022090" y="457200"/>
                  </a:cubicBezTo>
                  <a:cubicBezTo>
                    <a:pt x="4027170" y="462280"/>
                    <a:pt x="4027170" y="473710"/>
                    <a:pt x="4023360" y="480060"/>
                  </a:cubicBezTo>
                  <a:cubicBezTo>
                    <a:pt x="4020820" y="486410"/>
                    <a:pt x="4011930" y="494030"/>
                    <a:pt x="4004310" y="495300"/>
                  </a:cubicBezTo>
                  <a:cubicBezTo>
                    <a:pt x="3996690" y="495300"/>
                    <a:pt x="3981450" y="487680"/>
                    <a:pt x="3977640" y="480060"/>
                  </a:cubicBezTo>
                  <a:cubicBezTo>
                    <a:pt x="3973830" y="473710"/>
                    <a:pt x="3973830" y="464820"/>
                    <a:pt x="3978910" y="455930"/>
                  </a:cubicBezTo>
                  <a:cubicBezTo>
                    <a:pt x="3990340" y="438150"/>
                    <a:pt x="4058920" y="426720"/>
                    <a:pt x="4076700" y="392430"/>
                  </a:cubicBezTo>
                  <a:cubicBezTo>
                    <a:pt x="4098290" y="350520"/>
                    <a:pt x="4084320" y="255270"/>
                    <a:pt x="4070350" y="207010"/>
                  </a:cubicBezTo>
                  <a:cubicBezTo>
                    <a:pt x="4058920" y="172720"/>
                    <a:pt x="4041140" y="147320"/>
                    <a:pt x="4017010" y="125730"/>
                  </a:cubicBezTo>
                  <a:cubicBezTo>
                    <a:pt x="3992880" y="101600"/>
                    <a:pt x="3968750" y="82550"/>
                    <a:pt x="3924300" y="72390"/>
                  </a:cubicBezTo>
                  <a:cubicBezTo>
                    <a:pt x="3829050" y="50800"/>
                    <a:pt x="3590290" y="106680"/>
                    <a:pt x="3450590" y="111760"/>
                  </a:cubicBezTo>
                  <a:cubicBezTo>
                    <a:pt x="3338830" y="116840"/>
                    <a:pt x="3221990" y="118110"/>
                    <a:pt x="3150870" y="110490"/>
                  </a:cubicBezTo>
                  <a:cubicBezTo>
                    <a:pt x="3110230" y="106680"/>
                    <a:pt x="3100070" y="96520"/>
                    <a:pt x="3056890" y="91440"/>
                  </a:cubicBezTo>
                  <a:cubicBezTo>
                    <a:pt x="2956560" y="81280"/>
                    <a:pt x="2654300" y="101600"/>
                    <a:pt x="2557780" y="90170"/>
                  </a:cubicBezTo>
                  <a:cubicBezTo>
                    <a:pt x="2517140" y="86360"/>
                    <a:pt x="2519680" y="76200"/>
                    <a:pt x="2473960" y="71120"/>
                  </a:cubicBezTo>
                  <a:cubicBezTo>
                    <a:pt x="2261870" y="48260"/>
                    <a:pt x="1042670" y="52070"/>
                    <a:pt x="683260" y="76200"/>
                  </a:cubicBezTo>
                  <a:cubicBezTo>
                    <a:pt x="527050" y="86360"/>
                    <a:pt x="443230" y="100330"/>
                    <a:pt x="349250" y="119380"/>
                  </a:cubicBezTo>
                  <a:cubicBezTo>
                    <a:pt x="278130" y="134620"/>
                    <a:pt x="217170" y="151130"/>
                    <a:pt x="166370" y="170180"/>
                  </a:cubicBezTo>
                  <a:cubicBezTo>
                    <a:pt x="128270" y="184150"/>
                    <a:pt x="82550" y="198120"/>
                    <a:pt x="67310" y="215900"/>
                  </a:cubicBezTo>
                  <a:cubicBezTo>
                    <a:pt x="59690" y="224790"/>
                    <a:pt x="60960" y="232410"/>
                    <a:pt x="59690" y="247650"/>
                  </a:cubicBezTo>
                  <a:cubicBezTo>
                    <a:pt x="58420" y="275590"/>
                    <a:pt x="69850" y="340360"/>
                    <a:pt x="80010" y="377190"/>
                  </a:cubicBezTo>
                  <a:cubicBezTo>
                    <a:pt x="87630" y="405130"/>
                    <a:pt x="95250" y="421640"/>
                    <a:pt x="110490" y="450850"/>
                  </a:cubicBezTo>
                  <a:cubicBezTo>
                    <a:pt x="133350" y="495300"/>
                    <a:pt x="176530" y="572770"/>
                    <a:pt x="214630" y="615950"/>
                  </a:cubicBezTo>
                  <a:cubicBezTo>
                    <a:pt x="245110" y="650240"/>
                    <a:pt x="273050" y="679450"/>
                    <a:pt x="311150" y="694690"/>
                  </a:cubicBezTo>
                  <a:cubicBezTo>
                    <a:pt x="350520" y="711200"/>
                    <a:pt x="426720" y="694690"/>
                    <a:pt x="447040" y="708660"/>
                  </a:cubicBezTo>
                  <a:cubicBezTo>
                    <a:pt x="457200" y="715010"/>
                    <a:pt x="462280" y="726440"/>
                    <a:pt x="461010" y="734060"/>
                  </a:cubicBezTo>
                  <a:cubicBezTo>
                    <a:pt x="459740" y="742950"/>
                    <a:pt x="435610" y="756920"/>
                    <a:pt x="435610" y="756920"/>
                  </a:cubicBezTo>
                </a:path>
              </a:pathLst>
            </a:custGeom>
            <a:solidFill>
              <a:srgbClr val="FF4500"/>
            </a:solidFill>
            <a:ln cap="sq">
              <a:noFill/>
              <a:prstDash val="solid"/>
              <a:miter/>
            </a:ln>
          </p:spPr>
        </p:sp>
      </p:grpSp>
      <p:sp>
        <p:nvSpPr>
          <p:cNvPr name="Freeform 7" id="7"/>
          <p:cNvSpPr/>
          <p:nvPr/>
        </p:nvSpPr>
        <p:spPr>
          <a:xfrm flipH="false" flipV="false" rot="0">
            <a:off x="9677948" y="2248914"/>
            <a:ext cx="7220364" cy="3733774"/>
          </a:xfrm>
          <a:custGeom>
            <a:avLst/>
            <a:gdLst/>
            <a:ahLst/>
            <a:cxnLst/>
            <a:rect r="r" b="b" t="t" l="l"/>
            <a:pathLst>
              <a:path h="3733774" w="7220364">
                <a:moveTo>
                  <a:pt x="0" y="0"/>
                </a:moveTo>
                <a:lnTo>
                  <a:pt x="7220364" y="0"/>
                </a:lnTo>
                <a:lnTo>
                  <a:pt x="7220364" y="3733773"/>
                </a:lnTo>
                <a:lnTo>
                  <a:pt x="0" y="3733773"/>
                </a:lnTo>
                <a:lnTo>
                  <a:pt x="0" y="0"/>
                </a:lnTo>
                <a:close/>
              </a:path>
            </a:pathLst>
          </a:custGeom>
          <a:blipFill>
            <a:blip r:embed="rId3"/>
            <a:stretch>
              <a:fillRect l="0" t="0" r="0" b="0"/>
            </a:stretch>
          </a:blipFill>
        </p:spPr>
      </p:sp>
      <p:sp>
        <p:nvSpPr>
          <p:cNvPr name="TextBox 8" id="8"/>
          <p:cNvSpPr txBox="true"/>
          <p:nvPr/>
        </p:nvSpPr>
        <p:spPr>
          <a:xfrm rot="0">
            <a:off x="3896682" y="1254985"/>
            <a:ext cx="2461468"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2B4B82"/>
                </a:solidFill>
                <a:latin typeface="Canva Sans Bold"/>
                <a:ea typeface="Canva Sans Bold"/>
                <a:cs typeface="Canva Sans Bold"/>
                <a:sym typeface="Canva Sans Bold"/>
              </a:rPr>
              <a:t>Windows 11</a:t>
            </a:r>
          </a:p>
        </p:txBody>
      </p:sp>
      <p:sp>
        <p:nvSpPr>
          <p:cNvPr name="TextBox 9" id="9"/>
          <p:cNvSpPr txBox="true"/>
          <p:nvPr/>
        </p:nvSpPr>
        <p:spPr>
          <a:xfrm rot="0">
            <a:off x="11701054" y="1254985"/>
            <a:ext cx="2535287"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2B4B82"/>
                </a:solidFill>
                <a:latin typeface="Canva Sans Bold"/>
                <a:ea typeface="Canva Sans Bold"/>
                <a:cs typeface="Canva Sans Bold"/>
                <a:sym typeface="Canva Sans Bold"/>
              </a:rPr>
              <a:t>Windows 10</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143500"/>
            <a:ext cx="7014419" cy="4256061"/>
          </a:xfrm>
          <a:custGeom>
            <a:avLst/>
            <a:gdLst/>
            <a:ahLst/>
            <a:cxnLst/>
            <a:rect r="r" b="b" t="t" l="l"/>
            <a:pathLst>
              <a:path h="4256061" w="7014419">
                <a:moveTo>
                  <a:pt x="0" y="0"/>
                </a:moveTo>
                <a:lnTo>
                  <a:pt x="7014419" y="0"/>
                </a:lnTo>
                <a:lnTo>
                  <a:pt x="7014419" y="4256061"/>
                </a:lnTo>
                <a:lnTo>
                  <a:pt x="0" y="4256061"/>
                </a:lnTo>
                <a:lnTo>
                  <a:pt x="0" y="0"/>
                </a:lnTo>
                <a:close/>
              </a:path>
            </a:pathLst>
          </a:custGeom>
          <a:blipFill>
            <a:blip r:embed="rId2"/>
            <a:stretch>
              <a:fillRect l="0" t="0" r="0" b="0"/>
            </a:stretch>
          </a:blipFill>
        </p:spPr>
      </p:sp>
      <p:sp>
        <p:nvSpPr>
          <p:cNvPr name="TextBox 3" id="3"/>
          <p:cNvSpPr txBox="true"/>
          <p:nvPr/>
        </p:nvSpPr>
        <p:spPr>
          <a:xfrm rot="0">
            <a:off x="1028700" y="1817478"/>
            <a:ext cx="16095245" cy="2822811"/>
          </a:xfrm>
          <a:prstGeom prst="rect">
            <a:avLst/>
          </a:prstGeom>
        </p:spPr>
        <p:txBody>
          <a:bodyPr anchor="t" rtlCol="false" tIns="0" lIns="0" bIns="0" rIns="0">
            <a:spAutoFit/>
          </a:bodyPr>
          <a:lstStyle/>
          <a:p>
            <a:pPr algn="l" marL="578072" indent="-289036" lvl="1">
              <a:lnSpc>
                <a:spcPts val="3748"/>
              </a:lnSpc>
              <a:buFont typeface="Arial"/>
              <a:buChar char="•"/>
            </a:pPr>
            <a:r>
              <a:rPr lang="en-US" sz="2677">
                <a:solidFill>
                  <a:srgbClr val="2B4B82"/>
                </a:solidFill>
                <a:latin typeface="Canva Sans"/>
                <a:ea typeface="Canva Sans"/>
                <a:cs typeface="Canva Sans"/>
                <a:sym typeface="Canva Sans"/>
              </a:rPr>
              <a:t> Thanh trạng thái (Status Bar)?</a:t>
            </a:r>
          </a:p>
          <a:p>
            <a:pPr algn="l" marL="578072" indent="-289036" lvl="1">
              <a:lnSpc>
                <a:spcPts val="3748"/>
              </a:lnSpc>
              <a:buFont typeface="Arial"/>
              <a:buChar char="•"/>
            </a:pPr>
            <a:r>
              <a:rPr lang="en-US" sz="2677">
                <a:solidFill>
                  <a:srgbClr val="2B4B82"/>
                </a:solidFill>
                <a:latin typeface="Canva Sans"/>
                <a:ea typeface="Canva Sans"/>
                <a:cs typeface="Canva Sans"/>
                <a:sym typeface="Canva Sans"/>
              </a:rPr>
              <a:t> Con trỏ chuột (Mouse Cursor)?</a:t>
            </a:r>
          </a:p>
          <a:p>
            <a:pPr algn="l">
              <a:lnSpc>
                <a:spcPts val="3748"/>
              </a:lnSpc>
            </a:pPr>
          </a:p>
          <a:p>
            <a:pPr algn="l">
              <a:lnSpc>
                <a:spcPts val="3748"/>
              </a:lnSpc>
              <a:spcBef>
                <a:spcPct val="0"/>
              </a:spcBef>
            </a:pPr>
            <a:r>
              <a:rPr lang="en-US" sz="2677">
                <a:solidFill>
                  <a:srgbClr val="2B4B82"/>
                </a:solidFill>
                <a:latin typeface="Canva Sans"/>
                <a:ea typeface="Canva Sans"/>
                <a:cs typeface="Canva Sans"/>
                <a:sym typeface="Canva Sans"/>
              </a:rPr>
              <a:t>Một nghiên cứu thú vị đã kiểm tra hành vi của người dùng khi làm việc với bảng tính (spreadsheet). Trong nghiên cứu này, cứ mỗi 5 phút, thanh trạng thái sẽ hiển thị </a:t>
            </a:r>
            <a:r>
              <a:rPr lang="en-US" b="true" sz="2677">
                <a:solidFill>
                  <a:srgbClr val="2B4B82"/>
                </a:solidFill>
                <a:latin typeface="Canva Sans Bold"/>
                <a:ea typeface="Canva Sans Bold"/>
                <a:cs typeface="Canva Sans Bold"/>
                <a:sym typeface="Canva Sans Bold"/>
              </a:rPr>
              <a:t>thông báo:</a:t>
            </a:r>
          </a:p>
          <a:p>
            <a:pPr algn="l">
              <a:lnSpc>
                <a:spcPts val="3748"/>
              </a:lnSpc>
              <a:spcBef>
                <a:spcPct val="0"/>
              </a:spcBef>
            </a:pPr>
            <a:r>
              <a:rPr lang="en-US" sz="2677">
                <a:solidFill>
                  <a:srgbClr val="2B4B82"/>
                </a:solidFill>
                <a:latin typeface="Canva Sans"/>
                <a:ea typeface="Canva Sans"/>
                <a:cs typeface="Canva Sans"/>
                <a:sym typeface="Canva Sans"/>
              </a:rPr>
              <a:t>  “Có một tờ 50 đô la được dán dưới ghế của bạn. Hãy lấy nó!”</a:t>
            </a:r>
          </a:p>
        </p:txBody>
      </p:sp>
      <p:sp>
        <p:nvSpPr>
          <p:cNvPr name="TextBox 4" id="4"/>
          <p:cNvSpPr txBox="true"/>
          <p:nvPr/>
        </p:nvSpPr>
        <p:spPr>
          <a:xfrm rot="0">
            <a:off x="1028700" y="971550"/>
            <a:ext cx="10230296" cy="537845"/>
          </a:xfrm>
          <a:prstGeom prst="rect">
            <a:avLst/>
          </a:prstGeom>
        </p:spPr>
        <p:txBody>
          <a:bodyPr anchor="t" rtlCol="false" tIns="0" lIns="0" bIns="0" rIns="0">
            <a:spAutoFit/>
          </a:bodyPr>
          <a:lstStyle/>
          <a:p>
            <a:pPr algn="l">
              <a:lnSpc>
                <a:spcPts val="4480"/>
              </a:lnSpc>
              <a:spcBef>
                <a:spcPct val="0"/>
              </a:spcBef>
            </a:pPr>
            <a:r>
              <a:rPr lang="en-US" b="true" sz="3200">
                <a:solidFill>
                  <a:srgbClr val="2B4B82"/>
                </a:solidFill>
                <a:latin typeface="Canva Sans Bold"/>
                <a:ea typeface="Canva Sans Bold"/>
                <a:cs typeface="Canva Sans Bold"/>
                <a:sym typeface="Canva Sans Bold"/>
              </a:rPr>
              <a:t>Người dùng tập trung vào những gì trong giao diện?</a:t>
            </a:r>
          </a:p>
        </p:txBody>
      </p:sp>
      <p:sp>
        <p:nvSpPr>
          <p:cNvPr name="TextBox 5" id="5"/>
          <p:cNvSpPr txBox="true"/>
          <p:nvPr/>
        </p:nvSpPr>
        <p:spPr>
          <a:xfrm rot="0">
            <a:off x="9744779" y="5086350"/>
            <a:ext cx="7514521" cy="3322320"/>
          </a:xfrm>
          <a:prstGeom prst="rect">
            <a:avLst/>
          </a:prstGeom>
        </p:spPr>
        <p:txBody>
          <a:bodyPr anchor="t" rtlCol="false" tIns="0" lIns="0" bIns="0" rIns="0">
            <a:spAutoFit/>
          </a:bodyPr>
          <a:lstStyle/>
          <a:p>
            <a:pPr algn="just">
              <a:lnSpc>
                <a:spcPts val="3779"/>
              </a:lnSpc>
              <a:spcBef>
                <a:spcPct val="0"/>
              </a:spcBef>
            </a:pPr>
            <a:r>
              <a:rPr lang="en-US" b="true" sz="2700">
                <a:solidFill>
                  <a:srgbClr val="2B4B82"/>
                </a:solidFill>
                <a:latin typeface="Canva Sans Bold"/>
                <a:ea typeface="Canva Sans Bold"/>
                <a:cs typeface="Canva Sans Bold"/>
                <a:sym typeface="Canva Sans Bold"/>
              </a:rPr>
              <a:t>Kết quả:</a:t>
            </a:r>
            <a:r>
              <a:rPr lang="en-US" sz="2700">
                <a:solidFill>
                  <a:srgbClr val="2B4B82"/>
                </a:solidFill>
                <a:latin typeface="Canva Sans"/>
                <a:ea typeface="Canva Sans"/>
                <a:cs typeface="Canva Sans"/>
                <a:sym typeface="Canva Sans"/>
              </a:rPr>
              <a:t> Trong suốt một ngày thử nghiệm, hơn một chục người tham gia nhưng không ai để ý đến thông báo và lấy tiền. Điều này cho thấy rằng người dùng thường bỏ qua các yếu tố không liên quan trực tiếp đến nhiệm vụ họ đang thực hiện, ngay cả khi nó có giá trị đáng kể.</a:t>
            </a:r>
          </a:p>
        </p:txBody>
      </p:sp>
      <p:grpSp>
        <p:nvGrpSpPr>
          <p:cNvPr name="Group 6" id="6"/>
          <p:cNvGrpSpPr/>
          <p:nvPr/>
        </p:nvGrpSpPr>
        <p:grpSpPr>
          <a:xfrm rot="0">
            <a:off x="1413510" y="5970270"/>
            <a:ext cx="3512820" cy="2289810"/>
            <a:chOff x="0" y="0"/>
            <a:chExt cx="4683760" cy="3053080"/>
          </a:xfrm>
        </p:grpSpPr>
        <p:sp>
          <p:nvSpPr>
            <p:cNvPr name="Freeform 7" id="7"/>
            <p:cNvSpPr/>
            <p:nvPr/>
          </p:nvSpPr>
          <p:spPr>
            <a:xfrm flipH="false" flipV="false" rot="0">
              <a:off x="35560" y="17780"/>
              <a:ext cx="4607560" cy="2992120"/>
            </a:xfrm>
            <a:custGeom>
              <a:avLst/>
              <a:gdLst/>
              <a:ahLst/>
              <a:cxnLst/>
              <a:rect r="r" b="b" t="t" l="l"/>
              <a:pathLst>
                <a:path h="2992120" w="4607560">
                  <a:moveTo>
                    <a:pt x="146050" y="219710"/>
                  </a:moveTo>
                  <a:cubicBezTo>
                    <a:pt x="152400" y="791210"/>
                    <a:pt x="175260" y="859790"/>
                    <a:pt x="181610" y="958850"/>
                  </a:cubicBezTo>
                  <a:cubicBezTo>
                    <a:pt x="190500" y="1076960"/>
                    <a:pt x="180340" y="1249680"/>
                    <a:pt x="186690" y="1351280"/>
                  </a:cubicBezTo>
                  <a:cubicBezTo>
                    <a:pt x="190500" y="1416050"/>
                    <a:pt x="200660" y="1435100"/>
                    <a:pt x="204470" y="1512570"/>
                  </a:cubicBezTo>
                  <a:cubicBezTo>
                    <a:pt x="215900" y="1699260"/>
                    <a:pt x="234950" y="2258060"/>
                    <a:pt x="205740" y="2479040"/>
                  </a:cubicBezTo>
                  <a:cubicBezTo>
                    <a:pt x="190500" y="2597150"/>
                    <a:pt x="95250" y="2694940"/>
                    <a:pt x="135890" y="2747010"/>
                  </a:cubicBezTo>
                  <a:cubicBezTo>
                    <a:pt x="189230" y="2818130"/>
                    <a:pt x="518160" y="2757170"/>
                    <a:pt x="654050" y="2752090"/>
                  </a:cubicBezTo>
                  <a:cubicBezTo>
                    <a:pt x="741680" y="2748280"/>
                    <a:pt x="775970" y="2736850"/>
                    <a:pt x="869950" y="2733040"/>
                  </a:cubicBezTo>
                  <a:cubicBezTo>
                    <a:pt x="1050290" y="2725420"/>
                    <a:pt x="1442720" y="2697480"/>
                    <a:pt x="1654810" y="2731770"/>
                  </a:cubicBezTo>
                  <a:cubicBezTo>
                    <a:pt x="1805940" y="2757170"/>
                    <a:pt x="1907540" y="2828290"/>
                    <a:pt x="2032000" y="2861310"/>
                  </a:cubicBezTo>
                  <a:cubicBezTo>
                    <a:pt x="2150110" y="2893060"/>
                    <a:pt x="2254250" y="2919730"/>
                    <a:pt x="2381250" y="2932430"/>
                  </a:cubicBezTo>
                  <a:cubicBezTo>
                    <a:pt x="2529840" y="2947670"/>
                    <a:pt x="2722880" y="2941320"/>
                    <a:pt x="2871470" y="2933700"/>
                  </a:cubicBezTo>
                  <a:cubicBezTo>
                    <a:pt x="2995930" y="2926080"/>
                    <a:pt x="3079750" y="2901950"/>
                    <a:pt x="3213100" y="2893060"/>
                  </a:cubicBezTo>
                  <a:cubicBezTo>
                    <a:pt x="3403600" y="2882900"/>
                    <a:pt x="3735070" y="2905760"/>
                    <a:pt x="3902710" y="2893060"/>
                  </a:cubicBezTo>
                  <a:cubicBezTo>
                    <a:pt x="3999230" y="2885440"/>
                    <a:pt x="4053840" y="2863850"/>
                    <a:pt x="4128770" y="2857500"/>
                  </a:cubicBezTo>
                  <a:cubicBezTo>
                    <a:pt x="4201160" y="2851150"/>
                    <a:pt x="4295140" y="2875280"/>
                    <a:pt x="4342130" y="2853690"/>
                  </a:cubicBezTo>
                  <a:cubicBezTo>
                    <a:pt x="4373880" y="2839720"/>
                    <a:pt x="4389120" y="2813050"/>
                    <a:pt x="4405630" y="2783840"/>
                  </a:cubicBezTo>
                  <a:cubicBezTo>
                    <a:pt x="4424680" y="2749550"/>
                    <a:pt x="4436110" y="2707640"/>
                    <a:pt x="4443730" y="2658110"/>
                  </a:cubicBezTo>
                  <a:cubicBezTo>
                    <a:pt x="4455160" y="2586990"/>
                    <a:pt x="4451350" y="2485390"/>
                    <a:pt x="4446270" y="2396490"/>
                  </a:cubicBezTo>
                  <a:cubicBezTo>
                    <a:pt x="4439920" y="2302510"/>
                    <a:pt x="4418330" y="2218690"/>
                    <a:pt x="4409440" y="2105660"/>
                  </a:cubicBezTo>
                  <a:cubicBezTo>
                    <a:pt x="4396740" y="1949450"/>
                    <a:pt x="4378960" y="1644650"/>
                    <a:pt x="4385310" y="1545590"/>
                  </a:cubicBezTo>
                  <a:cubicBezTo>
                    <a:pt x="4387850" y="1510030"/>
                    <a:pt x="4389120" y="1504950"/>
                    <a:pt x="4396740" y="1473200"/>
                  </a:cubicBezTo>
                  <a:cubicBezTo>
                    <a:pt x="4415790" y="1405890"/>
                    <a:pt x="4489450" y="1259840"/>
                    <a:pt x="4513580" y="1162050"/>
                  </a:cubicBezTo>
                  <a:cubicBezTo>
                    <a:pt x="4535170" y="1078230"/>
                    <a:pt x="4540250" y="1013460"/>
                    <a:pt x="4546600" y="923290"/>
                  </a:cubicBezTo>
                  <a:cubicBezTo>
                    <a:pt x="4554220" y="806450"/>
                    <a:pt x="4561840" y="632460"/>
                    <a:pt x="4546600" y="521970"/>
                  </a:cubicBezTo>
                  <a:cubicBezTo>
                    <a:pt x="4535170" y="443230"/>
                    <a:pt x="4499610" y="355600"/>
                    <a:pt x="4488180" y="320040"/>
                  </a:cubicBezTo>
                  <a:cubicBezTo>
                    <a:pt x="4483100" y="306070"/>
                    <a:pt x="4484370" y="303530"/>
                    <a:pt x="4476750" y="293370"/>
                  </a:cubicBezTo>
                  <a:cubicBezTo>
                    <a:pt x="4458970" y="267970"/>
                    <a:pt x="4395470" y="212090"/>
                    <a:pt x="4354830" y="182880"/>
                  </a:cubicBezTo>
                  <a:cubicBezTo>
                    <a:pt x="4323080" y="160020"/>
                    <a:pt x="4305300" y="139700"/>
                    <a:pt x="4258310" y="127000"/>
                  </a:cubicBezTo>
                  <a:cubicBezTo>
                    <a:pt x="4168140" y="101600"/>
                    <a:pt x="3915410" y="133350"/>
                    <a:pt x="3826510" y="123190"/>
                  </a:cubicBezTo>
                  <a:cubicBezTo>
                    <a:pt x="3787140" y="119380"/>
                    <a:pt x="3782060" y="109220"/>
                    <a:pt x="3740150" y="105410"/>
                  </a:cubicBezTo>
                  <a:cubicBezTo>
                    <a:pt x="3643630" y="95250"/>
                    <a:pt x="3393440" y="107950"/>
                    <a:pt x="3243580" y="104140"/>
                  </a:cubicBezTo>
                  <a:cubicBezTo>
                    <a:pt x="3119120" y="100330"/>
                    <a:pt x="3070860" y="90170"/>
                    <a:pt x="2903220" y="85090"/>
                  </a:cubicBezTo>
                  <a:cubicBezTo>
                    <a:pt x="2434590" y="72390"/>
                    <a:pt x="558800" y="0"/>
                    <a:pt x="219710" y="83820"/>
                  </a:cubicBezTo>
                  <a:cubicBezTo>
                    <a:pt x="135890" y="104140"/>
                    <a:pt x="96520" y="121920"/>
                    <a:pt x="71120" y="162560"/>
                  </a:cubicBezTo>
                  <a:cubicBezTo>
                    <a:pt x="44450" y="203200"/>
                    <a:pt x="78740" y="302260"/>
                    <a:pt x="63500" y="327660"/>
                  </a:cubicBezTo>
                  <a:cubicBezTo>
                    <a:pt x="58420" y="339090"/>
                    <a:pt x="46990" y="345440"/>
                    <a:pt x="38100" y="345440"/>
                  </a:cubicBezTo>
                  <a:cubicBezTo>
                    <a:pt x="30480" y="345440"/>
                    <a:pt x="17780" y="332740"/>
                    <a:pt x="15240" y="325120"/>
                  </a:cubicBezTo>
                  <a:cubicBezTo>
                    <a:pt x="12700" y="318770"/>
                    <a:pt x="16510" y="307340"/>
                    <a:pt x="21590" y="302260"/>
                  </a:cubicBezTo>
                  <a:cubicBezTo>
                    <a:pt x="27940" y="297180"/>
                    <a:pt x="44450" y="294640"/>
                    <a:pt x="52070" y="297180"/>
                  </a:cubicBezTo>
                  <a:cubicBezTo>
                    <a:pt x="58420" y="300990"/>
                    <a:pt x="64770" y="309880"/>
                    <a:pt x="64770" y="317500"/>
                  </a:cubicBezTo>
                  <a:cubicBezTo>
                    <a:pt x="66040" y="325120"/>
                    <a:pt x="57150" y="341630"/>
                    <a:pt x="49530" y="344170"/>
                  </a:cubicBezTo>
                  <a:cubicBezTo>
                    <a:pt x="40640" y="346710"/>
                    <a:pt x="22860" y="340360"/>
                    <a:pt x="16510" y="327660"/>
                  </a:cubicBezTo>
                  <a:cubicBezTo>
                    <a:pt x="0" y="302260"/>
                    <a:pt x="10160" y="194310"/>
                    <a:pt x="20320" y="157480"/>
                  </a:cubicBezTo>
                  <a:cubicBezTo>
                    <a:pt x="26670" y="138430"/>
                    <a:pt x="30480" y="129540"/>
                    <a:pt x="44450" y="115570"/>
                  </a:cubicBezTo>
                  <a:cubicBezTo>
                    <a:pt x="67310" y="92710"/>
                    <a:pt x="130810" y="60960"/>
                    <a:pt x="163830" y="46990"/>
                  </a:cubicBezTo>
                  <a:cubicBezTo>
                    <a:pt x="185420" y="38100"/>
                    <a:pt x="186690" y="36830"/>
                    <a:pt x="219710" y="33020"/>
                  </a:cubicBezTo>
                  <a:cubicBezTo>
                    <a:pt x="441960" y="3810"/>
                    <a:pt x="2080260" y="21590"/>
                    <a:pt x="2820670" y="33020"/>
                  </a:cubicBezTo>
                  <a:cubicBezTo>
                    <a:pt x="3374390" y="41910"/>
                    <a:pt x="4038600" y="5080"/>
                    <a:pt x="4269740" y="77470"/>
                  </a:cubicBezTo>
                  <a:cubicBezTo>
                    <a:pt x="4352290" y="102870"/>
                    <a:pt x="4378960" y="139700"/>
                    <a:pt x="4422140" y="175260"/>
                  </a:cubicBezTo>
                  <a:cubicBezTo>
                    <a:pt x="4461510" y="205740"/>
                    <a:pt x="4497070" y="229870"/>
                    <a:pt x="4523740" y="275590"/>
                  </a:cubicBezTo>
                  <a:cubicBezTo>
                    <a:pt x="4560570" y="336550"/>
                    <a:pt x="4585970" y="443230"/>
                    <a:pt x="4597400" y="521970"/>
                  </a:cubicBezTo>
                  <a:cubicBezTo>
                    <a:pt x="4607560" y="589280"/>
                    <a:pt x="4597400" y="645160"/>
                    <a:pt x="4597400" y="715010"/>
                  </a:cubicBezTo>
                  <a:cubicBezTo>
                    <a:pt x="4597400" y="797560"/>
                    <a:pt x="4602480" y="901700"/>
                    <a:pt x="4594860" y="984250"/>
                  </a:cubicBezTo>
                  <a:cubicBezTo>
                    <a:pt x="4588510" y="1056640"/>
                    <a:pt x="4579620" y="1112520"/>
                    <a:pt x="4559300" y="1184910"/>
                  </a:cubicBezTo>
                  <a:cubicBezTo>
                    <a:pt x="4533900" y="1275080"/>
                    <a:pt x="4464050" y="1418590"/>
                    <a:pt x="4447540" y="1482090"/>
                  </a:cubicBezTo>
                  <a:cubicBezTo>
                    <a:pt x="4439920" y="1510030"/>
                    <a:pt x="4438650" y="1513840"/>
                    <a:pt x="4436110" y="1545590"/>
                  </a:cubicBezTo>
                  <a:cubicBezTo>
                    <a:pt x="4429760" y="1638300"/>
                    <a:pt x="4446270" y="1944370"/>
                    <a:pt x="4460240" y="2099310"/>
                  </a:cubicBezTo>
                  <a:cubicBezTo>
                    <a:pt x="4469130" y="2213610"/>
                    <a:pt x="4490720" y="2296160"/>
                    <a:pt x="4497070" y="2395220"/>
                  </a:cubicBezTo>
                  <a:cubicBezTo>
                    <a:pt x="4502150" y="2495550"/>
                    <a:pt x="4502150" y="2636520"/>
                    <a:pt x="4491990" y="2697480"/>
                  </a:cubicBezTo>
                  <a:cubicBezTo>
                    <a:pt x="4486910" y="2726690"/>
                    <a:pt x="4481830" y="2736850"/>
                    <a:pt x="4470400" y="2758440"/>
                  </a:cubicBezTo>
                  <a:cubicBezTo>
                    <a:pt x="4456430" y="2788920"/>
                    <a:pt x="4431030" y="2834640"/>
                    <a:pt x="4406900" y="2860040"/>
                  </a:cubicBezTo>
                  <a:cubicBezTo>
                    <a:pt x="4389120" y="2879090"/>
                    <a:pt x="4376420" y="2893060"/>
                    <a:pt x="4349750" y="2901950"/>
                  </a:cubicBezTo>
                  <a:cubicBezTo>
                    <a:pt x="4301490" y="2918460"/>
                    <a:pt x="4207510" y="2900680"/>
                    <a:pt x="4135120" y="2907030"/>
                  </a:cubicBezTo>
                  <a:cubicBezTo>
                    <a:pt x="4058920" y="2914650"/>
                    <a:pt x="4000500" y="2936240"/>
                    <a:pt x="3902710" y="2943860"/>
                  </a:cubicBezTo>
                  <a:cubicBezTo>
                    <a:pt x="3735070" y="2956560"/>
                    <a:pt x="3404870" y="2933700"/>
                    <a:pt x="3214370" y="2943860"/>
                  </a:cubicBezTo>
                  <a:cubicBezTo>
                    <a:pt x="3079750" y="2952750"/>
                    <a:pt x="2994660" y="2976880"/>
                    <a:pt x="2871470" y="2984500"/>
                  </a:cubicBezTo>
                  <a:cubicBezTo>
                    <a:pt x="2726690" y="2992120"/>
                    <a:pt x="2489200" y="2985770"/>
                    <a:pt x="2400300" y="2983230"/>
                  </a:cubicBezTo>
                  <a:cubicBezTo>
                    <a:pt x="2364740" y="2983230"/>
                    <a:pt x="2359660" y="2984500"/>
                    <a:pt x="2326640" y="2979420"/>
                  </a:cubicBezTo>
                  <a:cubicBezTo>
                    <a:pt x="2258060" y="2970530"/>
                    <a:pt x="2122170" y="2938780"/>
                    <a:pt x="2012950" y="2908300"/>
                  </a:cubicBezTo>
                  <a:cubicBezTo>
                    <a:pt x="1891030" y="2875280"/>
                    <a:pt x="1800860" y="2809240"/>
                    <a:pt x="1628140" y="2782570"/>
                  </a:cubicBezTo>
                  <a:cubicBezTo>
                    <a:pt x="1299210" y="2731770"/>
                    <a:pt x="318770" y="2828290"/>
                    <a:pt x="161290" y="2799080"/>
                  </a:cubicBezTo>
                  <a:cubicBezTo>
                    <a:pt x="129540" y="2794000"/>
                    <a:pt x="116840" y="2790190"/>
                    <a:pt x="106680" y="2777490"/>
                  </a:cubicBezTo>
                  <a:cubicBezTo>
                    <a:pt x="97790" y="2768600"/>
                    <a:pt x="96520" y="2758440"/>
                    <a:pt x="96520" y="2740660"/>
                  </a:cubicBezTo>
                  <a:cubicBezTo>
                    <a:pt x="95250" y="2692400"/>
                    <a:pt x="142240" y="2594610"/>
                    <a:pt x="156210" y="2477770"/>
                  </a:cubicBezTo>
                  <a:cubicBezTo>
                    <a:pt x="180340" y="2259330"/>
                    <a:pt x="165100" y="1701800"/>
                    <a:pt x="153670" y="1513840"/>
                  </a:cubicBezTo>
                  <a:cubicBezTo>
                    <a:pt x="149860" y="1437640"/>
                    <a:pt x="139700" y="1417320"/>
                    <a:pt x="135890" y="1351280"/>
                  </a:cubicBezTo>
                  <a:cubicBezTo>
                    <a:pt x="129540" y="1249680"/>
                    <a:pt x="139700" y="1082040"/>
                    <a:pt x="130810" y="963930"/>
                  </a:cubicBezTo>
                  <a:cubicBezTo>
                    <a:pt x="124460" y="863600"/>
                    <a:pt x="101600" y="792480"/>
                    <a:pt x="95250" y="688340"/>
                  </a:cubicBezTo>
                  <a:cubicBezTo>
                    <a:pt x="86360" y="552450"/>
                    <a:pt x="69850" y="276860"/>
                    <a:pt x="95250" y="219710"/>
                  </a:cubicBezTo>
                  <a:cubicBezTo>
                    <a:pt x="102870" y="203200"/>
                    <a:pt x="115570" y="193040"/>
                    <a:pt x="123190" y="194310"/>
                  </a:cubicBezTo>
                  <a:cubicBezTo>
                    <a:pt x="132080" y="194310"/>
                    <a:pt x="146050" y="219710"/>
                    <a:pt x="146050" y="219710"/>
                  </a:cubicBezTo>
                </a:path>
              </a:pathLst>
            </a:custGeom>
            <a:solidFill>
              <a:srgbClr val="FF4500"/>
            </a:solidFill>
            <a:ln cap="sq">
              <a:noFill/>
              <a:prstDash val="solid"/>
              <a:miter/>
            </a:ln>
          </p:spPr>
        </p:sp>
      </p:grpSp>
      <p:sp>
        <p:nvSpPr>
          <p:cNvPr name="TextBox 8" id="8"/>
          <p:cNvSpPr txBox="true"/>
          <p:nvPr/>
        </p:nvSpPr>
        <p:spPr>
          <a:xfrm rot="0">
            <a:off x="2182360" y="5721826"/>
            <a:ext cx="1499564" cy="439738"/>
          </a:xfrm>
          <a:prstGeom prst="rect">
            <a:avLst/>
          </a:prstGeom>
        </p:spPr>
        <p:txBody>
          <a:bodyPr anchor="t" rtlCol="false" tIns="0" lIns="0" bIns="0" rIns="0">
            <a:spAutoFit/>
          </a:bodyPr>
          <a:lstStyle/>
          <a:p>
            <a:pPr algn="ctr">
              <a:lnSpc>
                <a:spcPts val="3517"/>
              </a:lnSpc>
              <a:spcBef>
                <a:spcPct val="0"/>
              </a:spcBef>
            </a:pPr>
            <a:r>
              <a:rPr lang="en-US" b="true" sz="2512">
                <a:solidFill>
                  <a:srgbClr val="FF4500"/>
                </a:solidFill>
                <a:latin typeface="Canva Sans Bold"/>
                <a:ea typeface="Canva Sans Bold"/>
                <a:cs typeface="Canva Sans Bold"/>
                <a:sym typeface="Canva Sans Bold"/>
              </a:rPr>
              <a:t>Bảng tính</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sp>
        <p:nvSpPr>
          <p:cNvPr name="TextBox 2" id="2"/>
          <p:cNvSpPr txBox="true"/>
          <p:nvPr/>
        </p:nvSpPr>
        <p:spPr>
          <a:xfrm rot="0">
            <a:off x="1028700" y="923925"/>
            <a:ext cx="9273778" cy="920115"/>
          </a:xfrm>
          <a:prstGeom prst="rect">
            <a:avLst/>
          </a:prstGeom>
        </p:spPr>
        <p:txBody>
          <a:bodyPr anchor="t" rtlCol="false" tIns="0" lIns="0" bIns="0" rIns="0">
            <a:spAutoFit/>
          </a:bodyPr>
          <a:lstStyle/>
          <a:p>
            <a:pPr algn="ctr">
              <a:lnSpc>
                <a:spcPts val="7559"/>
              </a:lnSpc>
              <a:spcBef>
                <a:spcPct val="0"/>
              </a:spcBef>
            </a:pPr>
            <a:r>
              <a:rPr lang="en-US" b="true" sz="5400">
                <a:solidFill>
                  <a:srgbClr val="2B4B82"/>
                </a:solidFill>
                <a:latin typeface="Canva Sans Bold"/>
                <a:ea typeface="Canva Sans Bold"/>
                <a:cs typeface="Canva Sans Bold"/>
                <a:sym typeface="Canva Sans Bold"/>
              </a:rPr>
              <a:t>Thiết kế để thu hút sự chú ý</a:t>
            </a:r>
          </a:p>
        </p:txBody>
      </p:sp>
      <p:sp>
        <p:nvSpPr>
          <p:cNvPr name="TextBox 3" id="3"/>
          <p:cNvSpPr txBox="true"/>
          <p:nvPr/>
        </p:nvSpPr>
        <p:spPr>
          <a:xfrm rot="0">
            <a:off x="1028700" y="2224498"/>
            <a:ext cx="16230600" cy="7281545"/>
          </a:xfrm>
          <a:prstGeom prst="rect">
            <a:avLst/>
          </a:prstGeom>
        </p:spPr>
        <p:txBody>
          <a:bodyPr anchor="t" rtlCol="false" tIns="0" lIns="0" bIns="0" rIns="0">
            <a:spAutoFit/>
          </a:bodyPr>
          <a:lstStyle/>
          <a:p>
            <a:pPr algn="l">
              <a:lnSpc>
                <a:spcPts val="4480"/>
              </a:lnSpc>
              <a:spcBef>
                <a:spcPct val="0"/>
              </a:spcBef>
            </a:pPr>
            <a:r>
              <a:rPr lang="en-US" sz="3200">
                <a:solidFill>
                  <a:srgbClr val="2B4B82"/>
                </a:solidFill>
                <a:latin typeface="Canva Sans"/>
                <a:ea typeface="Canva Sans"/>
                <a:cs typeface="Canva Sans"/>
                <a:sym typeface="Canva Sans"/>
              </a:rPr>
              <a:t>Để giúp người dùng tập trung vào nhiệm vụ chính, các kỹ thuật thiết kế cần được sử dụng hợp lý.</a:t>
            </a:r>
          </a:p>
          <a:p>
            <a:pPr algn="l">
              <a:lnSpc>
                <a:spcPts val="4480"/>
              </a:lnSpc>
              <a:spcBef>
                <a:spcPct val="0"/>
              </a:spcBef>
            </a:pPr>
          </a:p>
          <a:p>
            <a:pPr algn="l">
              <a:lnSpc>
                <a:spcPts val="4480"/>
              </a:lnSpc>
              <a:spcBef>
                <a:spcPct val="0"/>
              </a:spcBef>
            </a:pPr>
            <a:r>
              <a:rPr lang="en-US" b="true" sz="3200">
                <a:solidFill>
                  <a:srgbClr val="2B4B82"/>
                </a:solidFill>
                <a:latin typeface="Canva Sans Bold"/>
                <a:ea typeface="Canva Sans Bold"/>
                <a:cs typeface="Canva Sans Bold"/>
                <a:sym typeface="Canva Sans Bold"/>
              </a:rPr>
              <a:t>Các yếu tố giúp thu hút sự chú ý:</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Màu sắc (Color): Sử dụng màu sắc nổi bật để làm nổi bật thông tin quan trọng.</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Thứ tự sắp xếp (Ordering): Đặt các yếu tố quan trọng ở vị trí dễ thấy nhất.</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Khoảng cách (Spacing): Tạo khoảng trống hợp lý để giúp người dùng dễ nhận diện thông tin.</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Hiệu ứng động (Animation): Dùng chuyển động nhẹ để thu hút sự chú ý mà không gây mất tập trung.</a:t>
            </a:r>
          </a:p>
          <a:p>
            <a:pPr algn="l" marL="690881" indent="-345440" lvl="1">
              <a:lnSpc>
                <a:spcPts val="4480"/>
              </a:lnSpc>
              <a:buFont typeface="Arial"/>
              <a:buChar char="•"/>
            </a:pPr>
            <a:r>
              <a:rPr lang="en-US" sz="3200">
                <a:solidFill>
                  <a:srgbClr val="2B4B82"/>
                </a:solidFill>
                <a:latin typeface="Canva Sans"/>
                <a:ea typeface="Canva Sans"/>
                <a:cs typeface="Canva Sans"/>
                <a:sym typeface="Canva Sans"/>
              </a:rPr>
              <a:t>Âm thanh (Audio): Dùng âm thanh cảnh báo khi cần thiết.</a:t>
            </a:r>
          </a:p>
          <a:p>
            <a:pPr algn="l">
              <a:lnSpc>
                <a:spcPts val="4480"/>
              </a:lnSpc>
            </a:pPr>
          </a:p>
          <a:p>
            <a:pPr algn="l">
              <a:lnSpc>
                <a:spcPts val="4480"/>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5709486" y="3102490"/>
            <a:ext cx="7050299" cy="5985358"/>
          </a:xfrm>
          <a:custGeom>
            <a:avLst/>
            <a:gdLst/>
            <a:ahLst/>
            <a:cxnLst/>
            <a:rect r="r" b="b" t="t" l="l"/>
            <a:pathLst>
              <a:path h="5985358" w="7050299">
                <a:moveTo>
                  <a:pt x="0" y="0"/>
                </a:moveTo>
                <a:lnTo>
                  <a:pt x="7050298" y="0"/>
                </a:lnTo>
                <a:lnTo>
                  <a:pt x="7050298" y="5985358"/>
                </a:lnTo>
                <a:lnTo>
                  <a:pt x="0" y="5985358"/>
                </a:lnTo>
                <a:lnTo>
                  <a:pt x="0" y="0"/>
                </a:lnTo>
                <a:close/>
              </a:path>
            </a:pathLst>
          </a:custGeom>
          <a:blipFill>
            <a:blip r:embed="rId2"/>
            <a:stretch>
              <a:fillRect l="0" t="0" r="0" b="0"/>
            </a:stretch>
          </a:blipFill>
        </p:spPr>
      </p:sp>
      <p:sp>
        <p:nvSpPr>
          <p:cNvPr name="TextBox 3" id="3"/>
          <p:cNvSpPr txBox="true"/>
          <p:nvPr/>
        </p:nvSpPr>
        <p:spPr>
          <a:xfrm rot="0">
            <a:off x="1028700" y="933450"/>
            <a:ext cx="535528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Màu sắc (Color): </a:t>
            </a:r>
          </a:p>
        </p:txBody>
      </p:sp>
      <p:sp>
        <p:nvSpPr>
          <p:cNvPr name="TextBox 4" id="4"/>
          <p:cNvSpPr txBox="true"/>
          <p:nvPr/>
        </p:nvSpPr>
        <p:spPr>
          <a:xfrm rot="0">
            <a:off x="1028700" y="2048353"/>
            <a:ext cx="12499181"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2B4B82"/>
                </a:solidFill>
                <a:latin typeface="Canva Sans Bold"/>
                <a:ea typeface="Canva Sans Bold"/>
                <a:cs typeface="Canva Sans Bold"/>
                <a:sym typeface="Canva Sans Bold"/>
              </a:rPr>
              <a:t>Ví dụ : Nút "Yêu Thích" màu đỏ và có icon trái tim, dễ nhận biết.</a:t>
            </a:r>
          </a:p>
        </p:txBody>
      </p:sp>
      <p:grpSp>
        <p:nvGrpSpPr>
          <p:cNvPr name="Group 5" id="5"/>
          <p:cNvGrpSpPr/>
          <p:nvPr/>
        </p:nvGrpSpPr>
        <p:grpSpPr>
          <a:xfrm rot="0">
            <a:off x="6428422" y="8160068"/>
            <a:ext cx="1353502" cy="1232535"/>
            <a:chOff x="0" y="0"/>
            <a:chExt cx="1804670" cy="1643380"/>
          </a:xfrm>
        </p:grpSpPr>
        <p:sp>
          <p:nvSpPr>
            <p:cNvPr name="Freeform 6" id="6"/>
            <p:cNvSpPr/>
            <p:nvPr/>
          </p:nvSpPr>
          <p:spPr>
            <a:xfrm flipH="false" flipV="false" rot="0">
              <a:off x="41910" y="48260"/>
              <a:ext cx="1719580" cy="1546860"/>
            </a:xfrm>
            <a:custGeom>
              <a:avLst/>
              <a:gdLst/>
              <a:ahLst/>
              <a:cxnLst/>
              <a:rect r="r" b="b" t="t" l="l"/>
              <a:pathLst>
                <a:path h="1546860" w="1719580">
                  <a:moveTo>
                    <a:pt x="754380" y="391160"/>
                  </a:moveTo>
                  <a:cubicBezTo>
                    <a:pt x="735330" y="294640"/>
                    <a:pt x="723900" y="283210"/>
                    <a:pt x="707390" y="265430"/>
                  </a:cubicBezTo>
                  <a:cubicBezTo>
                    <a:pt x="679450" y="236220"/>
                    <a:pt x="631190" y="186690"/>
                    <a:pt x="580390" y="158750"/>
                  </a:cubicBezTo>
                  <a:cubicBezTo>
                    <a:pt x="523240" y="125730"/>
                    <a:pt x="436880" y="100330"/>
                    <a:pt x="375920" y="87630"/>
                  </a:cubicBezTo>
                  <a:cubicBezTo>
                    <a:pt x="331470" y="77470"/>
                    <a:pt x="284480" y="73660"/>
                    <a:pt x="256540" y="74930"/>
                  </a:cubicBezTo>
                  <a:cubicBezTo>
                    <a:pt x="242570" y="76200"/>
                    <a:pt x="233680" y="77470"/>
                    <a:pt x="223520" y="82550"/>
                  </a:cubicBezTo>
                  <a:cubicBezTo>
                    <a:pt x="210820" y="88900"/>
                    <a:pt x="201930" y="99060"/>
                    <a:pt x="186690" y="114300"/>
                  </a:cubicBezTo>
                  <a:cubicBezTo>
                    <a:pt x="158750" y="143510"/>
                    <a:pt x="91440" y="203200"/>
                    <a:pt x="69850" y="252730"/>
                  </a:cubicBezTo>
                  <a:cubicBezTo>
                    <a:pt x="52070" y="298450"/>
                    <a:pt x="45720" y="342900"/>
                    <a:pt x="59690" y="396240"/>
                  </a:cubicBezTo>
                  <a:cubicBezTo>
                    <a:pt x="81280" y="482600"/>
                    <a:pt x="181610" y="609600"/>
                    <a:pt x="252730" y="701040"/>
                  </a:cubicBezTo>
                  <a:cubicBezTo>
                    <a:pt x="321310" y="788670"/>
                    <a:pt x="403860" y="844550"/>
                    <a:pt x="477520" y="937260"/>
                  </a:cubicBezTo>
                  <a:cubicBezTo>
                    <a:pt x="566420" y="1049020"/>
                    <a:pt x="654050" y="1243330"/>
                    <a:pt x="735330" y="1330960"/>
                  </a:cubicBezTo>
                  <a:cubicBezTo>
                    <a:pt x="786130" y="1386840"/>
                    <a:pt x="852170" y="1414780"/>
                    <a:pt x="881380" y="1446530"/>
                  </a:cubicBezTo>
                  <a:cubicBezTo>
                    <a:pt x="897890" y="1463040"/>
                    <a:pt x="899160" y="1483360"/>
                    <a:pt x="914400" y="1490980"/>
                  </a:cubicBezTo>
                  <a:cubicBezTo>
                    <a:pt x="932180" y="1501140"/>
                    <a:pt x="962660" y="1502410"/>
                    <a:pt x="982980" y="1494790"/>
                  </a:cubicBezTo>
                  <a:cubicBezTo>
                    <a:pt x="1007110" y="1484630"/>
                    <a:pt x="1016000" y="1455420"/>
                    <a:pt x="1045210" y="1432560"/>
                  </a:cubicBezTo>
                  <a:cubicBezTo>
                    <a:pt x="1098550" y="1393190"/>
                    <a:pt x="1226820" y="1348740"/>
                    <a:pt x="1289050" y="1297940"/>
                  </a:cubicBezTo>
                  <a:cubicBezTo>
                    <a:pt x="1337310" y="1259840"/>
                    <a:pt x="1362710" y="1221740"/>
                    <a:pt x="1400810" y="1173480"/>
                  </a:cubicBezTo>
                  <a:cubicBezTo>
                    <a:pt x="1447800" y="1113790"/>
                    <a:pt x="1503680" y="1036320"/>
                    <a:pt x="1545590" y="965200"/>
                  </a:cubicBezTo>
                  <a:cubicBezTo>
                    <a:pt x="1586230" y="896620"/>
                    <a:pt x="1628140" y="829310"/>
                    <a:pt x="1648460" y="755650"/>
                  </a:cubicBezTo>
                  <a:cubicBezTo>
                    <a:pt x="1667510" y="681990"/>
                    <a:pt x="1668780" y="594360"/>
                    <a:pt x="1659890" y="521970"/>
                  </a:cubicBezTo>
                  <a:cubicBezTo>
                    <a:pt x="1652270" y="457200"/>
                    <a:pt x="1631950" y="398780"/>
                    <a:pt x="1606550" y="341630"/>
                  </a:cubicBezTo>
                  <a:cubicBezTo>
                    <a:pt x="1579880" y="284480"/>
                    <a:pt x="1539240" y="222250"/>
                    <a:pt x="1504950" y="176530"/>
                  </a:cubicBezTo>
                  <a:cubicBezTo>
                    <a:pt x="1478280" y="138430"/>
                    <a:pt x="1452880" y="101600"/>
                    <a:pt x="1421130" y="82550"/>
                  </a:cubicBezTo>
                  <a:cubicBezTo>
                    <a:pt x="1395730" y="66040"/>
                    <a:pt x="1367790" y="66040"/>
                    <a:pt x="1337310" y="60960"/>
                  </a:cubicBezTo>
                  <a:cubicBezTo>
                    <a:pt x="1301750" y="55880"/>
                    <a:pt x="1263650" y="36830"/>
                    <a:pt x="1219200" y="53340"/>
                  </a:cubicBezTo>
                  <a:cubicBezTo>
                    <a:pt x="1130300" y="86360"/>
                    <a:pt x="946150" y="355600"/>
                    <a:pt x="892810" y="373380"/>
                  </a:cubicBezTo>
                  <a:cubicBezTo>
                    <a:pt x="878840" y="377190"/>
                    <a:pt x="867410" y="374650"/>
                    <a:pt x="862330" y="368300"/>
                  </a:cubicBezTo>
                  <a:cubicBezTo>
                    <a:pt x="855980" y="361950"/>
                    <a:pt x="857250" y="337820"/>
                    <a:pt x="863600" y="331470"/>
                  </a:cubicBezTo>
                  <a:cubicBezTo>
                    <a:pt x="869950" y="326390"/>
                    <a:pt x="894080" y="327660"/>
                    <a:pt x="900430" y="335280"/>
                  </a:cubicBezTo>
                  <a:cubicBezTo>
                    <a:pt x="905510" y="341630"/>
                    <a:pt x="901700" y="367030"/>
                    <a:pt x="894080" y="370840"/>
                  </a:cubicBezTo>
                  <a:cubicBezTo>
                    <a:pt x="887730" y="375920"/>
                    <a:pt x="863600" y="370840"/>
                    <a:pt x="858520" y="364490"/>
                  </a:cubicBezTo>
                  <a:cubicBezTo>
                    <a:pt x="853440" y="358140"/>
                    <a:pt x="854710" y="347980"/>
                    <a:pt x="861060" y="334010"/>
                  </a:cubicBezTo>
                  <a:cubicBezTo>
                    <a:pt x="886460" y="280670"/>
                    <a:pt x="1116330" y="58420"/>
                    <a:pt x="1182370" y="19050"/>
                  </a:cubicBezTo>
                  <a:cubicBezTo>
                    <a:pt x="1206500" y="6350"/>
                    <a:pt x="1215390" y="5080"/>
                    <a:pt x="1236980" y="2540"/>
                  </a:cubicBezTo>
                  <a:cubicBezTo>
                    <a:pt x="1268730" y="0"/>
                    <a:pt x="1318260" y="6350"/>
                    <a:pt x="1355090" y="13970"/>
                  </a:cubicBezTo>
                  <a:cubicBezTo>
                    <a:pt x="1390650" y="20320"/>
                    <a:pt x="1426210" y="26670"/>
                    <a:pt x="1456690" y="45720"/>
                  </a:cubicBezTo>
                  <a:cubicBezTo>
                    <a:pt x="1490980" y="68580"/>
                    <a:pt x="1517650" y="107950"/>
                    <a:pt x="1548130" y="148590"/>
                  </a:cubicBezTo>
                  <a:cubicBezTo>
                    <a:pt x="1584960" y="198120"/>
                    <a:pt x="1628140" y="266700"/>
                    <a:pt x="1654810" y="330200"/>
                  </a:cubicBezTo>
                  <a:cubicBezTo>
                    <a:pt x="1681480" y="391160"/>
                    <a:pt x="1703070" y="452120"/>
                    <a:pt x="1710690" y="521970"/>
                  </a:cubicBezTo>
                  <a:cubicBezTo>
                    <a:pt x="1719580" y="599440"/>
                    <a:pt x="1715770" y="695960"/>
                    <a:pt x="1694180" y="775970"/>
                  </a:cubicBezTo>
                  <a:cubicBezTo>
                    <a:pt x="1673860" y="853440"/>
                    <a:pt x="1628140" y="924560"/>
                    <a:pt x="1586230" y="995680"/>
                  </a:cubicBezTo>
                  <a:cubicBezTo>
                    <a:pt x="1543050" y="1068070"/>
                    <a:pt x="1488440" y="1144270"/>
                    <a:pt x="1438910" y="1205230"/>
                  </a:cubicBezTo>
                  <a:cubicBezTo>
                    <a:pt x="1398270" y="1257300"/>
                    <a:pt x="1366520" y="1300480"/>
                    <a:pt x="1314450" y="1342390"/>
                  </a:cubicBezTo>
                  <a:cubicBezTo>
                    <a:pt x="1250950" y="1393190"/>
                    <a:pt x="1120140" y="1440180"/>
                    <a:pt x="1074420" y="1474470"/>
                  </a:cubicBezTo>
                  <a:cubicBezTo>
                    <a:pt x="1054100" y="1489710"/>
                    <a:pt x="1050290" y="1504950"/>
                    <a:pt x="1032510" y="1515110"/>
                  </a:cubicBezTo>
                  <a:cubicBezTo>
                    <a:pt x="1014730" y="1527810"/>
                    <a:pt x="985520" y="1540510"/>
                    <a:pt x="965200" y="1544320"/>
                  </a:cubicBezTo>
                  <a:cubicBezTo>
                    <a:pt x="949960" y="1546860"/>
                    <a:pt x="934720" y="1543050"/>
                    <a:pt x="922020" y="1541780"/>
                  </a:cubicBezTo>
                  <a:cubicBezTo>
                    <a:pt x="913130" y="1539240"/>
                    <a:pt x="908050" y="1540510"/>
                    <a:pt x="896620" y="1535430"/>
                  </a:cubicBezTo>
                  <a:cubicBezTo>
                    <a:pt x="862330" y="1516380"/>
                    <a:pt x="765810" y="1427480"/>
                    <a:pt x="715010" y="1372870"/>
                  </a:cubicBezTo>
                  <a:cubicBezTo>
                    <a:pt x="673100" y="1328420"/>
                    <a:pt x="648970" y="1291590"/>
                    <a:pt x="610870" y="1238250"/>
                  </a:cubicBezTo>
                  <a:cubicBezTo>
                    <a:pt x="558800" y="1164590"/>
                    <a:pt x="506730" y="1055370"/>
                    <a:pt x="440690" y="971550"/>
                  </a:cubicBezTo>
                  <a:cubicBezTo>
                    <a:pt x="373380" y="885190"/>
                    <a:pt x="275590" y="808990"/>
                    <a:pt x="209550" y="728980"/>
                  </a:cubicBezTo>
                  <a:cubicBezTo>
                    <a:pt x="153670" y="659130"/>
                    <a:pt x="104140" y="582930"/>
                    <a:pt x="68580" y="521970"/>
                  </a:cubicBezTo>
                  <a:cubicBezTo>
                    <a:pt x="41910" y="476250"/>
                    <a:pt x="17780" y="441960"/>
                    <a:pt x="8890" y="397510"/>
                  </a:cubicBezTo>
                  <a:cubicBezTo>
                    <a:pt x="0" y="354330"/>
                    <a:pt x="3810" y="302260"/>
                    <a:pt x="17780" y="257810"/>
                  </a:cubicBezTo>
                  <a:cubicBezTo>
                    <a:pt x="33020" y="213360"/>
                    <a:pt x="73660" y="167640"/>
                    <a:pt x="101600" y="132080"/>
                  </a:cubicBezTo>
                  <a:cubicBezTo>
                    <a:pt x="125730" y="101600"/>
                    <a:pt x="151130" y="74930"/>
                    <a:pt x="175260" y="57150"/>
                  </a:cubicBezTo>
                  <a:cubicBezTo>
                    <a:pt x="194310" y="41910"/>
                    <a:pt x="207010" y="29210"/>
                    <a:pt x="232410" y="24130"/>
                  </a:cubicBezTo>
                  <a:cubicBezTo>
                    <a:pt x="271780" y="15240"/>
                    <a:pt x="335280" y="25400"/>
                    <a:pt x="391160" y="38100"/>
                  </a:cubicBezTo>
                  <a:cubicBezTo>
                    <a:pt x="459740" y="53340"/>
                    <a:pt x="548640" y="81280"/>
                    <a:pt x="610870" y="118110"/>
                  </a:cubicBezTo>
                  <a:cubicBezTo>
                    <a:pt x="665480" y="149860"/>
                    <a:pt x="717550" y="200660"/>
                    <a:pt x="748030" y="236220"/>
                  </a:cubicBezTo>
                  <a:cubicBezTo>
                    <a:pt x="769620" y="259080"/>
                    <a:pt x="783590" y="275590"/>
                    <a:pt x="792480" y="299720"/>
                  </a:cubicBezTo>
                  <a:cubicBezTo>
                    <a:pt x="802640" y="328930"/>
                    <a:pt x="811530" y="384810"/>
                    <a:pt x="801370" y="402590"/>
                  </a:cubicBezTo>
                  <a:cubicBezTo>
                    <a:pt x="796290" y="411480"/>
                    <a:pt x="783590" y="417830"/>
                    <a:pt x="775970" y="416560"/>
                  </a:cubicBezTo>
                  <a:cubicBezTo>
                    <a:pt x="768350" y="414020"/>
                    <a:pt x="754380" y="391160"/>
                    <a:pt x="754380" y="391160"/>
                  </a:cubicBezTo>
                </a:path>
              </a:pathLst>
            </a:custGeom>
            <a:solidFill>
              <a:srgbClr val="0571D3"/>
            </a:solidFill>
            <a:ln cap="sq">
              <a:noFill/>
              <a:prstDash val="solid"/>
              <a:miter/>
            </a:ln>
          </p:spPr>
        </p:sp>
      </p:grpSp>
      <p:grpSp>
        <p:nvGrpSpPr>
          <p:cNvPr name="Group 7" id="7"/>
          <p:cNvGrpSpPr/>
          <p:nvPr/>
        </p:nvGrpSpPr>
        <p:grpSpPr>
          <a:xfrm rot="0">
            <a:off x="6428422" y="8115300"/>
            <a:ext cx="1460182" cy="1383982"/>
            <a:chOff x="0" y="0"/>
            <a:chExt cx="1946910" cy="1845310"/>
          </a:xfrm>
        </p:grpSpPr>
        <p:sp>
          <p:nvSpPr>
            <p:cNvPr name="Freeform 8" id="8"/>
            <p:cNvSpPr/>
            <p:nvPr/>
          </p:nvSpPr>
          <p:spPr>
            <a:xfrm flipH="false" flipV="false" rot="0">
              <a:off x="44450" y="49530"/>
              <a:ext cx="1869440" cy="1744980"/>
            </a:xfrm>
            <a:custGeom>
              <a:avLst/>
              <a:gdLst/>
              <a:ahLst/>
              <a:cxnLst/>
              <a:rect r="r" b="b" t="t" l="l"/>
              <a:pathLst>
                <a:path h="1744980" w="1869440">
                  <a:moveTo>
                    <a:pt x="915670" y="241300"/>
                  </a:moveTo>
                  <a:cubicBezTo>
                    <a:pt x="1037590" y="121920"/>
                    <a:pt x="1055370" y="107950"/>
                    <a:pt x="1094740" y="97790"/>
                  </a:cubicBezTo>
                  <a:cubicBezTo>
                    <a:pt x="1170940" y="77470"/>
                    <a:pt x="1358900" y="74930"/>
                    <a:pt x="1446530" y="82550"/>
                  </a:cubicBezTo>
                  <a:cubicBezTo>
                    <a:pt x="1499870" y="87630"/>
                    <a:pt x="1543050" y="91440"/>
                    <a:pt x="1574800" y="110490"/>
                  </a:cubicBezTo>
                  <a:cubicBezTo>
                    <a:pt x="1601470" y="125730"/>
                    <a:pt x="1609090" y="144780"/>
                    <a:pt x="1633220" y="177800"/>
                  </a:cubicBezTo>
                  <a:cubicBezTo>
                    <a:pt x="1682750" y="245110"/>
                    <a:pt x="1809750" y="401320"/>
                    <a:pt x="1842770" y="509270"/>
                  </a:cubicBezTo>
                  <a:cubicBezTo>
                    <a:pt x="1869440" y="595630"/>
                    <a:pt x="1868170" y="687070"/>
                    <a:pt x="1850390" y="762000"/>
                  </a:cubicBezTo>
                  <a:cubicBezTo>
                    <a:pt x="1835150" y="831850"/>
                    <a:pt x="1803400" y="881380"/>
                    <a:pt x="1755140" y="947420"/>
                  </a:cubicBezTo>
                  <a:cubicBezTo>
                    <a:pt x="1681480" y="1047750"/>
                    <a:pt x="1506220" y="1177290"/>
                    <a:pt x="1418590" y="1283970"/>
                  </a:cubicBezTo>
                  <a:cubicBezTo>
                    <a:pt x="1350010" y="1366520"/>
                    <a:pt x="1314450" y="1452880"/>
                    <a:pt x="1258570" y="1520190"/>
                  </a:cubicBezTo>
                  <a:cubicBezTo>
                    <a:pt x="1211580" y="1577340"/>
                    <a:pt x="1156970" y="1631950"/>
                    <a:pt x="1113790" y="1667510"/>
                  </a:cubicBezTo>
                  <a:cubicBezTo>
                    <a:pt x="1083310" y="1692910"/>
                    <a:pt x="1059180" y="1708150"/>
                    <a:pt x="1029970" y="1720850"/>
                  </a:cubicBezTo>
                  <a:cubicBezTo>
                    <a:pt x="1003300" y="1733550"/>
                    <a:pt x="977900" y="1744980"/>
                    <a:pt x="947420" y="1744980"/>
                  </a:cubicBezTo>
                  <a:cubicBezTo>
                    <a:pt x="911860" y="1743710"/>
                    <a:pt x="867410" y="1728470"/>
                    <a:pt x="833120" y="1708150"/>
                  </a:cubicBezTo>
                  <a:cubicBezTo>
                    <a:pt x="796290" y="1686560"/>
                    <a:pt x="769620" y="1656080"/>
                    <a:pt x="734060" y="1615440"/>
                  </a:cubicBezTo>
                  <a:cubicBezTo>
                    <a:pt x="678180" y="1550670"/>
                    <a:pt x="612140" y="1455420"/>
                    <a:pt x="542290" y="1348740"/>
                  </a:cubicBezTo>
                  <a:cubicBezTo>
                    <a:pt x="444500" y="1196340"/>
                    <a:pt x="293370" y="929640"/>
                    <a:pt x="213360" y="778510"/>
                  </a:cubicBezTo>
                  <a:cubicBezTo>
                    <a:pt x="161290" y="681990"/>
                    <a:pt x="128270" y="623570"/>
                    <a:pt x="95250" y="537210"/>
                  </a:cubicBezTo>
                  <a:cubicBezTo>
                    <a:pt x="58420" y="443230"/>
                    <a:pt x="17780" y="304800"/>
                    <a:pt x="7620" y="233680"/>
                  </a:cubicBezTo>
                  <a:cubicBezTo>
                    <a:pt x="1270" y="195580"/>
                    <a:pt x="0" y="173990"/>
                    <a:pt x="6350" y="146050"/>
                  </a:cubicBezTo>
                  <a:cubicBezTo>
                    <a:pt x="11430" y="120650"/>
                    <a:pt x="20320" y="93980"/>
                    <a:pt x="39370" y="74930"/>
                  </a:cubicBezTo>
                  <a:cubicBezTo>
                    <a:pt x="60960" y="52070"/>
                    <a:pt x="102870" y="38100"/>
                    <a:pt x="135890" y="25400"/>
                  </a:cubicBezTo>
                  <a:cubicBezTo>
                    <a:pt x="167640" y="12700"/>
                    <a:pt x="195580" y="2540"/>
                    <a:pt x="233680" y="1270"/>
                  </a:cubicBezTo>
                  <a:cubicBezTo>
                    <a:pt x="285750" y="0"/>
                    <a:pt x="370840" y="24130"/>
                    <a:pt x="419100" y="35560"/>
                  </a:cubicBezTo>
                  <a:cubicBezTo>
                    <a:pt x="449580" y="43180"/>
                    <a:pt x="467360" y="46990"/>
                    <a:pt x="492760" y="59690"/>
                  </a:cubicBezTo>
                  <a:cubicBezTo>
                    <a:pt x="524510" y="73660"/>
                    <a:pt x="565150" y="95250"/>
                    <a:pt x="590550" y="119380"/>
                  </a:cubicBezTo>
                  <a:cubicBezTo>
                    <a:pt x="613410" y="140970"/>
                    <a:pt x="619760" y="181610"/>
                    <a:pt x="643890" y="194310"/>
                  </a:cubicBezTo>
                  <a:cubicBezTo>
                    <a:pt x="666750" y="205740"/>
                    <a:pt x="699770" y="184150"/>
                    <a:pt x="730250" y="194310"/>
                  </a:cubicBezTo>
                  <a:cubicBezTo>
                    <a:pt x="778510" y="210820"/>
                    <a:pt x="867410" y="276860"/>
                    <a:pt x="890270" y="318770"/>
                  </a:cubicBezTo>
                  <a:cubicBezTo>
                    <a:pt x="905510" y="346710"/>
                    <a:pt x="905510" y="379730"/>
                    <a:pt x="899160" y="401320"/>
                  </a:cubicBezTo>
                  <a:cubicBezTo>
                    <a:pt x="894080" y="420370"/>
                    <a:pt x="877570" y="435610"/>
                    <a:pt x="862330" y="444500"/>
                  </a:cubicBezTo>
                  <a:cubicBezTo>
                    <a:pt x="847090" y="454660"/>
                    <a:pt x="825500" y="461010"/>
                    <a:pt x="807720" y="457200"/>
                  </a:cubicBezTo>
                  <a:cubicBezTo>
                    <a:pt x="784860" y="452120"/>
                    <a:pt x="750570" y="429260"/>
                    <a:pt x="739140" y="410210"/>
                  </a:cubicBezTo>
                  <a:cubicBezTo>
                    <a:pt x="728980" y="393700"/>
                    <a:pt x="725170" y="373380"/>
                    <a:pt x="728980" y="354330"/>
                  </a:cubicBezTo>
                  <a:cubicBezTo>
                    <a:pt x="735330" y="331470"/>
                    <a:pt x="758190" y="298450"/>
                    <a:pt x="779780" y="288290"/>
                  </a:cubicBezTo>
                  <a:cubicBezTo>
                    <a:pt x="802640" y="278130"/>
                    <a:pt x="842010" y="283210"/>
                    <a:pt x="862330" y="293370"/>
                  </a:cubicBezTo>
                  <a:cubicBezTo>
                    <a:pt x="880110" y="300990"/>
                    <a:pt x="892810" y="320040"/>
                    <a:pt x="899160" y="336550"/>
                  </a:cubicBezTo>
                  <a:cubicBezTo>
                    <a:pt x="905510" y="353060"/>
                    <a:pt x="906780" y="375920"/>
                    <a:pt x="902970" y="392430"/>
                  </a:cubicBezTo>
                  <a:cubicBezTo>
                    <a:pt x="897890" y="410210"/>
                    <a:pt x="885190" y="429260"/>
                    <a:pt x="869950" y="439420"/>
                  </a:cubicBezTo>
                  <a:cubicBezTo>
                    <a:pt x="855980" y="450850"/>
                    <a:pt x="840740" y="459740"/>
                    <a:pt x="816610" y="457200"/>
                  </a:cubicBezTo>
                  <a:cubicBezTo>
                    <a:pt x="759460" y="453390"/>
                    <a:pt x="598170" y="354330"/>
                    <a:pt x="533400" y="308610"/>
                  </a:cubicBezTo>
                  <a:cubicBezTo>
                    <a:pt x="495300" y="281940"/>
                    <a:pt x="486410" y="252730"/>
                    <a:pt x="450850" y="232410"/>
                  </a:cubicBezTo>
                  <a:cubicBezTo>
                    <a:pt x="402590" y="204470"/>
                    <a:pt x="309880" y="172720"/>
                    <a:pt x="260350" y="173990"/>
                  </a:cubicBezTo>
                  <a:cubicBezTo>
                    <a:pt x="227330" y="175260"/>
                    <a:pt x="190500" y="180340"/>
                    <a:pt x="177800" y="204470"/>
                  </a:cubicBezTo>
                  <a:cubicBezTo>
                    <a:pt x="156210" y="245110"/>
                    <a:pt x="210820" y="367030"/>
                    <a:pt x="238760" y="449580"/>
                  </a:cubicBezTo>
                  <a:cubicBezTo>
                    <a:pt x="270510" y="538480"/>
                    <a:pt x="320040" y="645160"/>
                    <a:pt x="363220" y="721360"/>
                  </a:cubicBezTo>
                  <a:cubicBezTo>
                    <a:pt x="398780" y="782320"/>
                    <a:pt x="440690" y="824230"/>
                    <a:pt x="472440" y="875030"/>
                  </a:cubicBezTo>
                  <a:cubicBezTo>
                    <a:pt x="499110" y="919480"/>
                    <a:pt x="528320" y="969010"/>
                    <a:pt x="542290" y="1008380"/>
                  </a:cubicBezTo>
                  <a:cubicBezTo>
                    <a:pt x="553720" y="1036320"/>
                    <a:pt x="546100" y="1052830"/>
                    <a:pt x="561340" y="1084580"/>
                  </a:cubicBezTo>
                  <a:cubicBezTo>
                    <a:pt x="593090" y="1154430"/>
                    <a:pt x="715010" y="1311910"/>
                    <a:pt x="779780" y="1393190"/>
                  </a:cubicBezTo>
                  <a:cubicBezTo>
                    <a:pt x="824230" y="1451610"/>
                    <a:pt x="859790" y="1513840"/>
                    <a:pt x="902970" y="1535430"/>
                  </a:cubicBezTo>
                  <a:cubicBezTo>
                    <a:pt x="932180" y="1550670"/>
                    <a:pt x="962660" y="1553210"/>
                    <a:pt x="991870" y="1541780"/>
                  </a:cubicBezTo>
                  <a:cubicBezTo>
                    <a:pt x="1032510" y="1526540"/>
                    <a:pt x="1064260" y="1474470"/>
                    <a:pt x="1109980" y="1421130"/>
                  </a:cubicBezTo>
                  <a:cubicBezTo>
                    <a:pt x="1184910" y="1333500"/>
                    <a:pt x="1301750" y="1158240"/>
                    <a:pt x="1391920" y="1059180"/>
                  </a:cubicBezTo>
                  <a:cubicBezTo>
                    <a:pt x="1464310" y="980440"/>
                    <a:pt x="1553210" y="918210"/>
                    <a:pt x="1600200" y="863600"/>
                  </a:cubicBezTo>
                  <a:cubicBezTo>
                    <a:pt x="1629410" y="830580"/>
                    <a:pt x="1649730" y="806450"/>
                    <a:pt x="1662430" y="774700"/>
                  </a:cubicBezTo>
                  <a:cubicBezTo>
                    <a:pt x="1673860" y="744220"/>
                    <a:pt x="1673860" y="707390"/>
                    <a:pt x="1675130" y="675640"/>
                  </a:cubicBezTo>
                  <a:cubicBezTo>
                    <a:pt x="1677670" y="648970"/>
                    <a:pt x="1680210" y="623570"/>
                    <a:pt x="1675130" y="598170"/>
                  </a:cubicBezTo>
                  <a:cubicBezTo>
                    <a:pt x="1670050" y="570230"/>
                    <a:pt x="1659890" y="539750"/>
                    <a:pt x="1644650" y="513080"/>
                  </a:cubicBezTo>
                  <a:cubicBezTo>
                    <a:pt x="1630680" y="485140"/>
                    <a:pt x="1607820" y="468630"/>
                    <a:pt x="1587500" y="435610"/>
                  </a:cubicBezTo>
                  <a:cubicBezTo>
                    <a:pt x="1555750" y="388620"/>
                    <a:pt x="1544320" y="287020"/>
                    <a:pt x="1487170" y="252730"/>
                  </a:cubicBezTo>
                  <a:cubicBezTo>
                    <a:pt x="1413510" y="208280"/>
                    <a:pt x="1215390" y="232410"/>
                    <a:pt x="1145540" y="250190"/>
                  </a:cubicBezTo>
                  <a:cubicBezTo>
                    <a:pt x="1111250" y="259080"/>
                    <a:pt x="1094740" y="273050"/>
                    <a:pt x="1075690" y="289560"/>
                  </a:cubicBezTo>
                  <a:cubicBezTo>
                    <a:pt x="1056640" y="306070"/>
                    <a:pt x="1046480" y="336550"/>
                    <a:pt x="1027430" y="349250"/>
                  </a:cubicBezTo>
                  <a:cubicBezTo>
                    <a:pt x="1012190" y="360680"/>
                    <a:pt x="991870" y="367030"/>
                    <a:pt x="975360" y="367030"/>
                  </a:cubicBezTo>
                  <a:cubicBezTo>
                    <a:pt x="957580" y="365760"/>
                    <a:pt x="935990" y="355600"/>
                    <a:pt x="923290" y="345440"/>
                  </a:cubicBezTo>
                  <a:cubicBezTo>
                    <a:pt x="913130" y="336550"/>
                    <a:pt x="906780" y="326390"/>
                    <a:pt x="902970" y="313690"/>
                  </a:cubicBezTo>
                  <a:cubicBezTo>
                    <a:pt x="899160" y="294640"/>
                    <a:pt x="915670" y="241300"/>
                    <a:pt x="915670" y="241300"/>
                  </a:cubicBezTo>
                </a:path>
              </a:pathLst>
            </a:custGeom>
            <a:solidFill>
              <a:srgbClr val="E7191F"/>
            </a:solidFill>
            <a:ln cap="sq">
              <a:noFill/>
              <a:prstDash val="solid"/>
              <a:miter/>
            </a:ln>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5583870" y="3549330"/>
            <a:ext cx="6455602" cy="5544853"/>
          </a:xfrm>
          <a:custGeom>
            <a:avLst/>
            <a:gdLst/>
            <a:ahLst/>
            <a:cxnLst/>
            <a:rect r="r" b="b" t="t" l="l"/>
            <a:pathLst>
              <a:path h="5544853" w="6455602">
                <a:moveTo>
                  <a:pt x="0" y="0"/>
                </a:moveTo>
                <a:lnTo>
                  <a:pt x="6455602" y="0"/>
                </a:lnTo>
                <a:lnTo>
                  <a:pt x="6455602" y="5544853"/>
                </a:lnTo>
                <a:lnTo>
                  <a:pt x="0" y="5544853"/>
                </a:lnTo>
                <a:lnTo>
                  <a:pt x="0" y="0"/>
                </a:lnTo>
                <a:close/>
              </a:path>
            </a:pathLst>
          </a:custGeom>
          <a:blipFill>
            <a:blip r:embed="rId2"/>
            <a:stretch>
              <a:fillRect l="0" t="0" r="0" b="0"/>
            </a:stretch>
          </a:blipFill>
        </p:spPr>
      </p:sp>
      <p:sp>
        <p:nvSpPr>
          <p:cNvPr name="TextBox 3" id="3"/>
          <p:cNvSpPr txBox="true"/>
          <p:nvPr/>
        </p:nvSpPr>
        <p:spPr>
          <a:xfrm rot="0">
            <a:off x="1028700" y="933450"/>
            <a:ext cx="850746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Thứ tự sắp xếp (Ordering):</a:t>
            </a:r>
          </a:p>
        </p:txBody>
      </p:sp>
      <p:sp>
        <p:nvSpPr>
          <p:cNvPr name="TextBox 4" id="4"/>
          <p:cNvSpPr txBox="true"/>
          <p:nvPr/>
        </p:nvSpPr>
        <p:spPr>
          <a:xfrm rot="0">
            <a:off x="1028700" y="2361405"/>
            <a:ext cx="14479542" cy="580390"/>
          </a:xfrm>
          <a:prstGeom prst="rect">
            <a:avLst/>
          </a:prstGeom>
        </p:spPr>
        <p:txBody>
          <a:bodyPr anchor="t" rtlCol="false" tIns="0" lIns="0" bIns="0" rIns="0">
            <a:spAutoFit/>
          </a:bodyPr>
          <a:lstStyle/>
          <a:p>
            <a:pPr algn="ctr">
              <a:lnSpc>
                <a:spcPts val="4759"/>
              </a:lnSpc>
              <a:spcBef>
                <a:spcPct val="0"/>
              </a:spcBef>
            </a:pPr>
            <a:r>
              <a:rPr lang="en-US" sz="3399">
                <a:solidFill>
                  <a:srgbClr val="2B4B82"/>
                </a:solidFill>
                <a:latin typeface="Canva Sans"/>
                <a:ea typeface="Canva Sans"/>
                <a:cs typeface="Canva Sans"/>
                <a:sym typeface="Canva Sans"/>
              </a:rPr>
              <a:t>Ví dụ : Nút "Đăng ký " có màu xanh, đứng trước  "Tạo tài khoản".</a:t>
            </a:r>
          </a:p>
        </p:txBody>
      </p:sp>
      <p:grpSp>
        <p:nvGrpSpPr>
          <p:cNvPr name="Group 5" id="5"/>
          <p:cNvGrpSpPr/>
          <p:nvPr/>
        </p:nvGrpSpPr>
        <p:grpSpPr>
          <a:xfrm rot="0">
            <a:off x="6156960" y="5818822"/>
            <a:ext cx="5325428" cy="1232535"/>
            <a:chOff x="0" y="0"/>
            <a:chExt cx="7100570" cy="1643380"/>
          </a:xfrm>
        </p:grpSpPr>
        <p:sp>
          <p:nvSpPr>
            <p:cNvPr name="Freeform 6" id="6"/>
            <p:cNvSpPr/>
            <p:nvPr/>
          </p:nvSpPr>
          <p:spPr>
            <a:xfrm flipH="false" flipV="false" rot="0">
              <a:off x="36830" y="44450"/>
              <a:ext cx="7029450" cy="1554480"/>
            </a:xfrm>
            <a:custGeom>
              <a:avLst/>
              <a:gdLst/>
              <a:ahLst/>
              <a:cxnLst/>
              <a:rect r="r" b="b" t="t" l="l"/>
              <a:pathLst>
                <a:path h="1554480" w="7029450">
                  <a:moveTo>
                    <a:pt x="240030" y="1356360"/>
                  </a:moveTo>
                  <a:cubicBezTo>
                    <a:pt x="864870" y="1402080"/>
                    <a:pt x="1531620" y="1381760"/>
                    <a:pt x="1943100" y="1395730"/>
                  </a:cubicBezTo>
                  <a:cubicBezTo>
                    <a:pt x="2274570" y="1407160"/>
                    <a:pt x="2548890" y="1441450"/>
                    <a:pt x="2842260" y="1450340"/>
                  </a:cubicBezTo>
                  <a:cubicBezTo>
                    <a:pt x="3122930" y="1460500"/>
                    <a:pt x="3430270" y="1447800"/>
                    <a:pt x="3663950" y="1456690"/>
                  </a:cubicBezTo>
                  <a:cubicBezTo>
                    <a:pt x="3837940" y="1464310"/>
                    <a:pt x="3945890" y="1483360"/>
                    <a:pt x="4119880" y="1489710"/>
                  </a:cubicBezTo>
                  <a:cubicBezTo>
                    <a:pt x="4349750" y="1498600"/>
                    <a:pt x="4667250" y="1503680"/>
                    <a:pt x="4922520" y="1497330"/>
                  </a:cubicBezTo>
                  <a:cubicBezTo>
                    <a:pt x="5157470" y="1490980"/>
                    <a:pt x="5436870" y="1482090"/>
                    <a:pt x="5596890" y="1456690"/>
                  </a:cubicBezTo>
                  <a:cubicBezTo>
                    <a:pt x="5687060" y="1442720"/>
                    <a:pt x="5711190" y="1417320"/>
                    <a:pt x="5806440" y="1403350"/>
                  </a:cubicBezTo>
                  <a:cubicBezTo>
                    <a:pt x="6003290" y="1374140"/>
                    <a:pt x="6560820" y="1400810"/>
                    <a:pt x="6722110" y="1360170"/>
                  </a:cubicBezTo>
                  <a:cubicBezTo>
                    <a:pt x="6784340" y="1343660"/>
                    <a:pt x="6812280" y="1309370"/>
                    <a:pt x="6844030" y="1300480"/>
                  </a:cubicBezTo>
                  <a:cubicBezTo>
                    <a:pt x="6861810" y="1295400"/>
                    <a:pt x="6874510" y="1303020"/>
                    <a:pt x="6888480" y="1296670"/>
                  </a:cubicBezTo>
                  <a:cubicBezTo>
                    <a:pt x="6904990" y="1290320"/>
                    <a:pt x="6924040" y="1268730"/>
                    <a:pt x="6934200" y="1256030"/>
                  </a:cubicBezTo>
                  <a:cubicBezTo>
                    <a:pt x="6941820" y="1247140"/>
                    <a:pt x="6946900" y="1242060"/>
                    <a:pt x="6950710" y="1229360"/>
                  </a:cubicBezTo>
                  <a:cubicBezTo>
                    <a:pt x="6958330" y="1209040"/>
                    <a:pt x="6958330" y="1184910"/>
                    <a:pt x="6960870" y="1143000"/>
                  </a:cubicBezTo>
                  <a:cubicBezTo>
                    <a:pt x="6968490" y="1027430"/>
                    <a:pt x="6982460" y="645160"/>
                    <a:pt x="6962140" y="500380"/>
                  </a:cubicBezTo>
                  <a:cubicBezTo>
                    <a:pt x="6951980" y="424180"/>
                    <a:pt x="6938010" y="379730"/>
                    <a:pt x="6913880" y="330200"/>
                  </a:cubicBezTo>
                  <a:cubicBezTo>
                    <a:pt x="6892290" y="287020"/>
                    <a:pt x="6860540" y="245110"/>
                    <a:pt x="6830060" y="217170"/>
                  </a:cubicBezTo>
                  <a:cubicBezTo>
                    <a:pt x="6804660" y="194310"/>
                    <a:pt x="6789420" y="179070"/>
                    <a:pt x="6748780" y="166370"/>
                  </a:cubicBezTo>
                  <a:cubicBezTo>
                    <a:pt x="6663690" y="140970"/>
                    <a:pt x="6432550" y="165100"/>
                    <a:pt x="6318250" y="158750"/>
                  </a:cubicBezTo>
                  <a:cubicBezTo>
                    <a:pt x="6243320" y="153670"/>
                    <a:pt x="6210300" y="143510"/>
                    <a:pt x="6132830" y="139700"/>
                  </a:cubicBezTo>
                  <a:cubicBezTo>
                    <a:pt x="6004560" y="133350"/>
                    <a:pt x="5777230" y="146050"/>
                    <a:pt x="5624830" y="138430"/>
                  </a:cubicBezTo>
                  <a:cubicBezTo>
                    <a:pt x="5497830" y="130810"/>
                    <a:pt x="5389880" y="109220"/>
                    <a:pt x="5278120" y="102870"/>
                  </a:cubicBezTo>
                  <a:cubicBezTo>
                    <a:pt x="5173980" y="96520"/>
                    <a:pt x="5063490" y="102870"/>
                    <a:pt x="4975860" y="97790"/>
                  </a:cubicBezTo>
                  <a:cubicBezTo>
                    <a:pt x="4908550" y="93980"/>
                    <a:pt x="4893310" y="83820"/>
                    <a:pt x="4798060" y="78740"/>
                  </a:cubicBezTo>
                  <a:cubicBezTo>
                    <a:pt x="4404360" y="58420"/>
                    <a:pt x="2188210" y="96520"/>
                    <a:pt x="1769110" y="77470"/>
                  </a:cubicBezTo>
                  <a:cubicBezTo>
                    <a:pt x="1658620" y="72390"/>
                    <a:pt x="1654810" y="63500"/>
                    <a:pt x="1559560" y="58420"/>
                  </a:cubicBezTo>
                  <a:cubicBezTo>
                    <a:pt x="1352550" y="49530"/>
                    <a:pt x="784860" y="48260"/>
                    <a:pt x="577850" y="57150"/>
                  </a:cubicBezTo>
                  <a:cubicBezTo>
                    <a:pt x="483870" y="62230"/>
                    <a:pt x="435610" y="58420"/>
                    <a:pt x="370840" y="77470"/>
                  </a:cubicBezTo>
                  <a:cubicBezTo>
                    <a:pt x="304800" y="95250"/>
                    <a:pt x="228600" y="120650"/>
                    <a:pt x="185420" y="168910"/>
                  </a:cubicBezTo>
                  <a:cubicBezTo>
                    <a:pt x="140970" y="218440"/>
                    <a:pt x="127000" y="292100"/>
                    <a:pt x="110490" y="372110"/>
                  </a:cubicBezTo>
                  <a:cubicBezTo>
                    <a:pt x="86360" y="482600"/>
                    <a:pt x="96520" y="697230"/>
                    <a:pt x="83820" y="775970"/>
                  </a:cubicBezTo>
                  <a:cubicBezTo>
                    <a:pt x="78740" y="808990"/>
                    <a:pt x="69850" y="814070"/>
                    <a:pt x="64770" y="844550"/>
                  </a:cubicBezTo>
                  <a:cubicBezTo>
                    <a:pt x="57150" y="902970"/>
                    <a:pt x="34290" y="1036320"/>
                    <a:pt x="63500" y="1099820"/>
                  </a:cubicBezTo>
                  <a:cubicBezTo>
                    <a:pt x="86360" y="1153160"/>
                    <a:pt x="156210" y="1188720"/>
                    <a:pt x="193040" y="1214120"/>
                  </a:cubicBezTo>
                  <a:cubicBezTo>
                    <a:pt x="218440" y="1230630"/>
                    <a:pt x="252730" y="1231900"/>
                    <a:pt x="261620" y="1245870"/>
                  </a:cubicBezTo>
                  <a:cubicBezTo>
                    <a:pt x="266700" y="1256030"/>
                    <a:pt x="264160" y="1270000"/>
                    <a:pt x="259080" y="1277620"/>
                  </a:cubicBezTo>
                  <a:cubicBezTo>
                    <a:pt x="255270" y="1282700"/>
                    <a:pt x="243840" y="1286510"/>
                    <a:pt x="237490" y="1285240"/>
                  </a:cubicBezTo>
                  <a:cubicBezTo>
                    <a:pt x="229870" y="1285240"/>
                    <a:pt x="220980" y="1278890"/>
                    <a:pt x="217170" y="1272540"/>
                  </a:cubicBezTo>
                  <a:cubicBezTo>
                    <a:pt x="214630" y="1266190"/>
                    <a:pt x="213360" y="1254760"/>
                    <a:pt x="217170" y="1248410"/>
                  </a:cubicBezTo>
                  <a:cubicBezTo>
                    <a:pt x="222250" y="1242060"/>
                    <a:pt x="245110" y="1234440"/>
                    <a:pt x="252730" y="1239520"/>
                  </a:cubicBezTo>
                  <a:cubicBezTo>
                    <a:pt x="260350" y="1242060"/>
                    <a:pt x="265430" y="1259840"/>
                    <a:pt x="264160" y="1267460"/>
                  </a:cubicBezTo>
                  <a:cubicBezTo>
                    <a:pt x="262890" y="1275080"/>
                    <a:pt x="256540" y="1282700"/>
                    <a:pt x="247650" y="1285240"/>
                  </a:cubicBezTo>
                  <a:cubicBezTo>
                    <a:pt x="233680" y="1287780"/>
                    <a:pt x="203200" y="1272540"/>
                    <a:pt x="177800" y="1257300"/>
                  </a:cubicBezTo>
                  <a:cubicBezTo>
                    <a:pt x="138430" y="1235710"/>
                    <a:pt x="68580" y="1181100"/>
                    <a:pt x="41910" y="1150620"/>
                  </a:cubicBezTo>
                  <a:cubicBezTo>
                    <a:pt x="26670" y="1134110"/>
                    <a:pt x="20320" y="1127760"/>
                    <a:pt x="13970" y="1106170"/>
                  </a:cubicBezTo>
                  <a:cubicBezTo>
                    <a:pt x="0" y="1057910"/>
                    <a:pt x="7620" y="922020"/>
                    <a:pt x="13970" y="862330"/>
                  </a:cubicBezTo>
                  <a:cubicBezTo>
                    <a:pt x="17780" y="824230"/>
                    <a:pt x="27940" y="814070"/>
                    <a:pt x="33020" y="773430"/>
                  </a:cubicBezTo>
                  <a:cubicBezTo>
                    <a:pt x="45720" y="688340"/>
                    <a:pt x="34290" y="486410"/>
                    <a:pt x="58420" y="373380"/>
                  </a:cubicBezTo>
                  <a:cubicBezTo>
                    <a:pt x="77470" y="285750"/>
                    <a:pt x="100330" y="204470"/>
                    <a:pt x="143510" y="149860"/>
                  </a:cubicBezTo>
                  <a:cubicBezTo>
                    <a:pt x="180340" y="101600"/>
                    <a:pt x="245110" y="68580"/>
                    <a:pt x="288290" y="48260"/>
                  </a:cubicBezTo>
                  <a:cubicBezTo>
                    <a:pt x="317500" y="35560"/>
                    <a:pt x="335280" y="33020"/>
                    <a:pt x="368300" y="26670"/>
                  </a:cubicBezTo>
                  <a:cubicBezTo>
                    <a:pt x="421640" y="16510"/>
                    <a:pt x="491490" y="10160"/>
                    <a:pt x="577850" y="6350"/>
                  </a:cubicBezTo>
                  <a:cubicBezTo>
                    <a:pt x="716280" y="0"/>
                    <a:pt x="942340" y="6350"/>
                    <a:pt x="1121410" y="6350"/>
                  </a:cubicBezTo>
                  <a:cubicBezTo>
                    <a:pt x="1294130" y="7620"/>
                    <a:pt x="1515110" y="2540"/>
                    <a:pt x="1631950" y="10160"/>
                  </a:cubicBezTo>
                  <a:cubicBezTo>
                    <a:pt x="1691640" y="13970"/>
                    <a:pt x="1692910" y="22860"/>
                    <a:pt x="1769110" y="26670"/>
                  </a:cubicBezTo>
                  <a:cubicBezTo>
                    <a:pt x="2123440" y="48260"/>
                    <a:pt x="4406900" y="7620"/>
                    <a:pt x="4799330" y="27940"/>
                  </a:cubicBezTo>
                  <a:cubicBezTo>
                    <a:pt x="4894580" y="33020"/>
                    <a:pt x="4908550" y="43180"/>
                    <a:pt x="4975860" y="46990"/>
                  </a:cubicBezTo>
                  <a:cubicBezTo>
                    <a:pt x="5063490" y="52070"/>
                    <a:pt x="5177790" y="45720"/>
                    <a:pt x="5281930" y="52070"/>
                  </a:cubicBezTo>
                  <a:cubicBezTo>
                    <a:pt x="5393690" y="58420"/>
                    <a:pt x="5499100" y="80010"/>
                    <a:pt x="5624830" y="87630"/>
                  </a:cubicBezTo>
                  <a:cubicBezTo>
                    <a:pt x="5777230" y="95250"/>
                    <a:pt x="6007100" y="82550"/>
                    <a:pt x="6134100" y="88900"/>
                  </a:cubicBezTo>
                  <a:cubicBezTo>
                    <a:pt x="6211570" y="92710"/>
                    <a:pt x="6244590" y="102870"/>
                    <a:pt x="6318250" y="107950"/>
                  </a:cubicBezTo>
                  <a:cubicBezTo>
                    <a:pt x="6432550" y="114300"/>
                    <a:pt x="6656070" y="90170"/>
                    <a:pt x="6750050" y="114300"/>
                  </a:cubicBezTo>
                  <a:cubicBezTo>
                    <a:pt x="6799580" y="127000"/>
                    <a:pt x="6824980" y="144780"/>
                    <a:pt x="6856730" y="170180"/>
                  </a:cubicBezTo>
                  <a:cubicBezTo>
                    <a:pt x="6889750" y="198120"/>
                    <a:pt x="6920230" y="246380"/>
                    <a:pt x="6940550" y="280670"/>
                  </a:cubicBezTo>
                  <a:cubicBezTo>
                    <a:pt x="6957060" y="306070"/>
                    <a:pt x="6965950" y="323850"/>
                    <a:pt x="6976110" y="353060"/>
                  </a:cubicBezTo>
                  <a:cubicBezTo>
                    <a:pt x="6990080" y="393700"/>
                    <a:pt x="7004050" y="431800"/>
                    <a:pt x="7012940" y="497840"/>
                  </a:cubicBezTo>
                  <a:cubicBezTo>
                    <a:pt x="7029450" y="636270"/>
                    <a:pt x="7021830" y="1017270"/>
                    <a:pt x="7011670" y="1144270"/>
                  </a:cubicBezTo>
                  <a:cubicBezTo>
                    <a:pt x="7007860" y="1197610"/>
                    <a:pt x="7009130" y="1225550"/>
                    <a:pt x="6993890" y="1257300"/>
                  </a:cubicBezTo>
                  <a:cubicBezTo>
                    <a:pt x="6978650" y="1286510"/>
                    <a:pt x="6954520" y="1313180"/>
                    <a:pt x="6925310" y="1332230"/>
                  </a:cubicBezTo>
                  <a:cubicBezTo>
                    <a:pt x="6888480" y="1353820"/>
                    <a:pt x="6819900" y="1356360"/>
                    <a:pt x="6786880" y="1371600"/>
                  </a:cubicBezTo>
                  <a:cubicBezTo>
                    <a:pt x="6765290" y="1381760"/>
                    <a:pt x="6761480" y="1394460"/>
                    <a:pt x="6737350" y="1403350"/>
                  </a:cubicBezTo>
                  <a:cubicBezTo>
                    <a:pt x="6681470" y="1422400"/>
                    <a:pt x="6562090" y="1423670"/>
                    <a:pt x="6446520" y="1431290"/>
                  </a:cubicBezTo>
                  <a:cubicBezTo>
                    <a:pt x="6276340" y="1441450"/>
                    <a:pt x="5967730" y="1431290"/>
                    <a:pt x="5812790" y="1454150"/>
                  </a:cubicBezTo>
                  <a:cubicBezTo>
                    <a:pt x="5721350" y="1466850"/>
                    <a:pt x="5690870" y="1493520"/>
                    <a:pt x="5598160" y="1507490"/>
                  </a:cubicBezTo>
                  <a:cubicBezTo>
                    <a:pt x="5435600" y="1532890"/>
                    <a:pt x="5157470" y="1541780"/>
                    <a:pt x="4922520" y="1548130"/>
                  </a:cubicBezTo>
                  <a:cubicBezTo>
                    <a:pt x="4665980" y="1554480"/>
                    <a:pt x="4345940" y="1549400"/>
                    <a:pt x="4116070" y="1540510"/>
                  </a:cubicBezTo>
                  <a:cubicBezTo>
                    <a:pt x="3943350" y="1532890"/>
                    <a:pt x="3837940" y="1515110"/>
                    <a:pt x="3663950" y="1507490"/>
                  </a:cubicBezTo>
                  <a:cubicBezTo>
                    <a:pt x="3430270" y="1498600"/>
                    <a:pt x="3120390" y="1511300"/>
                    <a:pt x="2839720" y="1501140"/>
                  </a:cubicBezTo>
                  <a:cubicBezTo>
                    <a:pt x="2546350" y="1492250"/>
                    <a:pt x="2274570" y="1457960"/>
                    <a:pt x="1943100" y="1446530"/>
                  </a:cubicBezTo>
                  <a:cubicBezTo>
                    <a:pt x="1531620" y="1432560"/>
                    <a:pt x="859790" y="1451610"/>
                    <a:pt x="558800" y="1436370"/>
                  </a:cubicBezTo>
                  <a:cubicBezTo>
                    <a:pt x="412750" y="1430020"/>
                    <a:pt x="275590" y="1430020"/>
                    <a:pt x="233680" y="1405890"/>
                  </a:cubicBezTo>
                  <a:cubicBezTo>
                    <a:pt x="220980" y="1398270"/>
                    <a:pt x="213360" y="1386840"/>
                    <a:pt x="214630" y="1377950"/>
                  </a:cubicBezTo>
                  <a:cubicBezTo>
                    <a:pt x="215900" y="1370330"/>
                    <a:pt x="240030" y="1356360"/>
                    <a:pt x="240030" y="1356360"/>
                  </a:cubicBezTo>
                </a:path>
              </a:pathLst>
            </a:custGeom>
            <a:solidFill>
              <a:srgbClr val="0571D3"/>
            </a:solidFill>
            <a:ln cap="sq">
              <a:noFill/>
              <a:prstDash val="solid"/>
              <a:miter/>
            </a:ln>
          </p:spPr>
        </p:sp>
      </p:grpSp>
      <p:grpSp>
        <p:nvGrpSpPr>
          <p:cNvPr name="Group 7" id="7"/>
          <p:cNvGrpSpPr/>
          <p:nvPr/>
        </p:nvGrpSpPr>
        <p:grpSpPr>
          <a:xfrm rot="0">
            <a:off x="7093268" y="7496175"/>
            <a:ext cx="3452812" cy="1413510"/>
            <a:chOff x="0" y="0"/>
            <a:chExt cx="4603750" cy="1884680"/>
          </a:xfrm>
        </p:grpSpPr>
        <p:sp>
          <p:nvSpPr>
            <p:cNvPr name="Freeform 8" id="8"/>
            <p:cNvSpPr/>
            <p:nvPr/>
          </p:nvSpPr>
          <p:spPr>
            <a:xfrm flipH="false" flipV="false" rot="0">
              <a:off x="45720" y="38100"/>
              <a:ext cx="4512310" cy="1809750"/>
            </a:xfrm>
            <a:custGeom>
              <a:avLst/>
              <a:gdLst/>
              <a:ahLst/>
              <a:cxnLst/>
              <a:rect r="r" b="b" t="t" l="l"/>
              <a:pathLst>
                <a:path h="1809750" w="4512310">
                  <a:moveTo>
                    <a:pt x="135890" y="379730"/>
                  </a:moveTo>
                  <a:cubicBezTo>
                    <a:pt x="146050" y="873760"/>
                    <a:pt x="167640" y="1042670"/>
                    <a:pt x="194310" y="1102360"/>
                  </a:cubicBezTo>
                  <a:cubicBezTo>
                    <a:pt x="204470" y="1126490"/>
                    <a:pt x="204470" y="1129030"/>
                    <a:pt x="227330" y="1146810"/>
                  </a:cubicBezTo>
                  <a:cubicBezTo>
                    <a:pt x="320040" y="1223010"/>
                    <a:pt x="798830" y="1465580"/>
                    <a:pt x="1071880" y="1549400"/>
                  </a:cubicBezTo>
                  <a:cubicBezTo>
                    <a:pt x="1306830" y="1621790"/>
                    <a:pt x="1604010" y="1617980"/>
                    <a:pt x="1758950" y="1653540"/>
                  </a:cubicBezTo>
                  <a:cubicBezTo>
                    <a:pt x="1840230" y="1671320"/>
                    <a:pt x="1875790" y="1694180"/>
                    <a:pt x="1940560" y="1708150"/>
                  </a:cubicBezTo>
                  <a:cubicBezTo>
                    <a:pt x="2012950" y="1723390"/>
                    <a:pt x="2087880" y="1733550"/>
                    <a:pt x="2171700" y="1739900"/>
                  </a:cubicBezTo>
                  <a:cubicBezTo>
                    <a:pt x="2272030" y="1747520"/>
                    <a:pt x="2387600" y="1758950"/>
                    <a:pt x="2500630" y="1743710"/>
                  </a:cubicBezTo>
                  <a:cubicBezTo>
                    <a:pt x="2625090" y="1728470"/>
                    <a:pt x="2774950" y="1664970"/>
                    <a:pt x="2889250" y="1639570"/>
                  </a:cubicBezTo>
                  <a:cubicBezTo>
                    <a:pt x="2979420" y="1619250"/>
                    <a:pt x="3025140" y="1611630"/>
                    <a:pt x="3130550" y="1597660"/>
                  </a:cubicBezTo>
                  <a:cubicBezTo>
                    <a:pt x="3332480" y="1568450"/>
                    <a:pt x="3812540" y="1544320"/>
                    <a:pt x="4011930" y="1503680"/>
                  </a:cubicBezTo>
                  <a:cubicBezTo>
                    <a:pt x="4119880" y="1482090"/>
                    <a:pt x="4194810" y="1454150"/>
                    <a:pt x="4253230" y="1431290"/>
                  </a:cubicBezTo>
                  <a:cubicBezTo>
                    <a:pt x="4288790" y="1416050"/>
                    <a:pt x="4309110" y="1409700"/>
                    <a:pt x="4334510" y="1389380"/>
                  </a:cubicBezTo>
                  <a:cubicBezTo>
                    <a:pt x="4367530" y="1363980"/>
                    <a:pt x="4409440" y="1325880"/>
                    <a:pt x="4428490" y="1286510"/>
                  </a:cubicBezTo>
                  <a:cubicBezTo>
                    <a:pt x="4447540" y="1248410"/>
                    <a:pt x="4447540" y="1206500"/>
                    <a:pt x="4451350" y="1158240"/>
                  </a:cubicBezTo>
                  <a:cubicBezTo>
                    <a:pt x="4457700" y="1099820"/>
                    <a:pt x="4458970" y="1017270"/>
                    <a:pt x="4455160" y="957580"/>
                  </a:cubicBezTo>
                  <a:cubicBezTo>
                    <a:pt x="4452620" y="909320"/>
                    <a:pt x="4450080" y="876300"/>
                    <a:pt x="4439920" y="826770"/>
                  </a:cubicBezTo>
                  <a:cubicBezTo>
                    <a:pt x="4424680" y="755650"/>
                    <a:pt x="4413250" y="629920"/>
                    <a:pt x="4362450" y="574040"/>
                  </a:cubicBezTo>
                  <a:cubicBezTo>
                    <a:pt x="4316730" y="523240"/>
                    <a:pt x="4210050" y="518160"/>
                    <a:pt x="4161790" y="491490"/>
                  </a:cubicBezTo>
                  <a:cubicBezTo>
                    <a:pt x="4132580" y="474980"/>
                    <a:pt x="4122420" y="466090"/>
                    <a:pt x="4095750" y="443230"/>
                  </a:cubicBezTo>
                  <a:cubicBezTo>
                    <a:pt x="4050030" y="405130"/>
                    <a:pt x="3953510" y="322580"/>
                    <a:pt x="3920490" y="278130"/>
                  </a:cubicBezTo>
                  <a:cubicBezTo>
                    <a:pt x="3902710" y="252730"/>
                    <a:pt x="3902710" y="232410"/>
                    <a:pt x="3888740" y="212090"/>
                  </a:cubicBezTo>
                  <a:cubicBezTo>
                    <a:pt x="3873500" y="191770"/>
                    <a:pt x="3853180" y="171450"/>
                    <a:pt x="3835400" y="157480"/>
                  </a:cubicBezTo>
                  <a:cubicBezTo>
                    <a:pt x="3820160" y="147320"/>
                    <a:pt x="3810000" y="140970"/>
                    <a:pt x="3788410" y="133350"/>
                  </a:cubicBezTo>
                  <a:cubicBezTo>
                    <a:pt x="3745230" y="118110"/>
                    <a:pt x="3674110" y="101600"/>
                    <a:pt x="3582670" y="91440"/>
                  </a:cubicBezTo>
                  <a:cubicBezTo>
                    <a:pt x="3407410" y="69850"/>
                    <a:pt x="2999740" y="67310"/>
                    <a:pt x="2806700" y="63500"/>
                  </a:cubicBezTo>
                  <a:cubicBezTo>
                    <a:pt x="2693670" y="60960"/>
                    <a:pt x="2653030" y="54610"/>
                    <a:pt x="2536190" y="63500"/>
                  </a:cubicBezTo>
                  <a:cubicBezTo>
                    <a:pt x="2321560" y="77470"/>
                    <a:pt x="1946910" y="168910"/>
                    <a:pt x="1623060" y="193040"/>
                  </a:cubicBezTo>
                  <a:cubicBezTo>
                    <a:pt x="1256030" y="220980"/>
                    <a:pt x="585470" y="184150"/>
                    <a:pt x="448310" y="204470"/>
                  </a:cubicBezTo>
                  <a:cubicBezTo>
                    <a:pt x="417830" y="208280"/>
                    <a:pt x="415290" y="207010"/>
                    <a:pt x="393700" y="219710"/>
                  </a:cubicBezTo>
                  <a:cubicBezTo>
                    <a:pt x="346710" y="245110"/>
                    <a:pt x="255270" y="346710"/>
                    <a:pt x="201930" y="386080"/>
                  </a:cubicBezTo>
                  <a:cubicBezTo>
                    <a:pt x="167640" y="410210"/>
                    <a:pt x="137160" y="420370"/>
                    <a:pt x="111760" y="439420"/>
                  </a:cubicBezTo>
                  <a:cubicBezTo>
                    <a:pt x="92710" y="453390"/>
                    <a:pt x="73660" y="466090"/>
                    <a:pt x="62230" y="483870"/>
                  </a:cubicBezTo>
                  <a:cubicBezTo>
                    <a:pt x="52070" y="500380"/>
                    <a:pt x="58420" y="532130"/>
                    <a:pt x="46990" y="539750"/>
                  </a:cubicBezTo>
                  <a:cubicBezTo>
                    <a:pt x="38100" y="546100"/>
                    <a:pt x="15240" y="543560"/>
                    <a:pt x="10160" y="537210"/>
                  </a:cubicBezTo>
                  <a:cubicBezTo>
                    <a:pt x="5080" y="530860"/>
                    <a:pt x="8890" y="506730"/>
                    <a:pt x="15240" y="500380"/>
                  </a:cubicBezTo>
                  <a:cubicBezTo>
                    <a:pt x="20320" y="495300"/>
                    <a:pt x="31750" y="495300"/>
                    <a:pt x="38100" y="496570"/>
                  </a:cubicBezTo>
                  <a:cubicBezTo>
                    <a:pt x="44450" y="499110"/>
                    <a:pt x="53340" y="508000"/>
                    <a:pt x="54610" y="514350"/>
                  </a:cubicBezTo>
                  <a:cubicBezTo>
                    <a:pt x="55880" y="520700"/>
                    <a:pt x="53340" y="532130"/>
                    <a:pt x="49530" y="537210"/>
                  </a:cubicBezTo>
                  <a:cubicBezTo>
                    <a:pt x="44450" y="543560"/>
                    <a:pt x="34290" y="547370"/>
                    <a:pt x="26670" y="546100"/>
                  </a:cubicBezTo>
                  <a:cubicBezTo>
                    <a:pt x="19050" y="544830"/>
                    <a:pt x="7620" y="534670"/>
                    <a:pt x="5080" y="524510"/>
                  </a:cubicBezTo>
                  <a:cubicBezTo>
                    <a:pt x="0" y="508000"/>
                    <a:pt x="8890" y="474980"/>
                    <a:pt x="26670" y="448310"/>
                  </a:cubicBezTo>
                  <a:cubicBezTo>
                    <a:pt x="58420" y="405130"/>
                    <a:pt x="161290" y="359410"/>
                    <a:pt x="217170" y="313690"/>
                  </a:cubicBezTo>
                  <a:cubicBezTo>
                    <a:pt x="267970" y="273050"/>
                    <a:pt x="317500" y="212090"/>
                    <a:pt x="351790" y="189230"/>
                  </a:cubicBezTo>
                  <a:cubicBezTo>
                    <a:pt x="369570" y="176530"/>
                    <a:pt x="379730" y="173990"/>
                    <a:pt x="394970" y="167640"/>
                  </a:cubicBezTo>
                  <a:cubicBezTo>
                    <a:pt x="411480" y="161290"/>
                    <a:pt x="417830" y="157480"/>
                    <a:pt x="448310" y="153670"/>
                  </a:cubicBezTo>
                  <a:cubicBezTo>
                    <a:pt x="584200" y="133350"/>
                    <a:pt x="1252220" y="170180"/>
                    <a:pt x="1617980" y="142240"/>
                  </a:cubicBezTo>
                  <a:cubicBezTo>
                    <a:pt x="1944370" y="118110"/>
                    <a:pt x="2282190" y="29210"/>
                    <a:pt x="2536190" y="12700"/>
                  </a:cubicBezTo>
                  <a:cubicBezTo>
                    <a:pt x="2716530" y="0"/>
                    <a:pt x="2833370" y="10160"/>
                    <a:pt x="3001010" y="16510"/>
                  </a:cubicBezTo>
                  <a:cubicBezTo>
                    <a:pt x="3202940" y="22860"/>
                    <a:pt x="3512820" y="26670"/>
                    <a:pt x="3663950" y="53340"/>
                  </a:cubicBezTo>
                  <a:cubicBezTo>
                    <a:pt x="3745230" y="67310"/>
                    <a:pt x="3799840" y="80010"/>
                    <a:pt x="3846830" y="106680"/>
                  </a:cubicBezTo>
                  <a:cubicBezTo>
                    <a:pt x="3882390" y="128270"/>
                    <a:pt x="3911600" y="158750"/>
                    <a:pt x="3930650" y="184150"/>
                  </a:cubicBezTo>
                  <a:cubicBezTo>
                    <a:pt x="3944620" y="204470"/>
                    <a:pt x="3940810" y="220980"/>
                    <a:pt x="3957320" y="243840"/>
                  </a:cubicBezTo>
                  <a:cubicBezTo>
                    <a:pt x="3987800" y="285750"/>
                    <a:pt x="4079240" y="363220"/>
                    <a:pt x="4124960" y="401320"/>
                  </a:cubicBezTo>
                  <a:cubicBezTo>
                    <a:pt x="4154170" y="426720"/>
                    <a:pt x="4175760" y="447040"/>
                    <a:pt x="4201160" y="458470"/>
                  </a:cubicBezTo>
                  <a:cubicBezTo>
                    <a:pt x="4220210" y="467360"/>
                    <a:pt x="4236720" y="463550"/>
                    <a:pt x="4259580" y="471170"/>
                  </a:cubicBezTo>
                  <a:cubicBezTo>
                    <a:pt x="4295140" y="483870"/>
                    <a:pt x="4363720" y="514350"/>
                    <a:pt x="4387850" y="533400"/>
                  </a:cubicBezTo>
                  <a:cubicBezTo>
                    <a:pt x="4400550" y="542290"/>
                    <a:pt x="4403090" y="546100"/>
                    <a:pt x="4410710" y="558800"/>
                  </a:cubicBezTo>
                  <a:cubicBezTo>
                    <a:pt x="4425950" y="585470"/>
                    <a:pt x="4443730" y="640080"/>
                    <a:pt x="4457700" y="693420"/>
                  </a:cubicBezTo>
                  <a:cubicBezTo>
                    <a:pt x="4478020" y="767080"/>
                    <a:pt x="4499610" y="869950"/>
                    <a:pt x="4505960" y="957580"/>
                  </a:cubicBezTo>
                  <a:cubicBezTo>
                    <a:pt x="4512310" y="1045210"/>
                    <a:pt x="4508500" y="1150620"/>
                    <a:pt x="4495800" y="1219200"/>
                  </a:cubicBezTo>
                  <a:cubicBezTo>
                    <a:pt x="4486910" y="1266190"/>
                    <a:pt x="4474210" y="1300480"/>
                    <a:pt x="4453890" y="1333500"/>
                  </a:cubicBezTo>
                  <a:cubicBezTo>
                    <a:pt x="4434840" y="1366520"/>
                    <a:pt x="4409440" y="1394460"/>
                    <a:pt x="4378960" y="1418590"/>
                  </a:cubicBezTo>
                  <a:cubicBezTo>
                    <a:pt x="4347210" y="1443990"/>
                    <a:pt x="4310380" y="1461770"/>
                    <a:pt x="4263390" y="1480820"/>
                  </a:cubicBezTo>
                  <a:cubicBezTo>
                    <a:pt x="4197350" y="1507490"/>
                    <a:pt x="4103370" y="1537970"/>
                    <a:pt x="4014470" y="1554480"/>
                  </a:cubicBezTo>
                  <a:cubicBezTo>
                    <a:pt x="3916680" y="1572260"/>
                    <a:pt x="3830320" y="1564640"/>
                    <a:pt x="3702050" y="1578610"/>
                  </a:cubicBezTo>
                  <a:cubicBezTo>
                    <a:pt x="3496310" y="1601470"/>
                    <a:pt x="3122930" y="1644650"/>
                    <a:pt x="2903220" y="1689100"/>
                  </a:cubicBezTo>
                  <a:cubicBezTo>
                    <a:pt x="2744470" y="1720850"/>
                    <a:pt x="2628900" y="1779270"/>
                    <a:pt x="2500630" y="1794510"/>
                  </a:cubicBezTo>
                  <a:cubicBezTo>
                    <a:pt x="2385060" y="1809750"/>
                    <a:pt x="2268220" y="1798320"/>
                    <a:pt x="2165350" y="1789430"/>
                  </a:cubicBezTo>
                  <a:cubicBezTo>
                    <a:pt x="2077720" y="1783080"/>
                    <a:pt x="1997710" y="1771650"/>
                    <a:pt x="1924050" y="1755140"/>
                  </a:cubicBezTo>
                  <a:cubicBezTo>
                    <a:pt x="1860550" y="1742440"/>
                    <a:pt x="1828800" y="1720850"/>
                    <a:pt x="1751330" y="1703070"/>
                  </a:cubicBezTo>
                  <a:cubicBezTo>
                    <a:pt x="1596390" y="1668780"/>
                    <a:pt x="1291590" y="1670050"/>
                    <a:pt x="1051560" y="1596390"/>
                  </a:cubicBezTo>
                  <a:cubicBezTo>
                    <a:pt x="773430" y="1510030"/>
                    <a:pt x="287020" y="1252220"/>
                    <a:pt x="193040" y="1184910"/>
                  </a:cubicBezTo>
                  <a:cubicBezTo>
                    <a:pt x="171450" y="1169670"/>
                    <a:pt x="166370" y="1162050"/>
                    <a:pt x="158750" y="1149350"/>
                  </a:cubicBezTo>
                  <a:cubicBezTo>
                    <a:pt x="149860" y="1136650"/>
                    <a:pt x="148590" y="1127760"/>
                    <a:pt x="143510" y="1106170"/>
                  </a:cubicBezTo>
                  <a:cubicBezTo>
                    <a:pt x="128270" y="1045210"/>
                    <a:pt x="95250" y="876300"/>
                    <a:pt x="85090" y="756920"/>
                  </a:cubicBezTo>
                  <a:cubicBezTo>
                    <a:pt x="74930" y="632460"/>
                    <a:pt x="62230" y="419100"/>
                    <a:pt x="86360" y="373380"/>
                  </a:cubicBezTo>
                  <a:cubicBezTo>
                    <a:pt x="92710" y="360680"/>
                    <a:pt x="105410" y="354330"/>
                    <a:pt x="113030" y="354330"/>
                  </a:cubicBezTo>
                  <a:cubicBezTo>
                    <a:pt x="121920" y="355600"/>
                    <a:pt x="135890" y="379730"/>
                    <a:pt x="135890" y="379730"/>
                  </a:cubicBezTo>
                </a:path>
              </a:pathLst>
            </a:custGeom>
            <a:solidFill>
              <a:srgbClr val="04ED37"/>
            </a:solidFill>
            <a:ln cap="sq">
              <a:noFill/>
              <a:prstDash val="solid"/>
              <a:miter/>
            </a:ln>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5083347" y="3283423"/>
            <a:ext cx="7940035" cy="5974877"/>
          </a:xfrm>
          <a:custGeom>
            <a:avLst/>
            <a:gdLst/>
            <a:ahLst/>
            <a:cxnLst/>
            <a:rect r="r" b="b" t="t" l="l"/>
            <a:pathLst>
              <a:path h="5974877" w="7940035">
                <a:moveTo>
                  <a:pt x="0" y="0"/>
                </a:moveTo>
                <a:lnTo>
                  <a:pt x="7940035" y="0"/>
                </a:lnTo>
                <a:lnTo>
                  <a:pt x="7940035" y="5974877"/>
                </a:lnTo>
                <a:lnTo>
                  <a:pt x="0" y="5974877"/>
                </a:lnTo>
                <a:lnTo>
                  <a:pt x="0" y="0"/>
                </a:lnTo>
                <a:close/>
              </a:path>
            </a:pathLst>
          </a:custGeom>
          <a:blipFill>
            <a:blip r:embed="rId2"/>
            <a:stretch>
              <a:fillRect l="0" t="0" r="0" b="0"/>
            </a:stretch>
          </a:blipFill>
        </p:spPr>
      </p:sp>
      <p:sp>
        <p:nvSpPr>
          <p:cNvPr name="TextBox 3" id="3"/>
          <p:cNvSpPr txBox="true"/>
          <p:nvPr/>
        </p:nvSpPr>
        <p:spPr>
          <a:xfrm rot="0">
            <a:off x="1119783" y="933450"/>
            <a:ext cx="7306717"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Khoảng cách (Spacing)</a:t>
            </a:r>
          </a:p>
        </p:txBody>
      </p:sp>
      <p:sp>
        <p:nvSpPr>
          <p:cNvPr name="TextBox 4" id="4"/>
          <p:cNvSpPr txBox="true"/>
          <p:nvPr/>
        </p:nvSpPr>
        <p:spPr>
          <a:xfrm rot="0">
            <a:off x="876140" y="1937939"/>
            <a:ext cx="16383160" cy="1099820"/>
          </a:xfrm>
          <a:prstGeom prst="rect">
            <a:avLst/>
          </a:prstGeom>
        </p:spPr>
        <p:txBody>
          <a:bodyPr anchor="t" rtlCol="false" tIns="0" lIns="0" bIns="0" rIns="0">
            <a:spAutoFit/>
          </a:bodyPr>
          <a:lstStyle/>
          <a:p>
            <a:pPr algn="l">
              <a:lnSpc>
                <a:spcPts val="4480"/>
              </a:lnSpc>
              <a:spcBef>
                <a:spcPct val="0"/>
              </a:spcBef>
            </a:pPr>
            <a:r>
              <a:rPr lang="en-US" sz="3200">
                <a:solidFill>
                  <a:srgbClr val="2B4B82"/>
                </a:solidFill>
                <a:latin typeface="Canva Sans"/>
                <a:ea typeface="Canva Sans"/>
                <a:cs typeface="Canva Sans"/>
                <a:sym typeface="Canva Sans"/>
              </a:rPr>
              <a:t>Ví dụ: Trên FM Website, khoảng cách giữa các thẻ chứa sản phẩm được bố trí đồng đều, tạo sự hài hòa và thẩm mỹ, giúp giao diện trở nên đơn giản và dễ nhìn.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899899" y="4449635"/>
            <a:ext cx="16790885" cy="3735972"/>
          </a:xfrm>
          <a:custGeom>
            <a:avLst/>
            <a:gdLst/>
            <a:ahLst/>
            <a:cxnLst/>
            <a:rect r="r" b="b" t="t" l="l"/>
            <a:pathLst>
              <a:path h="3735972" w="16790885">
                <a:moveTo>
                  <a:pt x="0" y="0"/>
                </a:moveTo>
                <a:lnTo>
                  <a:pt x="16790886" y="0"/>
                </a:lnTo>
                <a:lnTo>
                  <a:pt x="16790886" y="3735972"/>
                </a:lnTo>
                <a:lnTo>
                  <a:pt x="0" y="3735972"/>
                </a:lnTo>
                <a:lnTo>
                  <a:pt x="0" y="0"/>
                </a:lnTo>
                <a:close/>
              </a:path>
            </a:pathLst>
          </a:custGeom>
          <a:blipFill>
            <a:blip r:embed="rId2"/>
            <a:stretch>
              <a:fillRect l="0" t="0" r="0" b="0"/>
            </a:stretch>
          </a:blipFill>
        </p:spPr>
      </p:sp>
      <p:sp>
        <p:nvSpPr>
          <p:cNvPr name="TextBox 3" id="3"/>
          <p:cNvSpPr txBox="true"/>
          <p:nvPr/>
        </p:nvSpPr>
        <p:spPr>
          <a:xfrm rot="0">
            <a:off x="1028700" y="933450"/>
            <a:ext cx="8899773"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Hiệu ứng động (Animation):</a:t>
            </a:r>
          </a:p>
        </p:txBody>
      </p:sp>
      <p:sp>
        <p:nvSpPr>
          <p:cNvPr name="TextBox 4" id="4"/>
          <p:cNvSpPr txBox="true"/>
          <p:nvPr/>
        </p:nvSpPr>
        <p:spPr>
          <a:xfrm rot="0">
            <a:off x="1028700" y="2273490"/>
            <a:ext cx="16230600" cy="1661795"/>
          </a:xfrm>
          <a:prstGeom prst="rect">
            <a:avLst/>
          </a:prstGeom>
        </p:spPr>
        <p:txBody>
          <a:bodyPr anchor="t" rtlCol="false" tIns="0" lIns="0" bIns="0" rIns="0">
            <a:spAutoFit/>
          </a:bodyPr>
          <a:lstStyle/>
          <a:p>
            <a:pPr algn="l">
              <a:lnSpc>
                <a:spcPts val="4480"/>
              </a:lnSpc>
            </a:pPr>
            <a:r>
              <a:rPr lang="en-US" sz="3200" b="true">
                <a:solidFill>
                  <a:srgbClr val="2B4B82"/>
                </a:solidFill>
                <a:latin typeface="Canva Sans Bold"/>
                <a:ea typeface="Canva Sans Bold"/>
                <a:cs typeface="Canva Sans Bold"/>
                <a:sym typeface="Canva Sans Bold"/>
              </a:rPr>
              <a:t>Ví dụ trong website f8: thanh điều hướng khi ta dí chuột vào nó sẽ đổi màu, giúp người dùng dễ dàng nhận biết mục đang được chọn. </a:t>
            </a:r>
          </a:p>
          <a:p>
            <a:pPr algn="l">
              <a:lnSpc>
                <a:spcPts val="4480"/>
              </a:lnSpc>
              <a:spcBef>
                <a:spcPct val="0"/>
              </a:spcBef>
            </a:pPr>
            <a:r>
              <a:rPr lang="en-US" b="true" sz="3200">
                <a:solidFill>
                  <a:srgbClr val="2B4B82"/>
                </a:solidFill>
                <a:latin typeface="Canva Sans Bold"/>
                <a:ea typeface="Canva Sans Bold"/>
                <a:cs typeface="Canva Sans Bold"/>
                <a:sym typeface="Canva Sans Bold"/>
              </a:rPr>
              <a:t>Hay là slide sẽ tự động chuyển sang slide khác 1 cách nhẹ nhàng.</a:t>
            </a:r>
          </a:p>
        </p:txBody>
      </p:sp>
      <p:grpSp>
        <p:nvGrpSpPr>
          <p:cNvPr name="Group 5" id="5"/>
          <p:cNvGrpSpPr/>
          <p:nvPr/>
        </p:nvGrpSpPr>
        <p:grpSpPr>
          <a:xfrm rot="0">
            <a:off x="892016" y="5698880"/>
            <a:ext cx="930199" cy="1009030"/>
            <a:chOff x="0" y="0"/>
            <a:chExt cx="1198880" cy="1300480"/>
          </a:xfrm>
        </p:grpSpPr>
        <p:sp>
          <p:nvSpPr>
            <p:cNvPr name="Freeform 6" id="6"/>
            <p:cNvSpPr/>
            <p:nvPr/>
          </p:nvSpPr>
          <p:spPr>
            <a:xfrm flipH="false" flipV="false" rot="0">
              <a:off x="48260" y="40640"/>
              <a:ext cx="1104900" cy="1220470"/>
            </a:xfrm>
            <a:custGeom>
              <a:avLst/>
              <a:gdLst/>
              <a:ahLst/>
              <a:cxnLst/>
              <a:rect r="r" b="b" t="t" l="l"/>
              <a:pathLst>
                <a:path h="1220470" w="1104900">
                  <a:moveTo>
                    <a:pt x="73660" y="1118870"/>
                  </a:moveTo>
                  <a:cubicBezTo>
                    <a:pt x="328930" y="1146810"/>
                    <a:pt x="767080" y="1162050"/>
                    <a:pt x="876300" y="1137920"/>
                  </a:cubicBezTo>
                  <a:cubicBezTo>
                    <a:pt x="913130" y="1130300"/>
                    <a:pt x="927100" y="1127760"/>
                    <a:pt x="946150" y="1106170"/>
                  </a:cubicBezTo>
                  <a:cubicBezTo>
                    <a:pt x="975360" y="1074420"/>
                    <a:pt x="986790" y="993140"/>
                    <a:pt x="999490" y="937260"/>
                  </a:cubicBezTo>
                  <a:cubicBezTo>
                    <a:pt x="1012190" y="885190"/>
                    <a:pt x="1018540" y="849630"/>
                    <a:pt x="1024890" y="781050"/>
                  </a:cubicBezTo>
                  <a:cubicBezTo>
                    <a:pt x="1038860" y="650240"/>
                    <a:pt x="1066800" y="274320"/>
                    <a:pt x="1050290" y="205740"/>
                  </a:cubicBezTo>
                  <a:cubicBezTo>
                    <a:pt x="1046480" y="187960"/>
                    <a:pt x="1037590" y="189230"/>
                    <a:pt x="1033780" y="176530"/>
                  </a:cubicBezTo>
                  <a:cubicBezTo>
                    <a:pt x="1027430" y="156210"/>
                    <a:pt x="1042670" y="110490"/>
                    <a:pt x="1028700" y="91440"/>
                  </a:cubicBezTo>
                  <a:cubicBezTo>
                    <a:pt x="1014730" y="72390"/>
                    <a:pt x="984250" y="68580"/>
                    <a:pt x="946150" y="62230"/>
                  </a:cubicBezTo>
                  <a:cubicBezTo>
                    <a:pt x="868680" y="49530"/>
                    <a:pt x="687070" y="52070"/>
                    <a:pt x="585470" y="60960"/>
                  </a:cubicBezTo>
                  <a:cubicBezTo>
                    <a:pt x="509270" y="68580"/>
                    <a:pt x="421640" y="83820"/>
                    <a:pt x="387350" y="100330"/>
                  </a:cubicBezTo>
                  <a:cubicBezTo>
                    <a:pt x="372110" y="107950"/>
                    <a:pt x="374650" y="115570"/>
                    <a:pt x="359410" y="124460"/>
                  </a:cubicBezTo>
                  <a:cubicBezTo>
                    <a:pt x="318770" y="144780"/>
                    <a:pt x="158750" y="167640"/>
                    <a:pt x="114300" y="190500"/>
                  </a:cubicBezTo>
                  <a:cubicBezTo>
                    <a:pt x="95250" y="199390"/>
                    <a:pt x="86360" y="208280"/>
                    <a:pt x="77470" y="219710"/>
                  </a:cubicBezTo>
                  <a:cubicBezTo>
                    <a:pt x="68580" y="232410"/>
                    <a:pt x="64770" y="245110"/>
                    <a:pt x="60960" y="265430"/>
                  </a:cubicBezTo>
                  <a:cubicBezTo>
                    <a:pt x="53340" y="297180"/>
                    <a:pt x="50800" y="342900"/>
                    <a:pt x="53340" y="397510"/>
                  </a:cubicBezTo>
                  <a:cubicBezTo>
                    <a:pt x="57150" y="487680"/>
                    <a:pt x="100330" y="642620"/>
                    <a:pt x="110490" y="754380"/>
                  </a:cubicBezTo>
                  <a:cubicBezTo>
                    <a:pt x="118110" y="850900"/>
                    <a:pt x="118110" y="947420"/>
                    <a:pt x="113030" y="1026160"/>
                  </a:cubicBezTo>
                  <a:cubicBezTo>
                    <a:pt x="109220" y="1088390"/>
                    <a:pt x="104140" y="1167130"/>
                    <a:pt x="91440" y="1192530"/>
                  </a:cubicBezTo>
                  <a:cubicBezTo>
                    <a:pt x="86360" y="1201420"/>
                    <a:pt x="80010" y="1206500"/>
                    <a:pt x="73660" y="1207770"/>
                  </a:cubicBezTo>
                  <a:cubicBezTo>
                    <a:pt x="67310" y="1210310"/>
                    <a:pt x="55880" y="1207770"/>
                    <a:pt x="50800" y="1202690"/>
                  </a:cubicBezTo>
                  <a:cubicBezTo>
                    <a:pt x="45720" y="1197610"/>
                    <a:pt x="40640" y="1187450"/>
                    <a:pt x="41910" y="1181100"/>
                  </a:cubicBezTo>
                  <a:cubicBezTo>
                    <a:pt x="43180" y="1173480"/>
                    <a:pt x="49530" y="1164590"/>
                    <a:pt x="55880" y="1160780"/>
                  </a:cubicBezTo>
                  <a:cubicBezTo>
                    <a:pt x="62230" y="1158240"/>
                    <a:pt x="73660" y="1158240"/>
                    <a:pt x="80010" y="1162050"/>
                  </a:cubicBezTo>
                  <a:cubicBezTo>
                    <a:pt x="85090" y="1164590"/>
                    <a:pt x="91440" y="1174750"/>
                    <a:pt x="92710" y="1181100"/>
                  </a:cubicBezTo>
                  <a:cubicBezTo>
                    <a:pt x="92710" y="1188720"/>
                    <a:pt x="88900" y="1198880"/>
                    <a:pt x="83820" y="1203960"/>
                  </a:cubicBezTo>
                  <a:cubicBezTo>
                    <a:pt x="77470" y="1207770"/>
                    <a:pt x="66040" y="1210310"/>
                    <a:pt x="59690" y="1207770"/>
                  </a:cubicBezTo>
                  <a:cubicBezTo>
                    <a:pt x="52070" y="1205230"/>
                    <a:pt x="45720" y="1196340"/>
                    <a:pt x="41910" y="1183640"/>
                  </a:cubicBezTo>
                  <a:cubicBezTo>
                    <a:pt x="34290" y="1154430"/>
                    <a:pt x="58420" y="1085850"/>
                    <a:pt x="62230" y="1026160"/>
                  </a:cubicBezTo>
                  <a:cubicBezTo>
                    <a:pt x="66040" y="948690"/>
                    <a:pt x="67310" y="854710"/>
                    <a:pt x="59690" y="759460"/>
                  </a:cubicBezTo>
                  <a:cubicBezTo>
                    <a:pt x="50800" y="647700"/>
                    <a:pt x="7620" y="476250"/>
                    <a:pt x="2540" y="396240"/>
                  </a:cubicBezTo>
                  <a:cubicBezTo>
                    <a:pt x="0" y="358140"/>
                    <a:pt x="1270" y="337820"/>
                    <a:pt x="3810" y="311150"/>
                  </a:cubicBezTo>
                  <a:cubicBezTo>
                    <a:pt x="5080" y="287020"/>
                    <a:pt x="6350" y="265430"/>
                    <a:pt x="13970" y="243840"/>
                  </a:cubicBezTo>
                  <a:cubicBezTo>
                    <a:pt x="22860" y="219710"/>
                    <a:pt x="34290" y="191770"/>
                    <a:pt x="52070" y="172720"/>
                  </a:cubicBezTo>
                  <a:cubicBezTo>
                    <a:pt x="69850" y="154940"/>
                    <a:pt x="96520" y="139700"/>
                    <a:pt x="120650" y="130810"/>
                  </a:cubicBezTo>
                  <a:cubicBezTo>
                    <a:pt x="143510" y="123190"/>
                    <a:pt x="162560" y="132080"/>
                    <a:pt x="193040" y="124460"/>
                  </a:cubicBezTo>
                  <a:cubicBezTo>
                    <a:pt x="245110" y="113030"/>
                    <a:pt x="334010" y="68580"/>
                    <a:pt x="402590" y="49530"/>
                  </a:cubicBezTo>
                  <a:cubicBezTo>
                    <a:pt x="464820" y="31750"/>
                    <a:pt x="513080" y="17780"/>
                    <a:pt x="585470" y="10160"/>
                  </a:cubicBezTo>
                  <a:cubicBezTo>
                    <a:pt x="690880" y="0"/>
                    <a:pt x="895350" y="2540"/>
                    <a:pt x="975360" y="15240"/>
                  </a:cubicBezTo>
                  <a:cubicBezTo>
                    <a:pt x="1013460" y="21590"/>
                    <a:pt x="1038860" y="30480"/>
                    <a:pt x="1056640" y="40640"/>
                  </a:cubicBezTo>
                  <a:cubicBezTo>
                    <a:pt x="1065530" y="46990"/>
                    <a:pt x="1069340" y="50800"/>
                    <a:pt x="1075690" y="62230"/>
                  </a:cubicBezTo>
                  <a:cubicBezTo>
                    <a:pt x="1089660" y="93980"/>
                    <a:pt x="1096010" y="177800"/>
                    <a:pt x="1099820" y="259080"/>
                  </a:cubicBezTo>
                  <a:cubicBezTo>
                    <a:pt x="1104900" y="393700"/>
                    <a:pt x="1089660" y="662940"/>
                    <a:pt x="1075690" y="788670"/>
                  </a:cubicBezTo>
                  <a:cubicBezTo>
                    <a:pt x="1068070" y="861060"/>
                    <a:pt x="1061720" y="901700"/>
                    <a:pt x="1046480" y="956310"/>
                  </a:cubicBezTo>
                  <a:cubicBezTo>
                    <a:pt x="1032510" y="1013460"/>
                    <a:pt x="1021080" y="1088390"/>
                    <a:pt x="988060" y="1127760"/>
                  </a:cubicBezTo>
                  <a:cubicBezTo>
                    <a:pt x="960120" y="1160780"/>
                    <a:pt x="932180" y="1174750"/>
                    <a:pt x="877570" y="1188720"/>
                  </a:cubicBezTo>
                  <a:cubicBezTo>
                    <a:pt x="754380" y="1220470"/>
                    <a:pt x="383540" y="1197610"/>
                    <a:pt x="236220" y="1188720"/>
                  </a:cubicBezTo>
                  <a:cubicBezTo>
                    <a:pt x="157480" y="1183640"/>
                    <a:pt x="80010" y="1184910"/>
                    <a:pt x="55880" y="1165860"/>
                  </a:cubicBezTo>
                  <a:cubicBezTo>
                    <a:pt x="44450" y="1158240"/>
                    <a:pt x="40640" y="1141730"/>
                    <a:pt x="43180" y="1134110"/>
                  </a:cubicBezTo>
                  <a:cubicBezTo>
                    <a:pt x="46990" y="1126490"/>
                    <a:pt x="73660" y="1118870"/>
                    <a:pt x="73660" y="1118870"/>
                  </a:cubicBezTo>
                </a:path>
              </a:pathLst>
            </a:custGeom>
            <a:solidFill>
              <a:srgbClr val="FFBD59"/>
            </a:solidFill>
            <a:ln cap="sq">
              <a:noFill/>
              <a:prstDash val="solid"/>
              <a:miter/>
            </a:ln>
          </p:spPr>
        </p:sp>
      </p:grpSp>
      <p:grpSp>
        <p:nvGrpSpPr>
          <p:cNvPr name="Group 7" id="7"/>
          <p:cNvGrpSpPr/>
          <p:nvPr/>
        </p:nvGrpSpPr>
        <p:grpSpPr>
          <a:xfrm rot="0">
            <a:off x="1735502" y="4901707"/>
            <a:ext cx="16230204" cy="3509926"/>
            <a:chOff x="0" y="0"/>
            <a:chExt cx="20918170" cy="4523740"/>
          </a:xfrm>
        </p:grpSpPr>
        <p:sp>
          <p:nvSpPr>
            <p:cNvPr name="Freeform 8" id="8"/>
            <p:cNvSpPr/>
            <p:nvPr/>
          </p:nvSpPr>
          <p:spPr>
            <a:xfrm flipH="false" flipV="false" rot="0">
              <a:off x="49529" y="41910"/>
              <a:ext cx="20819110" cy="4458970"/>
            </a:xfrm>
            <a:custGeom>
              <a:avLst/>
              <a:gdLst/>
              <a:ahLst/>
              <a:cxnLst/>
              <a:rect r="r" b="b" t="t" l="l"/>
              <a:pathLst>
                <a:path h="4458970" w="20819110">
                  <a:moveTo>
                    <a:pt x="172721" y="276860"/>
                  </a:moveTo>
                  <a:cubicBezTo>
                    <a:pt x="176531" y="802640"/>
                    <a:pt x="182881" y="803910"/>
                    <a:pt x="189231" y="853440"/>
                  </a:cubicBezTo>
                  <a:cubicBezTo>
                    <a:pt x="208281" y="1031240"/>
                    <a:pt x="242571" y="1751330"/>
                    <a:pt x="251461" y="2078990"/>
                  </a:cubicBezTo>
                  <a:cubicBezTo>
                    <a:pt x="257811" y="2297430"/>
                    <a:pt x="266701" y="2498090"/>
                    <a:pt x="252731" y="2625090"/>
                  </a:cubicBezTo>
                  <a:cubicBezTo>
                    <a:pt x="245111" y="2696210"/>
                    <a:pt x="223521" y="2739390"/>
                    <a:pt x="217171" y="2788920"/>
                  </a:cubicBezTo>
                  <a:cubicBezTo>
                    <a:pt x="212091" y="2828290"/>
                    <a:pt x="214631" y="2844800"/>
                    <a:pt x="213361" y="2898140"/>
                  </a:cubicBezTo>
                  <a:cubicBezTo>
                    <a:pt x="210821" y="3045460"/>
                    <a:pt x="187961" y="3577590"/>
                    <a:pt x="212091" y="3718560"/>
                  </a:cubicBezTo>
                  <a:cubicBezTo>
                    <a:pt x="220981" y="3768090"/>
                    <a:pt x="232411" y="3788410"/>
                    <a:pt x="247651" y="3817620"/>
                  </a:cubicBezTo>
                  <a:cubicBezTo>
                    <a:pt x="262891" y="3846830"/>
                    <a:pt x="285751" y="3873500"/>
                    <a:pt x="303531" y="3895090"/>
                  </a:cubicBezTo>
                  <a:cubicBezTo>
                    <a:pt x="317501" y="3911600"/>
                    <a:pt x="323851" y="3925570"/>
                    <a:pt x="342901" y="3935730"/>
                  </a:cubicBezTo>
                  <a:cubicBezTo>
                    <a:pt x="373381" y="3950970"/>
                    <a:pt x="424181" y="3943350"/>
                    <a:pt x="477521" y="3956050"/>
                  </a:cubicBezTo>
                  <a:cubicBezTo>
                    <a:pt x="561341" y="3975100"/>
                    <a:pt x="666751" y="4024630"/>
                    <a:pt x="796291" y="4057650"/>
                  </a:cubicBezTo>
                  <a:cubicBezTo>
                    <a:pt x="993141" y="4108450"/>
                    <a:pt x="1324611" y="4166870"/>
                    <a:pt x="1550671" y="4202430"/>
                  </a:cubicBezTo>
                  <a:cubicBezTo>
                    <a:pt x="1733551" y="4231640"/>
                    <a:pt x="1877061" y="4251960"/>
                    <a:pt x="2051051" y="4265930"/>
                  </a:cubicBezTo>
                  <a:cubicBezTo>
                    <a:pt x="2236471" y="4278630"/>
                    <a:pt x="2442211" y="4263390"/>
                    <a:pt x="2628901" y="4278630"/>
                  </a:cubicBezTo>
                  <a:cubicBezTo>
                    <a:pt x="2802891" y="4292600"/>
                    <a:pt x="3008631" y="4337050"/>
                    <a:pt x="3135631" y="4349750"/>
                  </a:cubicBezTo>
                  <a:cubicBezTo>
                    <a:pt x="3211831" y="4356100"/>
                    <a:pt x="3221991" y="4354830"/>
                    <a:pt x="3317241" y="4357370"/>
                  </a:cubicBezTo>
                  <a:cubicBezTo>
                    <a:pt x="3689351" y="4368800"/>
                    <a:pt x="5713731" y="4408170"/>
                    <a:pt x="6021071" y="4380230"/>
                  </a:cubicBezTo>
                  <a:cubicBezTo>
                    <a:pt x="6085841" y="4373880"/>
                    <a:pt x="6085841" y="4364990"/>
                    <a:pt x="6136641" y="4357370"/>
                  </a:cubicBezTo>
                  <a:cubicBezTo>
                    <a:pt x="6230621" y="4343400"/>
                    <a:pt x="6410961" y="4343400"/>
                    <a:pt x="6545581" y="4321810"/>
                  </a:cubicBezTo>
                  <a:cubicBezTo>
                    <a:pt x="6681471" y="4298950"/>
                    <a:pt x="6828791" y="4248150"/>
                    <a:pt x="6949441" y="4222750"/>
                  </a:cubicBezTo>
                  <a:cubicBezTo>
                    <a:pt x="7047231" y="4202430"/>
                    <a:pt x="7127241" y="4187190"/>
                    <a:pt x="7214871" y="4175760"/>
                  </a:cubicBezTo>
                  <a:cubicBezTo>
                    <a:pt x="7301231" y="4163060"/>
                    <a:pt x="7350761" y="4156710"/>
                    <a:pt x="7472681" y="4150360"/>
                  </a:cubicBezTo>
                  <a:cubicBezTo>
                    <a:pt x="7762241" y="4133850"/>
                    <a:pt x="8581391" y="4146550"/>
                    <a:pt x="8954771" y="4138930"/>
                  </a:cubicBezTo>
                  <a:cubicBezTo>
                    <a:pt x="9179561" y="4133850"/>
                    <a:pt x="9320531" y="4121150"/>
                    <a:pt x="9497061" y="4118610"/>
                  </a:cubicBezTo>
                  <a:cubicBezTo>
                    <a:pt x="9663431" y="4114800"/>
                    <a:pt x="9743441" y="4113530"/>
                    <a:pt x="9983471" y="4118610"/>
                  </a:cubicBezTo>
                  <a:cubicBezTo>
                    <a:pt x="10669271" y="4131310"/>
                    <a:pt x="12712701" y="4248150"/>
                    <a:pt x="13952221" y="4273550"/>
                  </a:cubicBezTo>
                  <a:cubicBezTo>
                    <a:pt x="15045691" y="4296410"/>
                    <a:pt x="16290291" y="4334510"/>
                    <a:pt x="17037051" y="4278630"/>
                  </a:cubicBezTo>
                  <a:cubicBezTo>
                    <a:pt x="17467582" y="4246880"/>
                    <a:pt x="17735551" y="4185920"/>
                    <a:pt x="18049241" y="4126230"/>
                  </a:cubicBezTo>
                  <a:cubicBezTo>
                    <a:pt x="18324832" y="4074160"/>
                    <a:pt x="18549621" y="3985260"/>
                    <a:pt x="18822671" y="3949700"/>
                  </a:cubicBezTo>
                  <a:cubicBezTo>
                    <a:pt x="19117310" y="3910330"/>
                    <a:pt x="19540221" y="3935730"/>
                    <a:pt x="19758660" y="3916680"/>
                  </a:cubicBezTo>
                  <a:cubicBezTo>
                    <a:pt x="19878041" y="3906520"/>
                    <a:pt x="19932651" y="3890010"/>
                    <a:pt x="20032982" y="3879850"/>
                  </a:cubicBezTo>
                  <a:cubicBezTo>
                    <a:pt x="20152360" y="3868420"/>
                    <a:pt x="20341591" y="3868420"/>
                    <a:pt x="20425410" y="3855720"/>
                  </a:cubicBezTo>
                  <a:cubicBezTo>
                    <a:pt x="20466051" y="3850640"/>
                    <a:pt x="20491451" y="3854450"/>
                    <a:pt x="20513041" y="3836670"/>
                  </a:cubicBezTo>
                  <a:cubicBezTo>
                    <a:pt x="20535901" y="3818890"/>
                    <a:pt x="20542251" y="3794760"/>
                    <a:pt x="20552410" y="3742690"/>
                  </a:cubicBezTo>
                  <a:cubicBezTo>
                    <a:pt x="20595591" y="3530600"/>
                    <a:pt x="20553682" y="2321560"/>
                    <a:pt x="20565110" y="2076450"/>
                  </a:cubicBezTo>
                  <a:cubicBezTo>
                    <a:pt x="20567651" y="2006600"/>
                    <a:pt x="20567651" y="2006600"/>
                    <a:pt x="20576541" y="1941830"/>
                  </a:cubicBezTo>
                  <a:cubicBezTo>
                    <a:pt x="20600671" y="1779270"/>
                    <a:pt x="20723860" y="1295400"/>
                    <a:pt x="20750532" y="1079500"/>
                  </a:cubicBezTo>
                  <a:cubicBezTo>
                    <a:pt x="20767041" y="949960"/>
                    <a:pt x="20786091" y="805180"/>
                    <a:pt x="20768310" y="765810"/>
                  </a:cubicBezTo>
                  <a:cubicBezTo>
                    <a:pt x="20761960" y="754380"/>
                    <a:pt x="20750532" y="758190"/>
                    <a:pt x="20745451" y="749300"/>
                  </a:cubicBezTo>
                  <a:cubicBezTo>
                    <a:pt x="20735291" y="734060"/>
                    <a:pt x="20744182" y="703580"/>
                    <a:pt x="20727671" y="676910"/>
                  </a:cubicBezTo>
                  <a:cubicBezTo>
                    <a:pt x="20697191" y="627380"/>
                    <a:pt x="20586701" y="546100"/>
                    <a:pt x="20524471" y="504190"/>
                  </a:cubicBezTo>
                  <a:cubicBezTo>
                    <a:pt x="20478751" y="473710"/>
                    <a:pt x="20443191" y="464820"/>
                    <a:pt x="20393660" y="436880"/>
                  </a:cubicBezTo>
                  <a:cubicBezTo>
                    <a:pt x="20328891" y="398780"/>
                    <a:pt x="20247610" y="332740"/>
                    <a:pt x="20171410" y="292100"/>
                  </a:cubicBezTo>
                  <a:cubicBezTo>
                    <a:pt x="20100291" y="252730"/>
                    <a:pt x="20027901" y="218440"/>
                    <a:pt x="19954241" y="194310"/>
                  </a:cubicBezTo>
                  <a:cubicBezTo>
                    <a:pt x="19885660" y="170180"/>
                    <a:pt x="19847560" y="160020"/>
                    <a:pt x="19745960" y="146050"/>
                  </a:cubicBezTo>
                  <a:cubicBezTo>
                    <a:pt x="19483071" y="107950"/>
                    <a:pt x="18729960" y="77470"/>
                    <a:pt x="18322291" y="64770"/>
                  </a:cubicBezTo>
                  <a:cubicBezTo>
                    <a:pt x="18013682" y="54610"/>
                    <a:pt x="17673321" y="52070"/>
                    <a:pt x="17512032" y="59690"/>
                  </a:cubicBezTo>
                  <a:cubicBezTo>
                    <a:pt x="17443451" y="63500"/>
                    <a:pt x="17423132" y="73660"/>
                    <a:pt x="17365982" y="76200"/>
                  </a:cubicBezTo>
                  <a:cubicBezTo>
                    <a:pt x="17285971" y="81280"/>
                    <a:pt x="17238982" y="78740"/>
                    <a:pt x="17081501" y="80010"/>
                  </a:cubicBezTo>
                  <a:cubicBezTo>
                    <a:pt x="16308071" y="85090"/>
                    <a:pt x="11426191" y="66040"/>
                    <a:pt x="10237470" y="80010"/>
                  </a:cubicBezTo>
                  <a:cubicBezTo>
                    <a:pt x="9819641" y="85090"/>
                    <a:pt x="9787891" y="95250"/>
                    <a:pt x="9389110" y="100330"/>
                  </a:cubicBezTo>
                  <a:cubicBezTo>
                    <a:pt x="8431531" y="111760"/>
                    <a:pt x="5194301" y="119380"/>
                    <a:pt x="4509770" y="100330"/>
                  </a:cubicBezTo>
                  <a:cubicBezTo>
                    <a:pt x="4326890" y="95250"/>
                    <a:pt x="4325620" y="85090"/>
                    <a:pt x="4163060" y="81280"/>
                  </a:cubicBezTo>
                  <a:cubicBezTo>
                    <a:pt x="3768090" y="69850"/>
                    <a:pt x="2499360" y="67310"/>
                    <a:pt x="2145030" y="80010"/>
                  </a:cubicBezTo>
                  <a:cubicBezTo>
                    <a:pt x="2019300" y="85090"/>
                    <a:pt x="1993900" y="95250"/>
                    <a:pt x="1888490" y="99060"/>
                  </a:cubicBezTo>
                  <a:cubicBezTo>
                    <a:pt x="1720850" y="105410"/>
                    <a:pt x="1436370" y="88900"/>
                    <a:pt x="1234440" y="100330"/>
                  </a:cubicBezTo>
                  <a:cubicBezTo>
                    <a:pt x="1059180" y="110490"/>
                    <a:pt x="876300" y="137160"/>
                    <a:pt x="742950" y="156210"/>
                  </a:cubicBezTo>
                  <a:cubicBezTo>
                    <a:pt x="652780" y="168910"/>
                    <a:pt x="581660" y="172720"/>
                    <a:pt x="514350" y="196850"/>
                  </a:cubicBezTo>
                  <a:cubicBezTo>
                    <a:pt x="457200" y="217170"/>
                    <a:pt x="407670" y="261620"/>
                    <a:pt x="361950" y="283210"/>
                  </a:cubicBezTo>
                  <a:cubicBezTo>
                    <a:pt x="327660" y="298450"/>
                    <a:pt x="297180" y="311150"/>
                    <a:pt x="266700" y="316230"/>
                  </a:cubicBezTo>
                  <a:cubicBezTo>
                    <a:pt x="240030" y="321310"/>
                    <a:pt x="208280" y="311150"/>
                    <a:pt x="190500" y="317500"/>
                  </a:cubicBezTo>
                  <a:cubicBezTo>
                    <a:pt x="179070" y="321310"/>
                    <a:pt x="177800" y="332740"/>
                    <a:pt x="166370" y="337820"/>
                  </a:cubicBezTo>
                  <a:cubicBezTo>
                    <a:pt x="147320" y="344170"/>
                    <a:pt x="109220" y="336550"/>
                    <a:pt x="85090" y="341630"/>
                  </a:cubicBezTo>
                  <a:cubicBezTo>
                    <a:pt x="62230" y="345440"/>
                    <a:pt x="38100" y="365760"/>
                    <a:pt x="24130" y="361950"/>
                  </a:cubicBezTo>
                  <a:cubicBezTo>
                    <a:pt x="12700" y="359410"/>
                    <a:pt x="0" y="341630"/>
                    <a:pt x="1270" y="332740"/>
                  </a:cubicBezTo>
                  <a:cubicBezTo>
                    <a:pt x="1270" y="325120"/>
                    <a:pt x="15240" y="312420"/>
                    <a:pt x="22860" y="311150"/>
                  </a:cubicBezTo>
                  <a:cubicBezTo>
                    <a:pt x="31750" y="311150"/>
                    <a:pt x="50800" y="326390"/>
                    <a:pt x="52070" y="335280"/>
                  </a:cubicBezTo>
                  <a:cubicBezTo>
                    <a:pt x="52070" y="342900"/>
                    <a:pt x="35560" y="361950"/>
                    <a:pt x="26670" y="361950"/>
                  </a:cubicBezTo>
                  <a:cubicBezTo>
                    <a:pt x="19050" y="363220"/>
                    <a:pt x="3810" y="351790"/>
                    <a:pt x="1270" y="344170"/>
                  </a:cubicBezTo>
                  <a:cubicBezTo>
                    <a:pt x="0" y="336550"/>
                    <a:pt x="2540" y="325120"/>
                    <a:pt x="12700" y="314960"/>
                  </a:cubicBezTo>
                  <a:cubicBezTo>
                    <a:pt x="46990" y="285750"/>
                    <a:pt x="248920" y="274320"/>
                    <a:pt x="332740" y="241300"/>
                  </a:cubicBezTo>
                  <a:cubicBezTo>
                    <a:pt x="391160" y="219710"/>
                    <a:pt x="429260" y="184150"/>
                    <a:pt x="473710" y="163830"/>
                  </a:cubicBezTo>
                  <a:cubicBezTo>
                    <a:pt x="508000" y="147320"/>
                    <a:pt x="523240" y="139700"/>
                    <a:pt x="571500" y="128270"/>
                  </a:cubicBezTo>
                  <a:cubicBezTo>
                    <a:pt x="693420" y="99060"/>
                    <a:pt x="1014730" y="63500"/>
                    <a:pt x="1234440" y="49530"/>
                  </a:cubicBezTo>
                  <a:cubicBezTo>
                    <a:pt x="1452880" y="36830"/>
                    <a:pt x="1718310" y="54610"/>
                    <a:pt x="1887220" y="48260"/>
                  </a:cubicBezTo>
                  <a:cubicBezTo>
                    <a:pt x="1992630" y="44450"/>
                    <a:pt x="2018030" y="34290"/>
                    <a:pt x="2145030" y="29210"/>
                  </a:cubicBezTo>
                  <a:cubicBezTo>
                    <a:pt x="2499360" y="16510"/>
                    <a:pt x="3769360" y="19050"/>
                    <a:pt x="4163060" y="30480"/>
                  </a:cubicBezTo>
                  <a:cubicBezTo>
                    <a:pt x="4326890" y="34290"/>
                    <a:pt x="4326890" y="44450"/>
                    <a:pt x="4509770" y="49530"/>
                  </a:cubicBezTo>
                  <a:cubicBezTo>
                    <a:pt x="5193030" y="68580"/>
                    <a:pt x="8431530" y="60960"/>
                    <a:pt x="9389110" y="49530"/>
                  </a:cubicBezTo>
                  <a:cubicBezTo>
                    <a:pt x="9787891" y="44450"/>
                    <a:pt x="9819641" y="34290"/>
                    <a:pt x="10237470" y="29210"/>
                  </a:cubicBezTo>
                  <a:cubicBezTo>
                    <a:pt x="11426191" y="15240"/>
                    <a:pt x="16311880" y="34290"/>
                    <a:pt x="17081501" y="29210"/>
                  </a:cubicBezTo>
                  <a:cubicBezTo>
                    <a:pt x="17236441" y="27940"/>
                    <a:pt x="17283432" y="30480"/>
                    <a:pt x="17362171" y="25400"/>
                  </a:cubicBezTo>
                  <a:cubicBezTo>
                    <a:pt x="17420591" y="22860"/>
                    <a:pt x="17439641" y="12700"/>
                    <a:pt x="17512032" y="8890"/>
                  </a:cubicBezTo>
                  <a:cubicBezTo>
                    <a:pt x="17699991" y="0"/>
                    <a:pt x="18172432" y="6350"/>
                    <a:pt x="18526760" y="19050"/>
                  </a:cubicBezTo>
                  <a:cubicBezTo>
                    <a:pt x="18916651" y="34290"/>
                    <a:pt x="19509741" y="58420"/>
                    <a:pt x="19756121" y="95250"/>
                  </a:cubicBezTo>
                  <a:cubicBezTo>
                    <a:pt x="19862801" y="111760"/>
                    <a:pt x="19909791" y="127000"/>
                    <a:pt x="19983451" y="152400"/>
                  </a:cubicBezTo>
                  <a:cubicBezTo>
                    <a:pt x="20058382" y="177800"/>
                    <a:pt x="20121882" y="208280"/>
                    <a:pt x="20201891" y="251460"/>
                  </a:cubicBezTo>
                  <a:cubicBezTo>
                    <a:pt x="20308571" y="306070"/>
                    <a:pt x="20458432" y="393700"/>
                    <a:pt x="20557491" y="466090"/>
                  </a:cubicBezTo>
                  <a:cubicBezTo>
                    <a:pt x="20637501" y="523240"/>
                    <a:pt x="20717510" y="581660"/>
                    <a:pt x="20760691" y="638810"/>
                  </a:cubicBezTo>
                  <a:cubicBezTo>
                    <a:pt x="20791171" y="679450"/>
                    <a:pt x="20808951" y="728980"/>
                    <a:pt x="20815301" y="758190"/>
                  </a:cubicBezTo>
                  <a:cubicBezTo>
                    <a:pt x="20819110" y="772160"/>
                    <a:pt x="20816571" y="774700"/>
                    <a:pt x="20816571" y="792480"/>
                  </a:cubicBezTo>
                  <a:cubicBezTo>
                    <a:pt x="20816571" y="842010"/>
                    <a:pt x="20816571" y="965200"/>
                    <a:pt x="20801332" y="1088390"/>
                  </a:cubicBezTo>
                  <a:cubicBezTo>
                    <a:pt x="20773391" y="1300480"/>
                    <a:pt x="20650201" y="1786890"/>
                    <a:pt x="20627341" y="1946910"/>
                  </a:cubicBezTo>
                  <a:cubicBezTo>
                    <a:pt x="20618451" y="2009140"/>
                    <a:pt x="20618451" y="2010410"/>
                    <a:pt x="20615910" y="2076450"/>
                  </a:cubicBezTo>
                  <a:cubicBezTo>
                    <a:pt x="20605751" y="2289810"/>
                    <a:pt x="20620991" y="3143250"/>
                    <a:pt x="20614641" y="3439160"/>
                  </a:cubicBezTo>
                  <a:cubicBezTo>
                    <a:pt x="20612101" y="3581400"/>
                    <a:pt x="20619721" y="3677920"/>
                    <a:pt x="20601941" y="3755390"/>
                  </a:cubicBezTo>
                  <a:cubicBezTo>
                    <a:pt x="20589241" y="3804920"/>
                    <a:pt x="20576541" y="3845560"/>
                    <a:pt x="20549871" y="3870960"/>
                  </a:cubicBezTo>
                  <a:cubicBezTo>
                    <a:pt x="20525741" y="3892550"/>
                    <a:pt x="20500341" y="3895090"/>
                    <a:pt x="20457160" y="3903980"/>
                  </a:cubicBezTo>
                  <a:cubicBezTo>
                    <a:pt x="20368260" y="3923030"/>
                    <a:pt x="20163791" y="3917950"/>
                    <a:pt x="20039332" y="3930650"/>
                  </a:cubicBezTo>
                  <a:cubicBezTo>
                    <a:pt x="19936460" y="3940810"/>
                    <a:pt x="19880582" y="3957320"/>
                    <a:pt x="19759932" y="3967480"/>
                  </a:cubicBezTo>
                  <a:cubicBezTo>
                    <a:pt x="19541491" y="3985260"/>
                    <a:pt x="19127471" y="3961130"/>
                    <a:pt x="18834101" y="3999230"/>
                  </a:cubicBezTo>
                  <a:cubicBezTo>
                    <a:pt x="18561051" y="4034790"/>
                    <a:pt x="18333721" y="4123690"/>
                    <a:pt x="18055591" y="4177030"/>
                  </a:cubicBezTo>
                  <a:cubicBezTo>
                    <a:pt x="17739360" y="4236720"/>
                    <a:pt x="17470121" y="4297680"/>
                    <a:pt x="17037051" y="4329430"/>
                  </a:cubicBezTo>
                  <a:cubicBezTo>
                    <a:pt x="16289021" y="4385310"/>
                    <a:pt x="15044421" y="4347210"/>
                    <a:pt x="13950951" y="4324350"/>
                  </a:cubicBezTo>
                  <a:cubicBezTo>
                    <a:pt x="12711431" y="4298950"/>
                    <a:pt x="10669271" y="4182110"/>
                    <a:pt x="9983471" y="4169410"/>
                  </a:cubicBezTo>
                  <a:cubicBezTo>
                    <a:pt x="9743441" y="4164330"/>
                    <a:pt x="9663431" y="4165600"/>
                    <a:pt x="9497061" y="4169410"/>
                  </a:cubicBezTo>
                  <a:cubicBezTo>
                    <a:pt x="9320531" y="4171950"/>
                    <a:pt x="9179561" y="4184650"/>
                    <a:pt x="8954771" y="4189730"/>
                  </a:cubicBezTo>
                  <a:cubicBezTo>
                    <a:pt x="8582661" y="4197350"/>
                    <a:pt x="7764781" y="4185920"/>
                    <a:pt x="7477761" y="4199890"/>
                  </a:cubicBezTo>
                  <a:cubicBezTo>
                    <a:pt x="7358381" y="4206240"/>
                    <a:pt x="7310121" y="4213860"/>
                    <a:pt x="7226301" y="4225290"/>
                  </a:cubicBezTo>
                  <a:cubicBezTo>
                    <a:pt x="7138671" y="4236720"/>
                    <a:pt x="7058661" y="4251960"/>
                    <a:pt x="6960871" y="4272280"/>
                  </a:cubicBezTo>
                  <a:cubicBezTo>
                    <a:pt x="6838951" y="4297680"/>
                    <a:pt x="6685281" y="4349750"/>
                    <a:pt x="6548121" y="4372610"/>
                  </a:cubicBezTo>
                  <a:cubicBezTo>
                    <a:pt x="6413501" y="4394200"/>
                    <a:pt x="6242051" y="4394200"/>
                    <a:pt x="6145531" y="4406900"/>
                  </a:cubicBezTo>
                  <a:cubicBezTo>
                    <a:pt x="6092191" y="4414520"/>
                    <a:pt x="6090921" y="4424680"/>
                    <a:pt x="6022341" y="4431030"/>
                  </a:cubicBezTo>
                  <a:cubicBezTo>
                    <a:pt x="5703571" y="4458970"/>
                    <a:pt x="3691891" y="4419600"/>
                    <a:pt x="3315971" y="4408170"/>
                  </a:cubicBezTo>
                  <a:cubicBezTo>
                    <a:pt x="3216911" y="4405630"/>
                    <a:pt x="3205481" y="4406900"/>
                    <a:pt x="3129281" y="4399280"/>
                  </a:cubicBezTo>
                  <a:cubicBezTo>
                    <a:pt x="3002281" y="4387850"/>
                    <a:pt x="2801621" y="4343400"/>
                    <a:pt x="2627631" y="4329430"/>
                  </a:cubicBezTo>
                  <a:cubicBezTo>
                    <a:pt x="2442211" y="4314190"/>
                    <a:pt x="2190751" y="4324350"/>
                    <a:pt x="2045971" y="4315460"/>
                  </a:cubicBezTo>
                  <a:cubicBezTo>
                    <a:pt x="1959611" y="4310380"/>
                    <a:pt x="1929131" y="4309110"/>
                    <a:pt x="1837691" y="4296410"/>
                  </a:cubicBezTo>
                  <a:cubicBezTo>
                    <a:pt x="1657351" y="4273550"/>
                    <a:pt x="1231901" y="4203700"/>
                    <a:pt x="1038861" y="4165600"/>
                  </a:cubicBezTo>
                  <a:cubicBezTo>
                    <a:pt x="928371" y="4144010"/>
                    <a:pt x="869951" y="4131310"/>
                    <a:pt x="781051" y="4105910"/>
                  </a:cubicBezTo>
                  <a:cubicBezTo>
                    <a:pt x="681991" y="4079240"/>
                    <a:pt x="558801" y="4027170"/>
                    <a:pt x="474981" y="4005580"/>
                  </a:cubicBezTo>
                  <a:cubicBezTo>
                    <a:pt x="416561" y="3991610"/>
                    <a:pt x="368301" y="4003040"/>
                    <a:pt x="326391" y="3978910"/>
                  </a:cubicBezTo>
                  <a:cubicBezTo>
                    <a:pt x="281941" y="3954780"/>
                    <a:pt x="243841" y="3903980"/>
                    <a:pt x="215901" y="3859530"/>
                  </a:cubicBezTo>
                  <a:cubicBezTo>
                    <a:pt x="189231" y="3817620"/>
                    <a:pt x="175261" y="3788410"/>
                    <a:pt x="162561" y="3719830"/>
                  </a:cubicBezTo>
                  <a:cubicBezTo>
                    <a:pt x="132081" y="3562350"/>
                    <a:pt x="160021" y="3048000"/>
                    <a:pt x="162561" y="2896870"/>
                  </a:cubicBezTo>
                  <a:cubicBezTo>
                    <a:pt x="163831" y="2840990"/>
                    <a:pt x="162561" y="2821940"/>
                    <a:pt x="167641" y="2780030"/>
                  </a:cubicBezTo>
                  <a:cubicBezTo>
                    <a:pt x="173991" y="2731770"/>
                    <a:pt x="194311" y="2693670"/>
                    <a:pt x="201931" y="2625090"/>
                  </a:cubicBezTo>
                  <a:cubicBezTo>
                    <a:pt x="215901" y="2499360"/>
                    <a:pt x="207011" y="2298700"/>
                    <a:pt x="200661" y="2080260"/>
                  </a:cubicBezTo>
                  <a:cubicBezTo>
                    <a:pt x="191771" y="1753870"/>
                    <a:pt x="157481" y="1037590"/>
                    <a:pt x="138431" y="857250"/>
                  </a:cubicBezTo>
                  <a:cubicBezTo>
                    <a:pt x="132081" y="806450"/>
                    <a:pt x="125731" y="803910"/>
                    <a:pt x="121921" y="759460"/>
                  </a:cubicBezTo>
                  <a:cubicBezTo>
                    <a:pt x="113031" y="659130"/>
                    <a:pt x="95251" y="335280"/>
                    <a:pt x="121921" y="276860"/>
                  </a:cubicBezTo>
                  <a:cubicBezTo>
                    <a:pt x="129541" y="260350"/>
                    <a:pt x="140971" y="250190"/>
                    <a:pt x="149861" y="251460"/>
                  </a:cubicBezTo>
                  <a:cubicBezTo>
                    <a:pt x="158751" y="251460"/>
                    <a:pt x="172721" y="276860"/>
                    <a:pt x="172721" y="276860"/>
                  </a:cubicBezTo>
                </a:path>
              </a:pathLst>
            </a:custGeom>
            <a:solidFill>
              <a:srgbClr val="F0ABC1"/>
            </a:solidFill>
            <a:ln cap="sq">
              <a:noFill/>
              <a:prstDash val="solid"/>
              <a:miter/>
            </a:ln>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95314">
            <a:off x="7413800" y="3958607"/>
            <a:ext cx="4720979" cy="4755565"/>
          </a:xfrm>
          <a:custGeom>
            <a:avLst/>
            <a:gdLst/>
            <a:ahLst/>
            <a:cxnLst/>
            <a:rect r="r" b="b" t="t" l="l"/>
            <a:pathLst>
              <a:path h="4755565" w="4720979">
                <a:moveTo>
                  <a:pt x="0" y="0"/>
                </a:moveTo>
                <a:lnTo>
                  <a:pt x="4720979" y="0"/>
                </a:lnTo>
                <a:lnTo>
                  <a:pt x="4720979" y="4755564"/>
                </a:lnTo>
                <a:lnTo>
                  <a:pt x="0" y="47555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3894082"/>
            <a:ext cx="9309562" cy="5042150"/>
          </a:xfrm>
          <a:custGeom>
            <a:avLst/>
            <a:gdLst/>
            <a:ahLst/>
            <a:cxnLst/>
            <a:rect r="r" b="b" t="t" l="l"/>
            <a:pathLst>
              <a:path h="5042150" w="9309562">
                <a:moveTo>
                  <a:pt x="0" y="0"/>
                </a:moveTo>
                <a:lnTo>
                  <a:pt x="9309562" y="0"/>
                </a:lnTo>
                <a:lnTo>
                  <a:pt x="9309562" y="5042150"/>
                </a:lnTo>
                <a:lnTo>
                  <a:pt x="0" y="5042150"/>
                </a:lnTo>
                <a:lnTo>
                  <a:pt x="0" y="0"/>
                </a:lnTo>
                <a:close/>
              </a:path>
            </a:pathLst>
          </a:custGeom>
          <a:blipFill>
            <a:blip r:embed="rId4"/>
            <a:stretch>
              <a:fillRect l="0" t="0" r="0" b="0"/>
            </a:stretch>
          </a:blipFill>
        </p:spPr>
      </p:sp>
      <p:sp>
        <p:nvSpPr>
          <p:cNvPr name="TextBox 4" id="4"/>
          <p:cNvSpPr txBox="true"/>
          <p:nvPr/>
        </p:nvSpPr>
        <p:spPr>
          <a:xfrm rot="0">
            <a:off x="1028700" y="933450"/>
            <a:ext cx="5658296"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Âm thanh (Audio)</a:t>
            </a:r>
          </a:p>
        </p:txBody>
      </p:sp>
      <p:sp>
        <p:nvSpPr>
          <p:cNvPr name="TextBox 5" id="5"/>
          <p:cNvSpPr txBox="true"/>
          <p:nvPr/>
        </p:nvSpPr>
        <p:spPr>
          <a:xfrm rot="0">
            <a:off x="1028700" y="2627244"/>
            <a:ext cx="15030152" cy="537845"/>
          </a:xfrm>
          <a:prstGeom prst="rect">
            <a:avLst/>
          </a:prstGeom>
        </p:spPr>
        <p:txBody>
          <a:bodyPr anchor="t" rtlCol="false" tIns="0" lIns="0" bIns="0" rIns="0">
            <a:spAutoFit/>
          </a:bodyPr>
          <a:lstStyle/>
          <a:p>
            <a:pPr algn="l">
              <a:lnSpc>
                <a:spcPts val="4480"/>
              </a:lnSpc>
              <a:spcBef>
                <a:spcPct val="0"/>
              </a:spcBef>
            </a:pPr>
            <a:r>
              <a:rPr lang="en-US" sz="3200">
                <a:solidFill>
                  <a:srgbClr val="2B4B82"/>
                </a:solidFill>
                <a:latin typeface="Canva Sans"/>
                <a:ea typeface="Canva Sans"/>
                <a:cs typeface="Canva Sans"/>
                <a:sym typeface="Canva Sans"/>
              </a:rPr>
              <a:t>Ví dụ: Messenger hoặc zalo Khi nhận tin nhắn, có âm thanh nhỏ để thông báo.</a:t>
            </a:r>
          </a:p>
        </p:txBody>
      </p:sp>
      <p:sp>
        <p:nvSpPr>
          <p:cNvPr name="TextBox 6" id="6"/>
          <p:cNvSpPr txBox="true"/>
          <p:nvPr/>
        </p:nvSpPr>
        <p:spPr>
          <a:xfrm rot="0">
            <a:off x="12664392" y="5286773"/>
            <a:ext cx="2626965"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tin tin ...</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7B4A7"/>
        </a:solidFill>
      </p:bgPr>
    </p:bg>
    <p:spTree>
      <p:nvGrpSpPr>
        <p:cNvPr id="1" name=""/>
        <p:cNvGrpSpPr/>
        <p:nvPr/>
      </p:nvGrpSpPr>
      <p:grpSpPr>
        <a:xfrm>
          <a:off x="0" y="0"/>
          <a:ext cx="0" cy="0"/>
          <a:chOff x="0" y="0"/>
          <a:chExt cx="0" cy="0"/>
        </a:xfrm>
      </p:grpSpPr>
      <p:sp>
        <p:nvSpPr>
          <p:cNvPr name="TextBox 2" id="2"/>
          <p:cNvSpPr txBox="true"/>
          <p:nvPr/>
        </p:nvSpPr>
        <p:spPr>
          <a:xfrm rot="0">
            <a:off x="1028700" y="1703849"/>
            <a:ext cx="16230600" cy="3658870"/>
          </a:xfrm>
          <a:prstGeom prst="rect">
            <a:avLst/>
          </a:prstGeom>
        </p:spPr>
        <p:txBody>
          <a:bodyPr anchor="t" rtlCol="false" tIns="0" lIns="0" bIns="0" rIns="0">
            <a:spAutoFit/>
          </a:bodyPr>
          <a:lstStyle/>
          <a:p>
            <a:pPr algn="l">
              <a:lnSpc>
                <a:spcPts val="7279"/>
              </a:lnSpc>
              <a:spcBef>
                <a:spcPct val="0"/>
              </a:spcBef>
            </a:pPr>
            <a:r>
              <a:rPr lang="en-US" b="true" sz="5199">
                <a:solidFill>
                  <a:srgbClr val="000000"/>
                </a:solidFill>
                <a:latin typeface="Canva Sans Bold"/>
                <a:ea typeface="Canva Sans Bold"/>
                <a:cs typeface="Canva Sans Bold"/>
                <a:sym typeface="Canva Sans Bold"/>
              </a:rPr>
              <a:t> </a:t>
            </a:r>
            <a:r>
              <a:rPr lang="en-US" b="true" sz="5199">
                <a:solidFill>
                  <a:srgbClr val="2B4B82"/>
                </a:solidFill>
                <a:latin typeface="Canva Sans Bold"/>
                <a:ea typeface="Canva Sans Bold"/>
                <a:cs typeface="Canva Sans Bold"/>
                <a:sym typeface="Canva Sans Bold"/>
              </a:rPr>
              <a:t>Lưu ý: </a:t>
            </a:r>
          </a:p>
          <a:p>
            <a:pPr algn="l" marL="1122679" indent="-561340" lvl="1">
              <a:lnSpc>
                <a:spcPts val="7279"/>
              </a:lnSpc>
              <a:buFont typeface="Arial"/>
              <a:buChar char="•"/>
            </a:pPr>
            <a:r>
              <a:rPr lang="en-US" b="true" sz="5199">
                <a:solidFill>
                  <a:srgbClr val="2B4B82"/>
                </a:solidFill>
                <a:latin typeface="Canva Sans Bold"/>
                <a:ea typeface="Canva Sans Bold"/>
                <a:cs typeface="Canva Sans Bold"/>
                <a:sym typeface="Canva Sans Bold"/>
              </a:rPr>
              <a:t>Không lạm dụng các yếu tố trên vì có thể gây quá tải thông tin và làm phiền người dùng. </a:t>
            </a:r>
          </a:p>
          <a:p>
            <a:pPr algn="l" marL="1122679" indent="-561340" lvl="1">
              <a:lnSpc>
                <a:spcPts val="7279"/>
              </a:lnSpc>
              <a:buFont typeface="Arial"/>
              <a:buChar char="•"/>
            </a:pPr>
            <a:r>
              <a:rPr lang="en-US" b="true" sz="5199">
                <a:solidFill>
                  <a:srgbClr val="2B4B82"/>
                </a:solidFill>
                <a:latin typeface="Canva Sans Bold"/>
                <a:ea typeface="Canva Sans Bold"/>
                <a:cs typeface="Canva Sans Bold"/>
                <a:sym typeface="Canva Sans Bold"/>
              </a:rPr>
              <a:t>Chỉ sử dụng cảnh báo khi thực sự cần thiết.</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0" y="468317"/>
            <a:ext cx="18288000" cy="1811020"/>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Người dùng – Nhận thức (Cognition): Tri giác (Perception)</a:t>
            </a:r>
          </a:p>
        </p:txBody>
      </p:sp>
      <p:sp>
        <p:nvSpPr>
          <p:cNvPr name="TextBox 3" id="3"/>
          <p:cNvSpPr txBox="true"/>
          <p:nvPr/>
        </p:nvSpPr>
        <p:spPr>
          <a:xfrm rot="0">
            <a:off x="1028700" y="2184087"/>
            <a:ext cx="4106466"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Tri giác là gì?</a:t>
            </a:r>
          </a:p>
        </p:txBody>
      </p:sp>
      <p:sp>
        <p:nvSpPr>
          <p:cNvPr name="TextBox 4" id="4"/>
          <p:cNvSpPr txBox="true"/>
          <p:nvPr/>
        </p:nvSpPr>
        <p:spPr>
          <a:xfrm rot="0">
            <a:off x="1028700" y="3282075"/>
            <a:ext cx="16230600" cy="6137148"/>
          </a:xfrm>
          <a:prstGeom prst="rect">
            <a:avLst/>
          </a:prstGeom>
        </p:spPr>
        <p:txBody>
          <a:bodyPr anchor="t" rtlCol="false" tIns="0" lIns="0" bIns="0" rIns="0">
            <a:spAutoFit/>
          </a:bodyPr>
          <a:lstStyle/>
          <a:p>
            <a:pPr algn="l">
              <a:lnSpc>
                <a:spcPts val="5405"/>
              </a:lnSpc>
            </a:pPr>
            <a:r>
              <a:rPr lang="en-US" sz="3399">
                <a:solidFill>
                  <a:srgbClr val="2B4B82"/>
                </a:solidFill>
                <a:latin typeface="Canva Sans"/>
                <a:ea typeface="Canva Sans"/>
                <a:cs typeface="Canva Sans"/>
                <a:sym typeface="Canva Sans"/>
              </a:rPr>
              <a:t>Tri giác (Perception) là quá trình nhận biết và hiểu thông tin từ môi trường thông qua các giác quan.</a:t>
            </a:r>
          </a:p>
          <a:p>
            <a:pPr algn="l">
              <a:lnSpc>
                <a:spcPts val="5405"/>
              </a:lnSpc>
            </a:pPr>
            <a:r>
              <a:rPr lang="en-US" b="true" sz="3399">
                <a:solidFill>
                  <a:srgbClr val="2B4B82"/>
                </a:solidFill>
                <a:latin typeface="Canva Sans Bold"/>
                <a:ea typeface="Canva Sans Bold"/>
                <a:cs typeface="Canva Sans Bold"/>
                <a:sym typeface="Canva Sans Bold"/>
              </a:rPr>
              <a:t>Đặc điểm của tri giác:</a:t>
            </a:r>
          </a:p>
          <a:p>
            <a:pPr algn="l" marL="734059" indent="-367030" lvl="1">
              <a:lnSpc>
                <a:spcPts val="5405"/>
              </a:lnSpc>
              <a:buFont typeface="Arial"/>
              <a:buChar char="•"/>
            </a:pPr>
            <a:r>
              <a:rPr lang="en-US" sz="3399">
                <a:solidFill>
                  <a:srgbClr val="2B4B82"/>
                </a:solidFill>
                <a:latin typeface="Canva Sans"/>
                <a:ea typeface="Canva Sans"/>
                <a:cs typeface="Canva Sans"/>
                <a:sym typeface="Canva Sans"/>
              </a:rPr>
              <a:t>Nhận thức thông tin thông qua giác quan: Con người sử dụng thị giác, thính giác, xúc giác để tiếp nhận thông tin.</a:t>
            </a:r>
          </a:p>
          <a:p>
            <a:pPr algn="l" marL="734059" indent="-367030" lvl="1">
              <a:lnSpc>
                <a:spcPts val="5405"/>
              </a:lnSpc>
              <a:buFont typeface="Arial"/>
              <a:buChar char="•"/>
            </a:pPr>
            <a:r>
              <a:rPr lang="en-US" sz="3399">
                <a:solidFill>
                  <a:srgbClr val="2B4B82"/>
                </a:solidFill>
                <a:latin typeface="Canva Sans"/>
                <a:ea typeface="Canva Sans"/>
                <a:cs typeface="Canva Sans"/>
                <a:sym typeface="Canva Sans"/>
              </a:rPr>
              <a:t>Diễn giải thông tin: Không chỉ tiếp nhận, bộ não còn phân tích và gán ý nghĩa cho dữ liệu nhận được.</a:t>
            </a:r>
          </a:p>
          <a:p>
            <a:pPr algn="l" marL="734059" indent="-367030" lvl="1">
              <a:lnSpc>
                <a:spcPts val="5405"/>
              </a:lnSpc>
              <a:buFont typeface="Arial"/>
              <a:buChar char="•"/>
            </a:pPr>
            <a:r>
              <a:rPr lang="en-US" sz="3399">
                <a:solidFill>
                  <a:srgbClr val="2B4B82"/>
                </a:solidFill>
                <a:latin typeface="Canva Sans"/>
                <a:ea typeface="Canva Sans"/>
                <a:cs typeface="Canva Sans"/>
                <a:sym typeface="Canva Sans"/>
              </a:rPr>
              <a:t>Bị ảnh hưởng bởi bối cảnh: Cùng một hình ảnh hoặc âm thanh nhưng có thể được hiểu khác nhau tùy vào tình huống.</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8198197"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 Thiết kế để hỗ trợ tri giác</a:t>
            </a:r>
          </a:p>
        </p:txBody>
      </p:sp>
      <p:sp>
        <p:nvSpPr>
          <p:cNvPr name="TextBox 3" id="3"/>
          <p:cNvSpPr txBox="true"/>
          <p:nvPr/>
        </p:nvSpPr>
        <p:spPr>
          <a:xfrm rot="0">
            <a:off x="1028700" y="2166665"/>
            <a:ext cx="16230600" cy="7156450"/>
          </a:xfrm>
          <a:prstGeom prst="rect">
            <a:avLst/>
          </a:prstGeom>
        </p:spPr>
        <p:txBody>
          <a:bodyPr anchor="t" rtlCol="false" tIns="0" lIns="0" bIns="0" rIns="0">
            <a:spAutoFit/>
          </a:bodyPr>
          <a:lstStyle/>
          <a:p>
            <a:pPr algn="l">
              <a:lnSpc>
                <a:spcPts val="3639"/>
              </a:lnSpc>
              <a:spcBef>
                <a:spcPct val="0"/>
              </a:spcBef>
            </a:pPr>
            <a:r>
              <a:rPr lang="en-US" sz="2599">
                <a:solidFill>
                  <a:srgbClr val="2B4B82"/>
                </a:solidFill>
                <a:latin typeface="Canva Sans"/>
                <a:ea typeface="Canva Sans"/>
                <a:cs typeface="Canva Sans"/>
                <a:sym typeface="Canva Sans"/>
              </a:rPr>
              <a:t>Để giúp người dùng dễ dàng tiếp nhận thông tin, thiết kế cần tận dụng các nguyên tắc phù hợp với cách con người tri giác.</a:t>
            </a:r>
          </a:p>
          <a:p>
            <a:pPr algn="l">
              <a:lnSpc>
                <a:spcPts val="3639"/>
              </a:lnSpc>
              <a:spcBef>
                <a:spcPct val="0"/>
              </a:spcBef>
            </a:pPr>
            <a:r>
              <a:rPr lang="en-US" sz="2599">
                <a:solidFill>
                  <a:srgbClr val="2B4B82"/>
                </a:solidFill>
                <a:latin typeface="Canva Sans"/>
                <a:ea typeface="Canva Sans"/>
                <a:cs typeface="Canva Sans"/>
                <a:sym typeface="Canva Sans"/>
              </a:rPr>
              <a:t> Các yếu tố quan trọng:</a:t>
            </a:r>
          </a:p>
          <a:p>
            <a:pPr algn="l" marL="561339" indent="-280669" lvl="1">
              <a:lnSpc>
                <a:spcPts val="3639"/>
              </a:lnSpc>
              <a:buFont typeface="Arial"/>
              <a:buChar char="•"/>
            </a:pPr>
            <a:r>
              <a:rPr lang="en-US" sz="2599">
                <a:solidFill>
                  <a:srgbClr val="2B4B82"/>
                </a:solidFill>
                <a:latin typeface="Canva Sans"/>
                <a:ea typeface="Canva Sans"/>
                <a:cs typeface="Canva Sans"/>
                <a:sym typeface="Canva Sans"/>
              </a:rPr>
              <a:t> Văn bản (Text): Phải dễ đọc với kích thước phù hợp, độ tương phản cao và kiểu chữ rõ ràng. Ví dụ : Khi tìm kiếm trên google, các tiêu đề của các trang web luôn được tô đậm và kích cỡ lớn hơn</a:t>
            </a:r>
          </a:p>
          <a:p>
            <a:pPr algn="l" marL="561339" indent="-280669" lvl="1">
              <a:lnSpc>
                <a:spcPts val="3639"/>
              </a:lnSpc>
              <a:spcBef>
                <a:spcPct val="0"/>
              </a:spcBef>
              <a:buFont typeface="Arial"/>
              <a:buChar char="•"/>
            </a:pPr>
            <a:r>
              <a:rPr lang="en-US" sz="2599">
                <a:solidFill>
                  <a:srgbClr val="2B4B82"/>
                </a:solidFill>
                <a:latin typeface="Canva Sans"/>
                <a:ea typeface="Canva Sans"/>
                <a:cs typeface="Canva Sans"/>
                <a:sym typeface="Canva Sans"/>
              </a:rPr>
              <a:t>Biểu tượng &amp; Đồ họa (Icons &amp; Graphical Objects): Phải có thiết kế dễ nhận biết, tránh gây nhầm lẫn với các biểu tượng khác. Ví dụ : Trong email biểu tượng Icon thùng rác luôn là xóa</a:t>
            </a:r>
          </a:p>
          <a:p>
            <a:pPr algn="l" marL="561339" indent="-280669" lvl="1">
              <a:lnSpc>
                <a:spcPts val="3639"/>
              </a:lnSpc>
              <a:spcBef>
                <a:spcPct val="0"/>
              </a:spcBef>
              <a:buFont typeface="Arial"/>
              <a:buChar char="•"/>
            </a:pPr>
            <a:r>
              <a:rPr lang="en-US" sz="2599">
                <a:solidFill>
                  <a:srgbClr val="2B4B82"/>
                </a:solidFill>
                <a:latin typeface="Canva Sans"/>
                <a:ea typeface="Canva Sans"/>
                <a:cs typeface="Canva Sans"/>
                <a:sym typeface="Canva Sans"/>
              </a:rPr>
              <a:t>Âm thanh (Sound): Phải có âm lượng đủ nghe và mang ý nghĩa rõ ràng (ví dụ: âm báo lỗi khác với âm báo thành công). Ví dụ: Messenger Khi nhận tin nhắn, có âm thanh nhỏ để thông báo.</a:t>
            </a:r>
          </a:p>
          <a:p>
            <a:pPr algn="l" marL="561339" indent="-280669" lvl="1">
              <a:lnSpc>
                <a:spcPts val="3639"/>
              </a:lnSpc>
              <a:spcBef>
                <a:spcPct val="0"/>
              </a:spcBef>
              <a:buFont typeface="Arial"/>
              <a:buChar char="•"/>
            </a:pPr>
            <a:r>
              <a:rPr lang="en-US" sz="2599">
                <a:solidFill>
                  <a:srgbClr val="2B4B82"/>
                </a:solidFill>
                <a:latin typeface="Canva Sans"/>
                <a:ea typeface="Canva Sans"/>
                <a:cs typeface="Canva Sans"/>
                <a:sym typeface="Canva Sans"/>
              </a:rPr>
              <a:t> Viền &amp; Khoảng cách (Bordering &amp; Spacing): Sử dụng đường viền và khoảng trắng hợp lý để phân biệt nội dung và nhóm thông tin.Ví dụ: Airbnb, Booking.com Sử dụng khung viền nhẹ để phân biệt giữa các phần như thông tin khách sạn, giá cả, đánh giá.</a:t>
            </a:r>
          </a:p>
          <a:p>
            <a:pPr algn="l">
              <a:lnSpc>
                <a:spcPts val="3359"/>
              </a:lnSpc>
              <a:spcBef>
                <a:spcPct val="0"/>
              </a:spcBef>
            </a:pPr>
          </a:p>
          <a:p>
            <a:pPr algn="l">
              <a:lnSpc>
                <a:spcPts val="3359"/>
              </a:lnSpc>
              <a:spcBef>
                <a:spcPct val="0"/>
              </a:spcBef>
            </a:pPr>
            <a:r>
              <a:rPr lang="en-US" sz="2400">
                <a:solidFill>
                  <a:srgbClr val="2B4B82"/>
                </a:solidFill>
                <a:latin typeface="Canva Sans"/>
                <a:ea typeface="Canva Sans"/>
                <a:cs typeface="Canva Sans"/>
                <a:sym typeface="Canva Sans"/>
              </a:rPr>
              <a:t>Lưu ý: Nếu thiết kế không hỗ trợ tốt cho tri giác, người dùng có thể bỏ sót thông tin hoặc hiểu sai ý nghĩa của nó, dẫn đến trải nghiệm kém.</a:t>
            </a:r>
          </a:p>
          <a:p>
            <a:pPr algn="l">
              <a:lnSpc>
                <a:spcPts val="3359"/>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134441" y="75565"/>
            <a:ext cx="16230600" cy="1811020"/>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Người dùng – Nhận thức (Cognition): Trí nhớ (Memory)</a:t>
            </a:r>
          </a:p>
        </p:txBody>
      </p:sp>
      <p:sp>
        <p:nvSpPr>
          <p:cNvPr name="TextBox 3" id="3"/>
          <p:cNvSpPr txBox="true"/>
          <p:nvPr/>
        </p:nvSpPr>
        <p:spPr>
          <a:xfrm rot="0">
            <a:off x="1134441" y="1933273"/>
            <a:ext cx="408533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Trí nhớ là gì?</a:t>
            </a:r>
          </a:p>
        </p:txBody>
      </p:sp>
      <p:sp>
        <p:nvSpPr>
          <p:cNvPr name="TextBox 4" id="4"/>
          <p:cNvSpPr txBox="true"/>
          <p:nvPr/>
        </p:nvSpPr>
        <p:spPr>
          <a:xfrm rot="0">
            <a:off x="1028700" y="2906093"/>
            <a:ext cx="16127862" cy="5929630"/>
          </a:xfrm>
          <a:prstGeom prst="rect">
            <a:avLst/>
          </a:prstGeom>
        </p:spPr>
        <p:txBody>
          <a:bodyPr anchor="t" rtlCol="false" tIns="0" lIns="0" bIns="0" rIns="0">
            <a:spAutoFit/>
          </a:bodyPr>
          <a:lstStyle/>
          <a:p>
            <a:pPr algn="l">
              <a:lnSpc>
                <a:spcPts val="3919"/>
              </a:lnSpc>
              <a:spcBef>
                <a:spcPct val="0"/>
              </a:spcBef>
            </a:pPr>
            <a:r>
              <a:rPr lang="en-US" sz="2799">
                <a:solidFill>
                  <a:srgbClr val="2B4B82"/>
                </a:solidFill>
                <a:latin typeface="Canva Sans"/>
                <a:ea typeface="Canva Sans"/>
                <a:cs typeface="Canva Sans"/>
                <a:sym typeface="Canva Sans"/>
              </a:rPr>
              <a:t>Trí nhớ là khả năng ghi nhớ và hồi tưởng thông tin, giúp người dùng thực hiện các hành động đúng đắn dựa trên kinh nghiệm trước đó.</a:t>
            </a:r>
          </a:p>
          <a:p>
            <a:pPr algn="l">
              <a:lnSpc>
                <a:spcPts val="3919"/>
              </a:lnSpc>
              <a:spcBef>
                <a:spcPct val="0"/>
              </a:spcBef>
            </a:pPr>
          </a:p>
          <a:p>
            <a:pPr algn="l">
              <a:lnSpc>
                <a:spcPts val="3919"/>
              </a:lnSpc>
              <a:spcBef>
                <a:spcPct val="0"/>
              </a:spcBef>
            </a:pPr>
            <a:r>
              <a:rPr lang="en-US" b="true" sz="2799">
                <a:solidFill>
                  <a:srgbClr val="2B4B82"/>
                </a:solidFill>
                <a:latin typeface="Canva Sans Bold"/>
                <a:ea typeface="Canva Sans Bold"/>
                <a:cs typeface="Canva Sans Bold"/>
                <a:sym typeface="Canva Sans Bold"/>
              </a:rPr>
              <a:t>Đặc điểm của trí nhớ:</a:t>
            </a:r>
          </a:p>
          <a:p>
            <a:pPr algn="l" marL="604519" indent="-302260" lvl="1">
              <a:lnSpc>
                <a:spcPts val="3919"/>
              </a:lnSpc>
              <a:buFont typeface="Arial"/>
              <a:buChar char="•"/>
            </a:pPr>
            <a:r>
              <a:rPr lang="en-US" sz="2799">
                <a:solidFill>
                  <a:srgbClr val="2B4B82"/>
                </a:solidFill>
                <a:latin typeface="Canva Sans"/>
                <a:ea typeface="Canva Sans"/>
                <a:cs typeface="Canva Sans"/>
                <a:sym typeface="Canva Sans"/>
              </a:rPr>
              <a:t>Không nhớ mọi thứ, chỉ chọn lọc những gì quan trọng dựa trên sự chú ý và tri giác.</a:t>
            </a:r>
          </a:p>
          <a:p>
            <a:pPr algn="l" marL="604519" indent="-302260" lvl="1">
              <a:lnSpc>
                <a:spcPts val="3919"/>
              </a:lnSpc>
              <a:buFont typeface="Arial"/>
              <a:buChar char="•"/>
            </a:pPr>
            <a:r>
              <a:rPr lang="en-US" sz="2799">
                <a:solidFill>
                  <a:srgbClr val="2B4B82"/>
                </a:solidFill>
                <a:latin typeface="Canva Sans"/>
                <a:ea typeface="Canva Sans"/>
                <a:cs typeface="Canva Sans"/>
                <a:sym typeface="Canva Sans"/>
              </a:rPr>
              <a:t>Bối cảnh ảnh hưởng đến trí nhớ: Người dùng nhớ tốt hơn nếu thông tin được đặt trong bối cảnh quen thuộc.</a:t>
            </a:r>
          </a:p>
          <a:p>
            <a:pPr algn="l" marL="604519" indent="-302260" lvl="1">
              <a:lnSpc>
                <a:spcPts val="3919"/>
              </a:lnSpc>
              <a:buFont typeface="Arial"/>
              <a:buChar char="•"/>
            </a:pPr>
            <a:r>
              <a:rPr lang="en-US" sz="2799">
                <a:solidFill>
                  <a:srgbClr val="2B4B82"/>
                </a:solidFill>
                <a:latin typeface="Canva Sans"/>
                <a:ea typeface="Canva Sans"/>
                <a:cs typeface="Canva Sans"/>
                <a:sym typeface="Canva Sans"/>
              </a:rPr>
              <a:t>Con người giỏi nhận diện hơn là hồi tưởng:</a:t>
            </a:r>
          </a:p>
          <a:p>
            <a:pPr algn="l" marL="1209039" indent="-403013" lvl="2">
              <a:lnSpc>
                <a:spcPts val="3919"/>
              </a:lnSpc>
              <a:buFont typeface="Arial"/>
              <a:buChar char="⚬"/>
            </a:pPr>
            <a:r>
              <a:rPr lang="en-US" sz="2799">
                <a:solidFill>
                  <a:srgbClr val="2B4B82"/>
                </a:solidFill>
                <a:latin typeface="Canva Sans"/>
                <a:ea typeface="Canva Sans"/>
                <a:cs typeface="Canva Sans"/>
                <a:sym typeface="Canva Sans"/>
              </a:rPr>
              <a:t>Nhận diện (Recognition): Dễ dàng nhận ra hình ảnh, biểu tượng quen thuộc hơn là nhớ lại thông tin từ đầu.</a:t>
            </a:r>
          </a:p>
          <a:p>
            <a:pPr algn="l" marL="1209039" indent="-403013" lvl="2">
              <a:lnSpc>
                <a:spcPts val="3919"/>
              </a:lnSpc>
              <a:spcBef>
                <a:spcPct val="0"/>
              </a:spcBef>
              <a:buFont typeface="Arial"/>
              <a:buChar char="⚬"/>
            </a:pPr>
            <a:r>
              <a:rPr lang="en-US" sz="2799">
                <a:solidFill>
                  <a:srgbClr val="2B4B82"/>
                </a:solidFill>
                <a:latin typeface="Canva Sans"/>
                <a:ea typeface="Canva Sans"/>
                <a:cs typeface="Canva Sans"/>
                <a:sym typeface="Canva Sans"/>
              </a:rPr>
              <a:t>Hình ảnh dễ nhớ hơn văn bản: Một biểu tượng có thể giúp người dùng nhớ nhanh hơn so với chữ viết</a:t>
            </a:r>
            <a:r>
              <a:rPr lang="en-US" sz="2799">
                <a:solidFill>
                  <a:srgbClr val="2B4B82"/>
                </a:solidFill>
                <a:latin typeface="Canva Sans"/>
                <a:ea typeface="Canva Sans"/>
                <a:cs typeface="Canva Sans"/>
                <a:sym typeface="Canva Sans"/>
              </a:rPr>
              <a:t>.</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8021389"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2B4B82"/>
                </a:solidFill>
                <a:latin typeface="Canva Sans Bold"/>
                <a:ea typeface="Canva Sans Bold"/>
                <a:cs typeface="Canva Sans Bold"/>
                <a:sym typeface="Canva Sans Bold"/>
              </a:rPr>
              <a:t>Thiết kế để hỗ trợ trí nhớ</a:t>
            </a:r>
          </a:p>
        </p:txBody>
      </p:sp>
      <p:sp>
        <p:nvSpPr>
          <p:cNvPr name="TextBox 3" id="3"/>
          <p:cNvSpPr txBox="true"/>
          <p:nvPr/>
        </p:nvSpPr>
        <p:spPr>
          <a:xfrm rot="0">
            <a:off x="1028700" y="2336774"/>
            <a:ext cx="16230600" cy="7520940"/>
          </a:xfrm>
          <a:prstGeom prst="rect">
            <a:avLst/>
          </a:prstGeom>
        </p:spPr>
        <p:txBody>
          <a:bodyPr anchor="t" rtlCol="false" tIns="0" lIns="0" bIns="0" rIns="0">
            <a:spAutoFit/>
          </a:bodyPr>
          <a:lstStyle/>
          <a:p>
            <a:pPr algn="l">
              <a:lnSpc>
                <a:spcPts val="3359"/>
              </a:lnSpc>
              <a:spcBef>
                <a:spcPct val="0"/>
              </a:spcBef>
            </a:pPr>
            <a:r>
              <a:rPr lang="en-US" sz="2400">
                <a:solidFill>
                  <a:srgbClr val="2B4B82"/>
                </a:solidFill>
                <a:latin typeface="Canva Sans"/>
                <a:ea typeface="Canva Sans"/>
                <a:cs typeface="Canva Sans"/>
                <a:sym typeface="Canva Sans"/>
              </a:rPr>
              <a:t>Vì trí nhớ con người có giới hạn, thiết kế giao diện cần giúp người dùng dễ dàng nhận diện và ghi nhớ thông tin.</a:t>
            </a:r>
          </a:p>
          <a:p>
            <a:pPr algn="l">
              <a:lnSpc>
                <a:spcPts val="3359"/>
              </a:lnSpc>
              <a:spcBef>
                <a:spcPct val="0"/>
              </a:spcBef>
            </a:pPr>
            <a:r>
              <a:rPr lang="en-US" sz="2400">
                <a:solidFill>
                  <a:srgbClr val="2B4B82"/>
                </a:solidFill>
                <a:latin typeface="Canva Sans"/>
                <a:ea typeface="Canva Sans"/>
                <a:cs typeface="Canva Sans"/>
                <a:sym typeface="Canva Sans"/>
              </a:rPr>
              <a:t> Các nguyên tắc thiết kế:</a:t>
            </a:r>
          </a:p>
          <a:p>
            <a:pPr algn="l" marL="518160" indent="-259080" lvl="1">
              <a:lnSpc>
                <a:spcPts val="3359"/>
              </a:lnSpc>
              <a:buFont typeface="Arial"/>
              <a:buChar char="•"/>
            </a:pPr>
            <a:r>
              <a:rPr lang="en-US" sz="2400">
                <a:solidFill>
                  <a:srgbClr val="2B4B82"/>
                </a:solidFill>
                <a:latin typeface="Canva Sans"/>
                <a:ea typeface="Canva Sans"/>
                <a:cs typeface="Canva Sans"/>
                <a:sym typeface="Canva Sans"/>
              </a:rPr>
              <a:t>Tránh quá tải trí nhớ: Không bắt người dùng nhớ quá nhiều quy trình phức tạp.Ví dụ: Google Search Người dùng không cần nhớ cú pháp tìm kiếm phức tạp, chỉ cần nhập từ khóa tự nhiên.</a:t>
            </a:r>
          </a:p>
          <a:p>
            <a:pPr algn="l" marL="518160" indent="-259080" lvl="1">
              <a:lnSpc>
                <a:spcPts val="3359"/>
              </a:lnSpc>
              <a:buFont typeface="Arial"/>
              <a:buChar char="•"/>
            </a:pPr>
            <a:r>
              <a:rPr lang="en-US" sz="2400">
                <a:solidFill>
                  <a:srgbClr val="2B4B82"/>
                </a:solidFill>
                <a:latin typeface="Canva Sans"/>
                <a:ea typeface="Canva Sans"/>
                <a:cs typeface="Canva Sans"/>
                <a:sym typeface="Canva Sans"/>
              </a:rPr>
              <a:t>Hỗ trợ nhận diện: Dùng menu, biểu tượng và chức năng nhất quán để người dùng dễ dàng nhớ cách sử dụng.Ví dụ khi tìm kiếm trong google biểu tượng micro để người dùng dễ dàng biết cách sử dụng lời nói để tìm kiếm </a:t>
            </a:r>
          </a:p>
          <a:p>
            <a:pPr algn="l" marL="518160" indent="-259080" lvl="1">
              <a:lnSpc>
                <a:spcPts val="3359"/>
              </a:lnSpc>
              <a:spcBef>
                <a:spcPct val="0"/>
              </a:spcBef>
              <a:buFont typeface="Arial"/>
              <a:buChar char="•"/>
            </a:pPr>
            <a:r>
              <a:rPr lang="en-US" sz="2400">
                <a:solidFill>
                  <a:srgbClr val="2B4B82"/>
                </a:solidFill>
                <a:latin typeface="Canva Sans"/>
                <a:ea typeface="Canva Sans"/>
                <a:cs typeface="Canva Sans"/>
                <a:sym typeface="Canva Sans"/>
              </a:rPr>
              <a:t>Cung cấp công cụ hỗ trợ ghi nhớ:</a:t>
            </a:r>
          </a:p>
          <a:p>
            <a:pPr algn="l" marL="1036320" indent="-345440" lvl="2">
              <a:lnSpc>
                <a:spcPts val="3359"/>
              </a:lnSpc>
              <a:spcBef>
                <a:spcPct val="0"/>
              </a:spcBef>
              <a:buFont typeface="Arial"/>
              <a:buChar char="⚬"/>
            </a:pPr>
            <a:r>
              <a:rPr lang="en-US" sz="2400">
                <a:solidFill>
                  <a:srgbClr val="2B4B82"/>
                </a:solidFill>
                <a:latin typeface="Canva Sans"/>
                <a:ea typeface="Canva Sans"/>
                <a:cs typeface="Canva Sans"/>
                <a:sym typeface="Canva Sans"/>
              </a:rPr>
              <a:t>Màu sắc (Color): Giúp phân loại thông tin quan trọng. Ví dụ Email chưa đọc có nền đậm, dễ phân biệt với email đã đọc.</a:t>
            </a:r>
          </a:p>
          <a:p>
            <a:pPr algn="l" marL="1036320" indent="-345440" lvl="2">
              <a:lnSpc>
                <a:spcPts val="3359"/>
              </a:lnSpc>
              <a:spcBef>
                <a:spcPct val="0"/>
              </a:spcBef>
              <a:buFont typeface="Arial"/>
              <a:buChar char="⚬"/>
            </a:pPr>
            <a:r>
              <a:rPr lang="en-US" sz="2400">
                <a:solidFill>
                  <a:srgbClr val="2B4B82"/>
                </a:solidFill>
                <a:latin typeface="Canva Sans"/>
                <a:ea typeface="Canva Sans"/>
                <a:cs typeface="Canva Sans"/>
                <a:sym typeface="Canva Sans"/>
              </a:rPr>
              <a:t>Gắn cờ (Flagging): Đánh dấu nội dung cần chú ý.Ví dụ: Outlook / Gmail Người dùng có thể gắn cờ (flag) email quan trọng để ưu tiên xử lý sau.</a:t>
            </a:r>
          </a:p>
          <a:p>
            <a:pPr algn="l" marL="1036320" indent="-345440" lvl="2">
              <a:lnSpc>
                <a:spcPts val="3359"/>
              </a:lnSpc>
              <a:spcBef>
                <a:spcPct val="0"/>
              </a:spcBef>
              <a:buFont typeface="Arial"/>
              <a:buChar char="⚬"/>
            </a:pPr>
            <a:r>
              <a:rPr lang="en-US" sz="2400">
                <a:solidFill>
                  <a:srgbClr val="2B4B82"/>
                </a:solidFill>
                <a:latin typeface="Canva Sans"/>
                <a:ea typeface="Canva Sans"/>
                <a:cs typeface="Canva Sans"/>
                <a:sym typeface="Canva Sans"/>
              </a:rPr>
              <a:t>Danh mục (Category): Nhóm thông tin theo chủ đề để dễ tìm kiếm. </a:t>
            </a:r>
            <a:r>
              <a:rPr lang="en-US" b="true" sz="2400">
                <a:solidFill>
                  <a:srgbClr val="2B4B82"/>
                </a:solidFill>
                <a:latin typeface="Canva Sans Bold"/>
                <a:ea typeface="Canva Sans Bold"/>
                <a:cs typeface="Canva Sans Bold"/>
                <a:sym typeface="Canva Sans Bold"/>
              </a:rPr>
              <a:t>Ví dụ</a:t>
            </a:r>
            <a:r>
              <a:rPr lang="en-US" sz="2400">
                <a:solidFill>
                  <a:srgbClr val="2B4B82"/>
                </a:solidFill>
                <a:latin typeface="Canva Sans"/>
                <a:ea typeface="Canva Sans"/>
                <a:cs typeface="Canva Sans"/>
                <a:sym typeface="Canva Sans"/>
              </a:rPr>
              <a:t> danh mục các sản phẩm trong</a:t>
            </a:r>
            <a:r>
              <a:rPr lang="en-US" b="true" sz="2400">
                <a:solidFill>
                  <a:srgbClr val="2B4B82"/>
                </a:solidFill>
                <a:latin typeface="Canva Sans Bold"/>
                <a:ea typeface="Canva Sans Bold"/>
                <a:cs typeface="Canva Sans Bold"/>
                <a:sym typeface="Canva Sans Bold"/>
              </a:rPr>
              <a:t> amazon</a:t>
            </a:r>
            <a:r>
              <a:rPr lang="en-US" sz="2400">
                <a:solidFill>
                  <a:srgbClr val="2B4B82"/>
                </a:solidFill>
                <a:latin typeface="Canva Sans"/>
                <a:ea typeface="Canva Sans"/>
                <a:cs typeface="Canva Sans"/>
                <a:sym typeface="Canva Sans"/>
              </a:rPr>
              <a:t> được nhóm theo từng loại</a:t>
            </a:r>
          </a:p>
          <a:p>
            <a:pPr algn="l">
              <a:lnSpc>
                <a:spcPts val="3359"/>
              </a:lnSpc>
              <a:spcBef>
                <a:spcPct val="0"/>
              </a:spcBef>
            </a:pPr>
          </a:p>
          <a:p>
            <a:pPr algn="l">
              <a:lnSpc>
                <a:spcPts val="3359"/>
              </a:lnSpc>
              <a:spcBef>
                <a:spcPct val="0"/>
              </a:spcBef>
            </a:pPr>
            <a:r>
              <a:rPr lang="en-US" sz="2400">
                <a:solidFill>
                  <a:srgbClr val="2B4B82"/>
                </a:solidFill>
                <a:latin typeface="Canva Sans"/>
                <a:ea typeface="Canva Sans"/>
                <a:cs typeface="Canva Sans"/>
                <a:sym typeface="Canva Sans"/>
              </a:rPr>
              <a:t>Lưu ý: Nếu giao diện thiết kế không hỗ trợ tốt cho trí nhớ, người dùng có thể quên cách sử dụng, mất thời gian tìm kiếm thông tin, hoặc cảm thấy khó chịu khi phải ghi nhớ quá nhiều thứ.</a:t>
            </a:r>
          </a:p>
          <a:p>
            <a:pPr algn="l">
              <a:lnSpc>
                <a:spcPts val="3359"/>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1028700" y="172207"/>
            <a:ext cx="16230600" cy="1811020"/>
          </a:xfrm>
          <a:prstGeom prst="rect">
            <a:avLst/>
          </a:prstGeom>
        </p:spPr>
        <p:txBody>
          <a:bodyPr anchor="t" rtlCol="false" tIns="0" lIns="0" bIns="0" rIns="0">
            <a:spAutoFit/>
          </a:bodyPr>
          <a:lstStyle/>
          <a:p>
            <a:pPr algn="ctr">
              <a:lnSpc>
                <a:spcPts val="7279"/>
              </a:lnSpc>
              <a:spcBef>
                <a:spcPct val="0"/>
              </a:spcBef>
            </a:pPr>
            <a:r>
              <a:rPr lang="en-US" b="true" sz="5199">
                <a:solidFill>
                  <a:srgbClr val="FFFFFF"/>
                </a:solidFill>
                <a:latin typeface="Canva Sans Bold"/>
                <a:ea typeface="Canva Sans Bold"/>
                <a:cs typeface="Canva Sans Bold"/>
                <a:sym typeface="Canva Sans Bold"/>
              </a:rPr>
              <a:t>Người dùng – Nhận thức (Cognition): Học tập (Learning)</a:t>
            </a:r>
          </a:p>
        </p:txBody>
      </p:sp>
      <p:sp>
        <p:nvSpPr>
          <p:cNvPr name="TextBox 3" id="3"/>
          <p:cNvSpPr txBox="true"/>
          <p:nvPr/>
        </p:nvSpPr>
        <p:spPr>
          <a:xfrm rot="0">
            <a:off x="1028700" y="2159861"/>
            <a:ext cx="11031289"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FFFFFF"/>
                </a:solidFill>
                <a:latin typeface="Canva Sans Bold"/>
                <a:ea typeface="Canva Sans Bold"/>
                <a:cs typeface="Canva Sans Bold"/>
                <a:sym typeface="Canva Sans Bold"/>
              </a:rPr>
              <a:t> Học tập trong bối cảnh công nghệ</a:t>
            </a:r>
          </a:p>
        </p:txBody>
      </p:sp>
      <p:sp>
        <p:nvSpPr>
          <p:cNvPr name="TextBox 4" id="4"/>
          <p:cNvSpPr txBox="true"/>
          <p:nvPr/>
        </p:nvSpPr>
        <p:spPr>
          <a:xfrm rot="0">
            <a:off x="1163151" y="3237456"/>
            <a:ext cx="16096149" cy="6255639"/>
          </a:xfrm>
          <a:prstGeom prst="rect">
            <a:avLst/>
          </a:prstGeom>
        </p:spPr>
        <p:txBody>
          <a:bodyPr anchor="t" rtlCol="false" tIns="0" lIns="0" bIns="0" rIns="0">
            <a:spAutoFit/>
          </a:bodyPr>
          <a:lstStyle/>
          <a:p>
            <a:pPr algn="l">
              <a:lnSpc>
                <a:spcPts val="4997"/>
              </a:lnSpc>
            </a:pPr>
            <a:r>
              <a:rPr lang="en-US" sz="3399">
                <a:solidFill>
                  <a:srgbClr val="FFFFFF"/>
                </a:solidFill>
                <a:latin typeface="Canva Sans"/>
                <a:ea typeface="Canva Sans"/>
                <a:cs typeface="Canva Sans"/>
                <a:sym typeface="Canva Sans"/>
              </a:rPr>
              <a:t>Học tập ở đây không chỉ là việc tiếp thu kiến thức mà còn là quá trình học cách sử dụng ứng dụng máy tính để hoàn thành nhiệm vụ.</a:t>
            </a:r>
          </a:p>
          <a:p>
            <a:pPr algn="l">
              <a:lnSpc>
                <a:spcPts val="4997"/>
              </a:lnSpc>
            </a:pPr>
            <a:r>
              <a:rPr lang="en-US" b="true" sz="3399">
                <a:solidFill>
                  <a:srgbClr val="FFFFFF"/>
                </a:solidFill>
                <a:latin typeface="Canva Sans Bold"/>
                <a:ea typeface="Canva Sans Bold"/>
                <a:cs typeface="Canva Sans Bold"/>
                <a:sym typeface="Canva Sans Bold"/>
              </a:rPr>
              <a:t>Đặc điểm của quá trình học của người dùng:</a:t>
            </a:r>
          </a:p>
          <a:p>
            <a:pPr algn="l" marL="734059" indent="-367030" lvl="1">
              <a:lnSpc>
                <a:spcPts val="4997"/>
              </a:lnSpc>
              <a:buFont typeface="Arial"/>
              <a:buChar char="•"/>
            </a:pPr>
            <a:r>
              <a:rPr lang="en-US" sz="3399">
                <a:solidFill>
                  <a:srgbClr val="FFFFFF"/>
                </a:solidFill>
                <a:latin typeface="Canva Sans"/>
                <a:ea typeface="Canva Sans"/>
                <a:cs typeface="Canva Sans"/>
                <a:sym typeface="Canva Sans"/>
              </a:rPr>
              <a:t>Người dùng gặp khó khăn khi học từ sách hướng dẫn và thường bỏ qua chúng.</a:t>
            </a:r>
          </a:p>
          <a:p>
            <a:pPr algn="l" marL="734059" indent="-367030" lvl="1">
              <a:lnSpc>
                <a:spcPts val="4997"/>
              </a:lnSpc>
              <a:buFont typeface="Arial"/>
              <a:buChar char="•"/>
            </a:pPr>
            <a:r>
              <a:rPr lang="en-US" sz="3399">
                <a:solidFill>
                  <a:srgbClr val="FFFFFF"/>
                </a:solidFill>
                <a:latin typeface="Canva Sans"/>
                <a:ea typeface="Canva Sans"/>
                <a:cs typeface="Canva Sans"/>
                <a:sym typeface="Canva Sans"/>
              </a:rPr>
              <a:t>Trải nghiệm thực tế hiệu quả hơn lý thuyết: Người dùng học nhanh nhất khi tự thao tác thay vì chỉ đọc tài liệu.</a:t>
            </a:r>
          </a:p>
          <a:p>
            <a:pPr algn="l" marL="734059" indent="-367030" lvl="1">
              <a:lnSpc>
                <a:spcPts val="4997"/>
              </a:lnSpc>
              <a:buFont typeface="Arial"/>
              <a:buChar char="•"/>
            </a:pPr>
            <a:r>
              <a:rPr lang="en-US" sz="3399">
                <a:solidFill>
                  <a:srgbClr val="FFFFFF"/>
                </a:solidFill>
                <a:latin typeface="Canva Sans"/>
                <a:ea typeface="Canva Sans"/>
                <a:cs typeface="Canva Sans"/>
                <a:sym typeface="Canva Sans"/>
              </a:rPr>
              <a:t>Cần có cơ chế hỗ trợ người dùng thử nghiệm: Khi có lỗi, người dùng cần tính năng UNDO để khôi phục và tiếp tục học mà không sợ làm hỏng hệ thống.</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1028700" y="537527"/>
            <a:ext cx="7311033"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FEFEFE"/>
                </a:solidFill>
                <a:latin typeface="Canva Sans Bold"/>
                <a:ea typeface="Canva Sans Bold"/>
                <a:cs typeface="Canva Sans Bold"/>
                <a:sym typeface="Canva Sans Bold"/>
              </a:rPr>
              <a:t>Thiết kế hỗ trợ học tập</a:t>
            </a:r>
          </a:p>
        </p:txBody>
      </p:sp>
      <p:sp>
        <p:nvSpPr>
          <p:cNvPr name="TextBox 3" id="3"/>
          <p:cNvSpPr txBox="true"/>
          <p:nvPr/>
        </p:nvSpPr>
        <p:spPr>
          <a:xfrm rot="0">
            <a:off x="1028700" y="1705592"/>
            <a:ext cx="16230600" cy="7340601"/>
          </a:xfrm>
          <a:prstGeom prst="rect">
            <a:avLst/>
          </a:prstGeom>
        </p:spPr>
        <p:txBody>
          <a:bodyPr anchor="t" rtlCol="false" tIns="0" lIns="0" bIns="0" rIns="0">
            <a:spAutoFit/>
          </a:bodyPr>
          <a:lstStyle/>
          <a:p>
            <a:pPr algn="l">
              <a:lnSpc>
                <a:spcPts val="4759"/>
              </a:lnSpc>
              <a:spcBef>
                <a:spcPct val="0"/>
              </a:spcBef>
            </a:pPr>
            <a:r>
              <a:rPr lang="en-US" sz="3399">
                <a:solidFill>
                  <a:srgbClr val="FEFEFE"/>
                </a:solidFill>
                <a:latin typeface="Canva Sans"/>
                <a:ea typeface="Canva Sans"/>
                <a:cs typeface="Canva Sans"/>
                <a:sym typeface="Canva Sans"/>
              </a:rPr>
              <a:t>Để giúp người dùng học nhanh và dễ dàng hơn, giao diện cần được thiết kế theo cách trực quan, khuyến khích khám phá và hạn chế sai sót.</a:t>
            </a:r>
          </a:p>
          <a:p>
            <a:pPr algn="l">
              <a:lnSpc>
                <a:spcPts val="4759"/>
              </a:lnSpc>
              <a:spcBef>
                <a:spcPct val="0"/>
              </a:spcBef>
            </a:pPr>
            <a:r>
              <a:rPr lang="en-US" sz="3399">
                <a:solidFill>
                  <a:srgbClr val="FEFEFE"/>
                </a:solidFill>
                <a:latin typeface="Canva Sans"/>
                <a:ea typeface="Canva Sans"/>
                <a:cs typeface="Canva Sans"/>
                <a:sym typeface="Canva Sans"/>
              </a:rPr>
              <a:t>Các nguyên tắc thiết kế:</a:t>
            </a:r>
          </a:p>
          <a:p>
            <a:pPr algn="l" marL="734051" indent="-367026" lvl="1">
              <a:lnSpc>
                <a:spcPts val="4759"/>
              </a:lnSpc>
              <a:buFont typeface="Arial"/>
              <a:buChar char="•"/>
            </a:pPr>
            <a:r>
              <a:rPr lang="en-US" sz="3399">
                <a:solidFill>
                  <a:srgbClr val="FEFEFE"/>
                </a:solidFill>
                <a:latin typeface="Canva Sans"/>
                <a:ea typeface="Canva Sans"/>
                <a:cs typeface="Canva Sans"/>
                <a:sym typeface="Canva Sans"/>
              </a:rPr>
              <a:t>Hỗ trợ đa phương tiện (Multimedia help):</a:t>
            </a:r>
          </a:p>
          <a:p>
            <a:pPr algn="l" marL="1468103" indent="-489368" lvl="2">
              <a:lnSpc>
                <a:spcPts val="4759"/>
              </a:lnSpc>
              <a:buFont typeface="Arial"/>
              <a:buChar char="⚬"/>
            </a:pPr>
            <a:r>
              <a:rPr lang="en-US" sz="3399">
                <a:solidFill>
                  <a:srgbClr val="FEFEFE"/>
                </a:solidFill>
                <a:latin typeface="Canva Sans"/>
                <a:ea typeface="Canva Sans"/>
                <a:cs typeface="Canva Sans"/>
                <a:sym typeface="Canva Sans"/>
              </a:rPr>
              <a:t>Sử dụng video, hình ảnh, hướng dẫn trực quan thay vì chỉ có văn bản.</a:t>
            </a:r>
          </a:p>
          <a:p>
            <a:pPr algn="l" marL="1468103" indent="-489368" lvl="2">
              <a:lnSpc>
                <a:spcPts val="4759"/>
              </a:lnSpc>
              <a:buFont typeface="Arial"/>
              <a:buChar char="⚬"/>
            </a:pPr>
            <a:r>
              <a:rPr lang="en-US" sz="3399">
                <a:solidFill>
                  <a:srgbClr val="FEFEFE"/>
                </a:solidFill>
                <a:latin typeface="Canva Sans"/>
                <a:ea typeface="Canva Sans"/>
                <a:cs typeface="Canva Sans"/>
                <a:sym typeface="Canva Sans"/>
              </a:rPr>
              <a:t>Ví dụ: Google Docs Có tooltip (chú giải) hiển thị khi di chuột vào icon để giúp hiểu chức năng</a:t>
            </a:r>
          </a:p>
          <a:p>
            <a:pPr algn="l" marL="734051" indent="-367026" lvl="1">
              <a:lnSpc>
                <a:spcPts val="4759"/>
              </a:lnSpc>
              <a:spcBef>
                <a:spcPct val="0"/>
              </a:spcBef>
              <a:buFont typeface="Arial"/>
              <a:buChar char="•"/>
            </a:pPr>
            <a:r>
              <a:rPr lang="en-US" sz="3399">
                <a:solidFill>
                  <a:srgbClr val="FEFEFE"/>
                </a:solidFill>
                <a:latin typeface="Canva Sans"/>
                <a:ea typeface="Canva Sans"/>
                <a:cs typeface="Canva Sans"/>
                <a:sym typeface="Canva Sans"/>
              </a:rPr>
              <a:t>Học qua thực hành (Learning through doing):</a:t>
            </a:r>
          </a:p>
          <a:p>
            <a:pPr algn="l" marL="1468103" indent="-489368" lvl="2">
              <a:lnSpc>
                <a:spcPts val="4759"/>
              </a:lnSpc>
              <a:spcBef>
                <a:spcPct val="0"/>
              </a:spcBef>
              <a:buFont typeface="Arial"/>
              <a:buChar char="⚬"/>
            </a:pPr>
            <a:r>
              <a:rPr lang="en-US" sz="3399">
                <a:solidFill>
                  <a:srgbClr val="FEFEFE"/>
                </a:solidFill>
                <a:latin typeface="Canva Sans"/>
                <a:ea typeface="Canva Sans"/>
                <a:cs typeface="Canva Sans"/>
                <a:sym typeface="Canva Sans"/>
              </a:rPr>
              <a:t>Cho phép người dùng trải nghiệm thực tế ngay từ đầu.</a:t>
            </a:r>
          </a:p>
          <a:p>
            <a:pPr algn="l" marL="1468103" indent="-489368" lvl="2">
              <a:lnSpc>
                <a:spcPts val="4759"/>
              </a:lnSpc>
              <a:spcBef>
                <a:spcPct val="0"/>
              </a:spcBef>
              <a:buFont typeface="Arial"/>
              <a:buChar char="⚬"/>
            </a:pPr>
            <a:r>
              <a:rPr lang="en-US" sz="3399">
                <a:solidFill>
                  <a:srgbClr val="FEFEFE"/>
                </a:solidFill>
                <a:latin typeface="Canva Sans"/>
                <a:ea typeface="Canva Sans"/>
                <a:cs typeface="Canva Sans"/>
                <a:sym typeface="Canva Sans"/>
              </a:rPr>
              <a:t>Ví dụ: Một ứng dụng mới có thể cung cấp chế độ "dùng thử" với hướng dẫn tương tác thay vì bắt người dùng đọc tài liệu dài dòng.</a:t>
            </a:r>
          </a:p>
          <a:p>
            <a:pPr algn="l">
              <a:lnSpc>
                <a:spcPts val="2939"/>
              </a:lnSpc>
              <a:spcBef>
                <a:spcPct val="0"/>
              </a:spcBef>
            </a:pPr>
          </a:p>
          <a:p>
            <a:pPr algn="l">
              <a:lnSpc>
                <a:spcPts val="2939"/>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1028700" y="962025"/>
            <a:ext cx="16230600" cy="65811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EFEFE"/>
                </a:solidFill>
                <a:latin typeface="Canva Sans"/>
                <a:ea typeface="Canva Sans"/>
                <a:cs typeface="Canva Sans"/>
                <a:sym typeface="Canva Sans"/>
              </a:rPr>
              <a:t>Cho phép UNDO:</a:t>
            </a:r>
          </a:p>
          <a:p>
            <a:pPr algn="l" marL="1468119" indent="-489373" lvl="2">
              <a:lnSpc>
                <a:spcPts val="4759"/>
              </a:lnSpc>
              <a:buFont typeface="Arial"/>
              <a:buChar char="⚬"/>
            </a:pPr>
            <a:r>
              <a:rPr lang="en-US" sz="3399">
                <a:solidFill>
                  <a:srgbClr val="FEFEFE"/>
                </a:solidFill>
                <a:latin typeface="Canva Sans"/>
                <a:ea typeface="Canva Sans"/>
                <a:cs typeface="Canva Sans"/>
                <a:sym typeface="Canva Sans"/>
              </a:rPr>
              <a:t>Người dùng sẽ tự tin hơn nếu biết rằng họ có thể quay lại bước trước đó nếu mắc lỗi.</a:t>
            </a:r>
          </a:p>
          <a:p>
            <a:pPr algn="l" marL="1468119" indent="-489373" lvl="2">
              <a:lnSpc>
                <a:spcPts val="4759"/>
              </a:lnSpc>
              <a:buFont typeface="Arial"/>
              <a:buChar char="⚬"/>
            </a:pPr>
            <a:r>
              <a:rPr lang="en-US" sz="3399">
                <a:solidFill>
                  <a:srgbClr val="FEFEFE"/>
                </a:solidFill>
                <a:latin typeface="Canva Sans"/>
                <a:ea typeface="Canva Sans"/>
                <a:cs typeface="Canva Sans"/>
                <a:sym typeface="Canva Sans"/>
              </a:rPr>
              <a:t>Ví dụ: Canva Có nút Undo.</a:t>
            </a:r>
          </a:p>
          <a:p>
            <a:pPr algn="l" marL="734059" indent="-367030" lvl="1">
              <a:lnSpc>
                <a:spcPts val="4759"/>
              </a:lnSpc>
              <a:buFont typeface="Arial"/>
              <a:buChar char="•"/>
            </a:pPr>
            <a:r>
              <a:rPr lang="en-US" sz="3399">
                <a:solidFill>
                  <a:srgbClr val="FEFEFE"/>
                </a:solidFill>
                <a:latin typeface="Canva Sans"/>
                <a:ea typeface="Canva Sans"/>
                <a:cs typeface="Canva Sans"/>
                <a:sym typeface="Canva Sans"/>
              </a:rPr>
              <a:t>Khuyến khích khám phá (Encourage exploration):</a:t>
            </a:r>
          </a:p>
          <a:p>
            <a:pPr algn="l" marL="1468119" indent="-489373" lvl="2">
              <a:lnSpc>
                <a:spcPts val="4759"/>
              </a:lnSpc>
              <a:buFont typeface="Arial"/>
              <a:buChar char="⚬"/>
            </a:pPr>
            <a:r>
              <a:rPr lang="en-US" sz="3399">
                <a:solidFill>
                  <a:srgbClr val="FEFEFE"/>
                </a:solidFill>
                <a:latin typeface="Canva Sans"/>
                <a:ea typeface="Canva Sans"/>
                <a:cs typeface="Canva Sans"/>
                <a:sym typeface="Canva Sans"/>
              </a:rPr>
              <a:t>Thiết kế giao diện dễ hiểu, không sợ nhầm lẫn.</a:t>
            </a:r>
          </a:p>
          <a:p>
            <a:pPr algn="l" marL="1468119" indent="-489373" lvl="2">
              <a:lnSpc>
                <a:spcPts val="4759"/>
              </a:lnSpc>
              <a:buFont typeface="Arial"/>
              <a:buChar char="⚬"/>
            </a:pPr>
            <a:r>
              <a:rPr lang="en-US" sz="3399">
                <a:solidFill>
                  <a:srgbClr val="FEFEFE"/>
                </a:solidFill>
                <a:latin typeface="Canva Sans"/>
                <a:ea typeface="Canva Sans"/>
                <a:cs typeface="Canva Sans"/>
                <a:sym typeface="Canva Sans"/>
              </a:rPr>
              <a:t>Ví dụ: Các ứng dụng nên có biểu tượng rõ ràng, tooltip giải thích khi di chuột qua để người dùng hiểu chức năng mà không cần tài liệu.</a:t>
            </a:r>
          </a:p>
          <a:p>
            <a:pPr algn="l" marL="734059" indent="-367030" lvl="1">
              <a:lnSpc>
                <a:spcPts val="4759"/>
              </a:lnSpc>
              <a:buFont typeface="Arial"/>
              <a:buChar char="•"/>
            </a:pPr>
            <a:r>
              <a:rPr lang="en-US" sz="3399">
                <a:solidFill>
                  <a:srgbClr val="FEFEFE"/>
                </a:solidFill>
                <a:latin typeface="Canva Sans"/>
                <a:ea typeface="Canva Sans"/>
                <a:cs typeface="Canva Sans"/>
                <a:sym typeface="Canva Sans"/>
              </a:rPr>
              <a:t>Hạn chế lỗi (Constrain errors):</a:t>
            </a:r>
          </a:p>
          <a:p>
            <a:pPr algn="l" marL="1468119" indent="-489373" lvl="2">
              <a:lnSpc>
                <a:spcPts val="4759"/>
              </a:lnSpc>
              <a:buFont typeface="Arial"/>
              <a:buChar char="⚬"/>
            </a:pPr>
            <a:r>
              <a:rPr lang="en-US" sz="3399">
                <a:solidFill>
                  <a:srgbClr val="FEFEFE"/>
                </a:solidFill>
                <a:latin typeface="Canva Sans"/>
                <a:ea typeface="Canva Sans"/>
                <a:cs typeface="Canva Sans"/>
                <a:sym typeface="Canva Sans"/>
              </a:rPr>
              <a:t>Ngăn chặn lỗi phổ biến thay vì để người dùng mắc lỗi rồi sửa.</a:t>
            </a:r>
          </a:p>
          <a:p>
            <a:pPr algn="l" marL="1468119" indent="-489373" lvl="2">
              <a:lnSpc>
                <a:spcPts val="4759"/>
              </a:lnSpc>
              <a:buFont typeface="Arial"/>
              <a:buChar char="⚬"/>
            </a:pPr>
            <a:r>
              <a:rPr lang="en-US" sz="3399">
                <a:solidFill>
                  <a:srgbClr val="FEFEFE"/>
                </a:solidFill>
                <a:latin typeface="Canva Sans"/>
                <a:ea typeface="Canva Sans"/>
                <a:cs typeface="Canva Sans"/>
                <a:sym typeface="Canva Sans"/>
              </a:rPr>
              <a:t>Ví dụ: Khi đăng nhập email nhập sai sẽ báo lỗi</a:t>
            </a:r>
          </a:p>
        </p:txBody>
      </p:sp>
      <p:sp>
        <p:nvSpPr>
          <p:cNvPr name="TextBox 3" id="3"/>
          <p:cNvSpPr txBox="true"/>
          <p:nvPr/>
        </p:nvSpPr>
        <p:spPr>
          <a:xfrm rot="0">
            <a:off x="1028700" y="8077835"/>
            <a:ext cx="16230600" cy="1180465"/>
          </a:xfrm>
          <a:prstGeom prst="rect">
            <a:avLst/>
          </a:prstGeom>
        </p:spPr>
        <p:txBody>
          <a:bodyPr anchor="t" rtlCol="false" tIns="0" lIns="0" bIns="0" rIns="0">
            <a:spAutoFit/>
          </a:bodyPr>
          <a:lstStyle/>
          <a:p>
            <a:pPr algn="l">
              <a:lnSpc>
                <a:spcPts val="4759"/>
              </a:lnSpc>
              <a:spcBef>
                <a:spcPct val="0"/>
              </a:spcBef>
            </a:pPr>
            <a:r>
              <a:rPr lang="en-US" sz="3399">
                <a:solidFill>
                  <a:srgbClr val="FEFEFE"/>
                </a:solidFill>
                <a:latin typeface="Canva Sans"/>
                <a:ea typeface="Canva Sans"/>
                <a:cs typeface="Canva Sans"/>
                <a:sym typeface="Canva Sans"/>
              </a:rPr>
              <a:t> Lưu ý: Nếu giao diện không hỗ trợ học tập tốt, người dùng sẽ cảm thấy khó khăn, dễ nản và từ bỏ ứng dụng.</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0" y="857250"/>
            <a:ext cx="11872481" cy="1566544"/>
          </a:xfrm>
          <a:prstGeom prst="rect">
            <a:avLst/>
          </a:prstGeom>
        </p:spPr>
        <p:txBody>
          <a:bodyPr anchor="t" rtlCol="false" tIns="0" lIns="0" bIns="0" rIns="0">
            <a:spAutoFit/>
          </a:bodyPr>
          <a:lstStyle/>
          <a:p>
            <a:pPr algn="ctr">
              <a:lnSpc>
                <a:spcPts val="12880"/>
              </a:lnSpc>
            </a:pPr>
            <a:r>
              <a:rPr lang="en-US" sz="9200" b="true">
                <a:solidFill>
                  <a:srgbClr val="2B4B82"/>
                </a:solidFill>
                <a:latin typeface="Canva Sans Bold"/>
                <a:ea typeface="Canva Sans Bold"/>
                <a:cs typeface="Canva Sans Bold"/>
                <a:sym typeface="Canva Sans Bold"/>
              </a:rPr>
              <a:t>2. Tính khả dụng</a:t>
            </a:r>
          </a:p>
        </p:txBody>
      </p:sp>
      <p:sp>
        <p:nvSpPr>
          <p:cNvPr name="TextBox 3" id="3"/>
          <p:cNvSpPr txBox="true"/>
          <p:nvPr/>
        </p:nvSpPr>
        <p:spPr>
          <a:xfrm rot="0">
            <a:off x="2305865" y="3583437"/>
            <a:ext cx="5279537" cy="887095"/>
          </a:xfrm>
          <a:prstGeom prst="rect">
            <a:avLst/>
          </a:prstGeom>
        </p:spPr>
        <p:txBody>
          <a:bodyPr anchor="t" rtlCol="false" tIns="0" lIns="0" bIns="0" rIns="0">
            <a:spAutoFit/>
          </a:bodyPr>
          <a:lstStyle/>
          <a:p>
            <a:pPr algn="ctr" marL="1122679" indent="-561340" lvl="1">
              <a:lnSpc>
                <a:spcPts val="7279"/>
              </a:lnSpc>
              <a:buAutoNum type="arabicPeriod" startAt="1"/>
            </a:pPr>
            <a:r>
              <a:rPr lang="en-US" b="true" sz="5199">
                <a:solidFill>
                  <a:srgbClr val="2B4B82"/>
                </a:solidFill>
                <a:latin typeface="Canva Sans Bold"/>
                <a:ea typeface="Canva Sans Bold"/>
                <a:cs typeface="Canva Sans Bold"/>
                <a:sym typeface="Canva Sans Bold"/>
              </a:rPr>
              <a:t>Khái niệm</a:t>
            </a:r>
          </a:p>
        </p:txBody>
      </p:sp>
      <p:sp>
        <p:nvSpPr>
          <p:cNvPr name="TextBox 4" id="4"/>
          <p:cNvSpPr txBox="true"/>
          <p:nvPr/>
        </p:nvSpPr>
        <p:spPr>
          <a:xfrm rot="0">
            <a:off x="2305865" y="4653148"/>
            <a:ext cx="12751511" cy="887095"/>
          </a:xfrm>
          <a:prstGeom prst="rect">
            <a:avLst/>
          </a:prstGeom>
        </p:spPr>
        <p:txBody>
          <a:bodyPr anchor="t" rtlCol="false" tIns="0" lIns="0" bIns="0" rIns="0">
            <a:spAutoFit/>
          </a:bodyPr>
          <a:lstStyle/>
          <a:p>
            <a:pPr algn="ctr">
              <a:lnSpc>
                <a:spcPts val="7279"/>
              </a:lnSpc>
            </a:pPr>
            <a:r>
              <a:rPr lang="en-US" sz="5199" b="true">
                <a:solidFill>
                  <a:srgbClr val="2B4B82"/>
                </a:solidFill>
                <a:latin typeface="Canva Sans Bold"/>
                <a:ea typeface="Canva Sans Bold"/>
                <a:cs typeface="Canva Sans Bold"/>
                <a:sym typeface="Canva Sans Bold"/>
              </a:rPr>
              <a:t>2. Các thành phần của tính khả dụng </a:t>
            </a:r>
          </a:p>
        </p:txBody>
      </p:sp>
      <p:sp>
        <p:nvSpPr>
          <p:cNvPr name="TextBox 5" id="5"/>
          <p:cNvSpPr txBox="true"/>
          <p:nvPr/>
        </p:nvSpPr>
        <p:spPr>
          <a:xfrm rot="0">
            <a:off x="2091423" y="5721218"/>
            <a:ext cx="14105154" cy="887095"/>
          </a:xfrm>
          <a:prstGeom prst="rect">
            <a:avLst/>
          </a:prstGeom>
        </p:spPr>
        <p:txBody>
          <a:bodyPr anchor="t" rtlCol="false" tIns="0" lIns="0" bIns="0" rIns="0">
            <a:spAutoFit/>
          </a:bodyPr>
          <a:lstStyle/>
          <a:p>
            <a:pPr algn="ctr">
              <a:lnSpc>
                <a:spcPts val="7279"/>
              </a:lnSpc>
            </a:pPr>
            <a:r>
              <a:rPr lang="en-US" sz="5199" b="true">
                <a:solidFill>
                  <a:srgbClr val="2B4B82"/>
                </a:solidFill>
                <a:latin typeface="Canva Sans Bold"/>
                <a:ea typeface="Canva Sans Bold"/>
                <a:cs typeface="Canva Sans Bold"/>
                <a:sym typeface="Canva Sans Bold"/>
              </a:rPr>
              <a:t>3. Các hướng dẫn thiết kế tính khả dụng</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4983718" y="857250"/>
            <a:ext cx="8320564" cy="1566544"/>
          </a:xfrm>
          <a:prstGeom prst="rect">
            <a:avLst/>
          </a:prstGeom>
        </p:spPr>
        <p:txBody>
          <a:bodyPr anchor="t" rtlCol="false" tIns="0" lIns="0" bIns="0" rIns="0">
            <a:spAutoFit/>
          </a:bodyPr>
          <a:lstStyle/>
          <a:p>
            <a:pPr algn="ctr">
              <a:lnSpc>
                <a:spcPts val="12880"/>
              </a:lnSpc>
            </a:pPr>
            <a:r>
              <a:rPr lang="en-US" sz="9200" b="true">
                <a:solidFill>
                  <a:srgbClr val="2B4B82"/>
                </a:solidFill>
                <a:latin typeface="Canva Sans Bold"/>
                <a:ea typeface="Canva Sans Bold"/>
                <a:cs typeface="Canva Sans Bold"/>
                <a:sym typeface="Canva Sans Bold"/>
              </a:rPr>
              <a:t>Tính Khả Dụng</a:t>
            </a:r>
          </a:p>
        </p:txBody>
      </p:sp>
      <p:sp>
        <p:nvSpPr>
          <p:cNvPr name="TextBox 3" id="3"/>
          <p:cNvSpPr txBox="true"/>
          <p:nvPr/>
        </p:nvSpPr>
        <p:spPr>
          <a:xfrm rot="0">
            <a:off x="1620566" y="2883102"/>
            <a:ext cx="15046869" cy="4453612"/>
          </a:xfrm>
          <a:prstGeom prst="rect">
            <a:avLst/>
          </a:prstGeom>
        </p:spPr>
        <p:txBody>
          <a:bodyPr anchor="t" rtlCol="false" tIns="0" lIns="0" bIns="0" rIns="0">
            <a:spAutoFit/>
          </a:bodyPr>
          <a:lstStyle/>
          <a:p>
            <a:pPr algn="l" marL="1087260" indent="-543630" lvl="1">
              <a:lnSpc>
                <a:spcPts val="7050"/>
              </a:lnSpc>
              <a:buFont typeface="Arial"/>
              <a:buChar char="•"/>
            </a:pPr>
            <a:r>
              <a:rPr lang="en-US" sz="5035">
                <a:solidFill>
                  <a:srgbClr val="2B4B82"/>
                </a:solidFill>
                <a:latin typeface="Canva Sans"/>
                <a:ea typeface="Canva Sans"/>
                <a:cs typeface="Canva Sans"/>
                <a:sym typeface="Canva Sans"/>
              </a:rPr>
              <a:t>Tính Khả Dụng (Usability): Một thuộc tính chất lượng đánh giá mức độ người dụng có thể học và sử dụng sản phẩm để hoàn thành nhiệm vụ của họ một cách tốt như thế nào và mức độ hài lòng của họ với quá trình đó</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2790163" y="1621205"/>
            <a:ext cx="12707674" cy="1811020"/>
          </a:xfrm>
          <a:prstGeom prst="rect">
            <a:avLst/>
          </a:prstGeom>
        </p:spPr>
        <p:txBody>
          <a:bodyPr anchor="t" rtlCol="false" tIns="0" lIns="0" bIns="0" rIns="0">
            <a:spAutoFit/>
          </a:bodyPr>
          <a:lstStyle/>
          <a:p>
            <a:pPr algn="ctr">
              <a:lnSpc>
                <a:spcPts val="7279"/>
              </a:lnSpc>
            </a:pPr>
            <a:r>
              <a:rPr lang="en-US" b="true" sz="5199">
                <a:solidFill>
                  <a:srgbClr val="2B4B82"/>
                </a:solidFill>
                <a:latin typeface="Canva Sans Bold"/>
                <a:ea typeface="Canva Sans Bold"/>
                <a:cs typeface="Canva Sans Bold"/>
                <a:sym typeface="Canva Sans Bold"/>
              </a:rPr>
              <a:t>Tình khả dụng là sự kết hợp của nhiều thành phần chất lượng</a:t>
            </a:r>
          </a:p>
        </p:txBody>
      </p:sp>
      <p:sp>
        <p:nvSpPr>
          <p:cNvPr name="TextBox 3" id="3"/>
          <p:cNvSpPr txBox="true"/>
          <p:nvPr/>
        </p:nvSpPr>
        <p:spPr>
          <a:xfrm rot="0">
            <a:off x="1323014" y="4132356"/>
            <a:ext cx="4825841" cy="58420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B4B82"/>
                </a:solidFill>
                <a:latin typeface="Canva Sans"/>
                <a:ea typeface="Canva Sans"/>
                <a:cs typeface="Canva Sans"/>
                <a:sym typeface="Canva Sans"/>
              </a:rPr>
              <a:t>Hiệu quả (Effective)</a:t>
            </a:r>
          </a:p>
        </p:txBody>
      </p:sp>
      <p:sp>
        <p:nvSpPr>
          <p:cNvPr name="TextBox 4" id="4"/>
          <p:cNvSpPr txBox="true"/>
          <p:nvPr/>
        </p:nvSpPr>
        <p:spPr>
          <a:xfrm rot="0">
            <a:off x="1448745" y="5002306"/>
            <a:ext cx="4829016" cy="58420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B4B82"/>
                </a:solidFill>
                <a:latin typeface="Canva Sans"/>
                <a:ea typeface="Canva Sans"/>
                <a:cs typeface="Canva Sans"/>
                <a:sym typeface="Canva Sans"/>
              </a:rPr>
              <a:t>Hiệu suất (Efficient)</a:t>
            </a:r>
          </a:p>
        </p:txBody>
      </p:sp>
      <p:sp>
        <p:nvSpPr>
          <p:cNvPr name="TextBox 5" id="5"/>
          <p:cNvSpPr txBox="true"/>
          <p:nvPr/>
        </p:nvSpPr>
        <p:spPr>
          <a:xfrm rot="0">
            <a:off x="2035882" y="5872256"/>
            <a:ext cx="3654743" cy="58420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B4B82"/>
                </a:solidFill>
                <a:latin typeface="Canva Sans"/>
                <a:ea typeface="Canva Sans"/>
                <a:cs typeface="Canva Sans"/>
                <a:sym typeface="Canva Sans"/>
              </a:rPr>
              <a:t>An toàn (Safe)</a:t>
            </a:r>
          </a:p>
        </p:txBody>
      </p:sp>
      <p:sp>
        <p:nvSpPr>
          <p:cNvPr name="TextBox 6" id="6"/>
          <p:cNvSpPr txBox="true"/>
          <p:nvPr/>
        </p:nvSpPr>
        <p:spPr>
          <a:xfrm rot="0">
            <a:off x="1543598" y="6742206"/>
            <a:ext cx="4639310" cy="58420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B4B82"/>
                </a:solidFill>
                <a:latin typeface="Canva Sans"/>
                <a:ea typeface="Canva Sans"/>
                <a:cs typeface="Canva Sans"/>
                <a:sym typeface="Canva Sans"/>
              </a:rPr>
              <a:t>Dễ học (Learnable)</a:t>
            </a:r>
          </a:p>
        </p:txBody>
      </p:sp>
      <p:sp>
        <p:nvSpPr>
          <p:cNvPr name="TextBox 7" id="7"/>
          <p:cNvSpPr txBox="true"/>
          <p:nvPr/>
        </p:nvSpPr>
        <p:spPr>
          <a:xfrm rot="0">
            <a:off x="11059907" y="4132356"/>
            <a:ext cx="4973002" cy="58420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B4B82"/>
                </a:solidFill>
                <a:latin typeface="Canva Sans"/>
                <a:ea typeface="Canva Sans"/>
                <a:cs typeface="Canva Sans"/>
                <a:sym typeface="Canva Sans"/>
              </a:rPr>
              <a:t>Dễ nhớ (Memorable)</a:t>
            </a:r>
          </a:p>
        </p:txBody>
      </p:sp>
      <p:sp>
        <p:nvSpPr>
          <p:cNvPr name="TextBox 8" id="8"/>
          <p:cNvSpPr txBox="true"/>
          <p:nvPr/>
        </p:nvSpPr>
        <p:spPr>
          <a:xfrm rot="0">
            <a:off x="9504078" y="5002306"/>
            <a:ext cx="8084661" cy="58420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B4B82"/>
                </a:solidFill>
                <a:latin typeface="Canva Sans"/>
                <a:ea typeface="Canva Sans"/>
                <a:cs typeface="Canva Sans"/>
                <a:sym typeface="Canva Sans"/>
              </a:rPr>
              <a:t>Người dùng hài lòng (User satisfied)</a:t>
            </a:r>
          </a:p>
        </p:txBody>
      </p:sp>
      <p:sp>
        <p:nvSpPr>
          <p:cNvPr name="TextBox 9" id="9"/>
          <p:cNvSpPr txBox="true"/>
          <p:nvPr/>
        </p:nvSpPr>
        <p:spPr>
          <a:xfrm rot="0">
            <a:off x="12952048" y="5872256"/>
            <a:ext cx="1188720" cy="584200"/>
          </a:xfrm>
          <a:prstGeom prst="rect">
            <a:avLst/>
          </a:prstGeom>
        </p:spPr>
        <p:txBody>
          <a:bodyPr anchor="t" rtlCol="false" tIns="0" lIns="0" bIns="0" rIns="0">
            <a:spAutoFit/>
          </a:bodyPr>
          <a:lstStyle/>
          <a:p>
            <a:pPr algn="ctr" marL="734059" indent="-367030" lvl="1">
              <a:lnSpc>
                <a:spcPts val="4759"/>
              </a:lnSpc>
              <a:buFont typeface="Arial"/>
              <a:buChar char="•"/>
            </a:pPr>
            <a:r>
              <a:rPr lang="en-US" sz="3399">
                <a:solidFill>
                  <a:srgbClr val="2B4B82"/>
                </a:solidFill>
                <a:latin typeface="Canva Sans"/>
                <a:ea typeface="Canva Sans"/>
                <a:cs typeface="Canva Sans"/>
                <a:sym typeface="Canva Sans"/>
              </a:rPr>
              <a:t>....</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3894852" y="1499624"/>
            <a:ext cx="10498296" cy="887095"/>
          </a:xfrm>
          <a:prstGeom prst="rect">
            <a:avLst/>
          </a:prstGeom>
        </p:spPr>
        <p:txBody>
          <a:bodyPr anchor="t" rtlCol="false" tIns="0" lIns="0" bIns="0" rIns="0">
            <a:spAutoFit/>
          </a:bodyPr>
          <a:lstStyle/>
          <a:p>
            <a:pPr algn="ctr">
              <a:lnSpc>
                <a:spcPts val="7279"/>
              </a:lnSpc>
            </a:pPr>
            <a:r>
              <a:rPr lang="en-US" sz="5199" b="true">
                <a:solidFill>
                  <a:srgbClr val="2B4B82"/>
                </a:solidFill>
                <a:latin typeface="Canva Sans Bold"/>
                <a:ea typeface="Canva Sans Bold"/>
                <a:cs typeface="Canva Sans Bold"/>
                <a:sym typeface="Canva Sans Bold"/>
              </a:rPr>
              <a:t>Tính khả dụng (Usability rất khó)</a:t>
            </a:r>
          </a:p>
        </p:txBody>
      </p:sp>
      <p:sp>
        <p:nvSpPr>
          <p:cNvPr name="TextBox 3" id="3"/>
          <p:cNvSpPr txBox="true"/>
          <p:nvPr/>
        </p:nvSpPr>
        <p:spPr>
          <a:xfrm rot="0">
            <a:off x="2461776" y="3290343"/>
            <a:ext cx="13364448" cy="4192270"/>
          </a:xfrm>
          <a:prstGeom prst="rect">
            <a:avLst/>
          </a:prstGeom>
        </p:spPr>
        <p:txBody>
          <a:bodyPr anchor="t" rtlCol="false" tIns="0" lIns="0" bIns="0" rIns="0">
            <a:spAutoFit/>
          </a:bodyPr>
          <a:lstStyle/>
          <a:p>
            <a:pPr algn="l">
              <a:lnSpc>
                <a:spcPts val="4759"/>
              </a:lnSpc>
            </a:pPr>
            <a:r>
              <a:rPr lang="en-US" sz="3399">
                <a:solidFill>
                  <a:srgbClr val="2B4B82"/>
                </a:solidFill>
                <a:latin typeface="Canva Sans"/>
                <a:ea typeface="Canva Sans"/>
                <a:cs typeface="Canva Sans"/>
                <a:sym typeface="Canva Sans"/>
              </a:rPr>
              <a:t>Tính khả </a:t>
            </a:r>
            <a:r>
              <a:rPr lang="en-US" sz="3399">
                <a:solidFill>
                  <a:srgbClr val="2B4B82"/>
                </a:solidFill>
                <a:latin typeface="Canva Sans"/>
                <a:ea typeface="Canva Sans"/>
                <a:cs typeface="Canva Sans"/>
                <a:sym typeface="Canva Sans"/>
              </a:rPr>
              <a:t>dụng kém (Poor usability):</a:t>
            </a:r>
          </a:p>
          <a:p>
            <a:pPr algn="l" marL="734059" indent="-367030" lvl="1">
              <a:lnSpc>
                <a:spcPts val="4759"/>
              </a:lnSpc>
              <a:buFont typeface="Arial"/>
              <a:buChar char="•"/>
            </a:pPr>
            <a:r>
              <a:rPr lang="en-US" sz="3399">
                <a:solidFill>
                  <a:srgbClr val="2B4B82"/>
                </a:solidFill>
                <a:latin typeface="Canva Sans"/>
                <a:ea typeface="Canva Sans"/>
                <a:cs typeface="Canva Sans"/>
                <a:sym typeface="Canva Sans"/>
              </a:rPr>
              <a:t>Giảm năng suất (Decrease productivity)</a:t>
            </a:r>
          </a:p>
          <a:p>
            <a:pPr algn="l" marL="734059" indent="-367030" lvl="1">
              <a:lnSpc>
                <a:spcPts val="4759"/>
              </a:lnSpc>
              <a:buFont typeface="Arial"/>
              <a:buChar char="•"/>
            </a:pPr>
            <a:r>
              <a:rPr lang="en-US" sz="3399">
                <a:solidFill>
                  <a:srgbClr val="2B4B82"/>
                </a:solidFill>
                <a:latin typeface="Canva Sans"/>
                <a:ea typeface="Canva Sans"/>
                <a:cs typeface="Canva Sans"/>
                <a:sym typeface="Canva Sans"/>
              </a:rPr>
              <a:t>Gây ra lỗi và sai sót (Make errors &amp; mistakes)</a:t>
            </a:r>
          </a:p>
          <a:p>
            <a:pPr algn="l" marL="734059" indent="-367030" lvl="1">
              <a:lnSpc>
                <a:spcPts val="4759"/>
              </a:lnSpc>
              <a:buFont typeface="Arial"/>
              <a:buChar char="•"/>
            </a:pPr>
            <a:r>
              <a:rPr lang="en-US" sz="3399">
                <a:solidFill>
                  <a:srgbClr val="2B4B82"/>
                </a:solidFill>
                <a:latin typeface="Canva Sans"/>
                <a:ea typeface="Canva Sans"/>
                <a:cs typeface="Canva Sans"/>
                <a:sym typeface="Canva Sans"/>
              </a:rPr>
              <a:t>Khiến người dùng tức giận và thất vọng (Make users angry &amp; frustrated)</a:t>
            </a:r>
          </a:p>
          <a:p>
            <a:pPr algn="l">
              <a:lnSpc>
                <a:spcPts val="4759"/>
              </a:lnSpc>
            </a:pPr>
            <a:r>
              <a:rPr lang="en-US" sz="3399">
                <a:solidFill>
                  <a:srgbClr val="2B4B82"/>
                </a:solidFill>
                <a:latin typeface="Canva Sans"/>
                <a:ea typeface="Canva Sans"/>
                <a:cs typeface="Canva Sans"/>
                <a:sym typeface="Canva Sans"/>
              </a:rPr>
              <a:t>→ Sản phẩm thất bại (Failed product)</a:t>
            </a:r>
          </a:p>
          <a:p>
            <a:pPr algn="l">
              <a:lnSpc>
                <a:spcPts val="4759"/>
              </a:lnSpc>
            </a:pP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3259468" y="537527"/>
            <a:ext cx="1049829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Tính khả dụng (Usability) rất khó</a:t>
            </a:r>
          </a:p>
        </p:txBody>
      </p:sp>
      <p:sp>
        <p:nvSpPr>
          <p:cNvPr name="TextBox 3" id="3"/>
          <p:cNvSpPr txBox="true"/>
          <p:nvPr/>
        </p:nvSpPr>
        <p:spPr>
          <a:xfrm rot="0">
            <a:off x="1467262" y="2038985"/>
            <a:ext cx="15353475" cy="721931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Người </a:t>
            </a:r>
            <a:r>
              <a:rPr lang="en-US" sz="3399">
                <a:solidFill>
                  <a:srgbClr val="FFFFFF"/>
                </a:solidFill>
                <a:latin typeface="Canva Sans"/>
                <a:ea typeface="Canva Sans"/>
                <a:cs typeface="Canva Sans"/>
                <a:sym typeface="Canva Sans"/>
              </a:rPr>
              <a:t>dùng khác biệt và khó đoán, họ sử dụng hệ thống thông qua giao diện người dùng.</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Giao diện người dùng chiếm khoảng 50%:</a:t>
            </a:r>
          </a:p>
          <a:p>
            <a:pPr algn="l" marL="1468119" indent="-489373" lvl="2">
              <a:lnSpc>
                <a:spcPts val="4759"/>
              </a:lnSpc>
              <a:buFont typeface="Arial"/>
              <a:buChar char="⚬"/>
            </a:pPr>
            <a:r>
              <a:rPr lang="en-US" sz="3399">
                <a:solidFill>
                  <a:srgbClr val="FFFFFF"/>
                </a:solidFill>
                <a:latin typeface="Canva Sans"/>
                <a:ea typeface="Canva Sans"/>
                <a:cs typeface="Canva Sans"/>
                <a:sym typeface="Canva Sans"/>
              </a:rPr>
              <a:t>Thời gian thiết kế</a:t>
            </a:r>
          </a:p>
          <a:p>
            <a:pPr algn="l" marL="1468119" indent="-489373" lvl="2">
              <a:lnSpc>
                <a:spcPts val="4759"/>
              </a:lnSpc>
              <a:buFont typeface="Arial"/>
              <a:buChar char="⚬"/>
            </a:pPr>
            <a:r>
              <a:rPr lang="en-US" sz="3399">
                <a:solidFill>
                  <a:srgbClr val="FFFFFF"/>
                </a:solidFill>
                <a:latin typeface="Canva Sans"/>
                <a:ea typeface="Canva Sans"/>
                <a:cs typeface="Canva Sans"/>
                <a:sym typeface="Canva Sans"/>
              </a:rPr>
              <a:t>Thời gian triển khai</a:t>
            </a:r>
          </a:p>
          <a:p>
            <a:pPr algn="l" marL="1468119" indent="-489373" lvl="2">
              <a:lnSpc>
                <a:spcPts val="4759"/>
              </a:lnSpc>
              <a:buFont typeface="Arial"/>
              <a:buChar char="⚬"/>
            </a:pPr>
            <a:r>
              <a:rPr lang="en-US" sz="3399">
                <a:solidFill>
                  <a:srgbClr val="FFFFFF"/>
                </a:solidFill>
                <a:latin typeface="Canva Sans"/>
                <a:ea typeface="Canva Sans"/>
                <a:cs typeface="Canva Sans"/>
                <a:sym typeface="Canva Sans"/>
              </a:rPr>
              <a:t>Thời gian bảo trì</a:t>
            </a:r>
          </a:p>
          <a:p>
            <a:pPr algn="l" marL="1468119" indent="-489373" lvl="2">
              <a:lnSpc>
                <a:spcPts val="4759"/>
              </a:lnSpc>
              <a:buFont typeface="Arial"/>
              <a:buChar char="⚬"/>
            </a:pPr>
            <a:r>
              <a:rPr lang="en-US" sz="3399">
                <a:solidFill>
                  <a:srgbClr val="FFFFFF"/>
                </a:solidFill>
                <a:latin typeface="Canva Sans"/>
                <a:ea typeface="Canva Sans"/>
                <a:cs typeface="Canva Sans"/>
                <a:sym typeface="Canva Sans"/>
              </a:rPr>
              <a:t>Kích thước mã</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Tính khả dụng phụ thuộc vào người dùng:</a:t>
            </a:r>
          </a:p>
          <a:p>
            <a:pPr algn="l" marL="1468119" indent="-489373" lvl="2">
              <a:lnSpc>
                <a:spcPts val="4759"/>
              </a:lnSpc>
              <a:buFont typeface="Arial"/>
              <a:buChar char="⚬"/>
            </a:pPr>
            <a:r>
              <a:rPr lang="en-US" sz="3399">
                <a:solidFill>
                  <a:srgbClr val="FFFFFF"/>
                </a:solidFill>
                <a:latin typeface="Canva Sans"/>
                <a:ea typeface="Canva Sans"/>
                <a:cs typeface="Canva Sans"/>
                <a:sym typeface="Canva Sans"/>
              </a:rPr>
              <a:t>Người dùng mới cần tính dễ học</a:t>
            </a:r>
          </a:p>
          <a:p>
            <a:pPr algn="l" marL="1468119" indent="-489373" lvl="2">
              <a:lnSpc>
                <a:spcPts val="4759"/>
              </a:lnSpc>
              <a:buFont typeface="Arial"/>
              <a:buChar char="⚬"/>
            </a:pPr>
            <a:r>
              <a:rPr lang="en-US" sz="3399">
                <a:solidFill>
                  <a:srgbClr val="FFFFFF"/>
                </a:solidFill>
                <a:latin typeface="Canva Sans"/>
                <a:ea typeface="Canva Sans"/>
                <a:cs typeface="Canva Sans"/>
                <a:sym typeface="Canva Sans"/>
              </a:rPr>
              <a:t>Người dùng ít sử dụng cần tính dễ nhớ</a:t>
            </a:r>
          </a:p>
          <a:p>
            <a:pPr algn="l" marL="1468119" indent="-489373" lvl="2">
              <a:lnSpc>
                <a:spcPts val="4759"/>
              </a:lnSpc>
              <a:buFont typeface="Arial"/>
              <a:buChar char="⚬"/>
            </a:pPr>
            <a:r>
              <a:rPr lang="en-US" sz="3399">
                <a:solidFill>
                  <a:srgbClr val="FFFFFF"/>
                </a:solidFill>
                <a:latin typeface="Canva Sans"/>
                <a:ea typeface="Canva Sans"/>
                <a:cs typeface="Canva Sans"/>
                <a:sym typeface="Canva Sans"/>
              </a:rPr>
              <a:t>Người dùng chuyên gia cần tính hiệu quả</a:t>
            </a:r>
          </a:p>
          <a:p>
            <a:pPr algn="l">
              <a:lnSpc>
                <a:spcPts val="4759"/>
              </a:lnSpc>
            </a:pPr>
          </a:p>
        </p:txBody>
      </p:sp>
    </p:spTree>
  </p:cSld>
  <p:clrMapOvr>
    <a:masterClrMapping/>
  </p:clrMapOvr>
</p:sld>
</file>

<file path=ppt/slides/slide39.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3259468" y="537527"/>
            <a:ext cx="1049829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Tính khả dụng (Usability) rất khó</a:t>
            </a:r>
          </a:p>
        </p:txBody>
      </p:sp>
      <p:sp>
        <p:nvSpPr>
          <p:cNvPr name="TextBox 3" id="3"/>
          <p:cNvSpPr txBox="true"/>
          <p:nvPr/>
        </p:nvSpPr>
        <p:spPr>
          <a:xfrm rot="0">
            <a:off x="1693065" y="3200825"/>
            <a:ext cx="13631103" cy="3822485"/>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Lập trình viên (thường) yếu về tính khả </a:t>
            </a:r>
            <a:r>
              <a:rPr lang="en-US" sz="3633">
                <a:solidFill>
                  <a:srgbClr val="FFFFFF"/>
                </a:solidFill>
                <a:latin typeface="Canva Sans"/>
                <a:ea typeface="Canva Sans"/>
                <a:cs typeface="Canva Sans"/>
                <a:sym typeface="Canva Sans"/>
              </a:rPr>
              <a:t>dụng:</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Không tư duy như người "bình thường"</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Biết về công nghệ/nội bộ phần mềm trước tiên</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Thích hệ thống hơn con người</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Kiêu ngạo và bướng bỉnh ("Đây là phần mềm của tôi!")</a:t>
            </a:r>
          </a:p>
          <a:p>
            <a:pPr algn="just">
              <a:lnSpc>
                <a:spcPts val="5086"/>
              </a:lnSpc>
            </a:pPr>
          </a:p>
        </p:txBody>
      </p:sp>
    </p:spTree>
  </p:cSld>
  <p:clrMapOvr>
    <a:masterClrMapping/>
  </p:clrMapOvr>
</p:sld>
</file>

<file path=ppt/slides/slide40.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3259468" y="537527"/>
            <a:ext cx="10498296"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Tính khả dụng (Usability) rất khó</a:t>
            </a:r>
          </a:p>
        </p:txBody>
      </p:sp>
      <p:sp>
        <p:nvSpPr>
          <p:cNvPr name="TextBox 3" id="3"/>
          <p:cNvSpPr txBox="true"/>
          <p:nvPr/>
        </p:nvSpPr>
        <p:spPr>
          <a:xfrm rot="0">
            <a:off x="1582563" y="1916855"/>
            <a:ext cx="15122874" cy="6382805"/>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Tính khả dụng chỉ là một thuộc tính của hệ thống:</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Tính năng (Functionality) </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Độ tin cậy (Reliability)</a:t>
            </a:r>
          </a:p>
          <a:p>
            <a:pPr algn="just" marL="1568927" indent="-522976" lvl="2">
              <a:lnSpc>
                <a:spcPts val="5086"/>
              </a:lnSpc>
              <a:buFont typeface="Arial"/>
              <a:buChar char="⚬"/>
            </a:pPr>
            <a:r>
              <a:rPr lang="en-US" b="true" sz="3633">
                <a:solidFill>
                  <a:srgbClr val="FFDE59"/>
                </a:solidFill>
                <a:latin typeface="Canva Sans Bold"/>
                <a:ea typeface="Canva Sans Bold"/>
                <a:cs typeface="Canva Sans Bold"/>
                <a:sym typeface="Canva Sans Bold"/>
              </a:rPr>
              <a:t>Tính khả dụng (Usability) </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Bảo mật (Security)</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Hiệu suất (Performance) </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Khả năng tương thích (Compatibility)</a:t>
            </a:r>
          </a:p>
          <a:p>
            <a:pPr algn="just">
              <a:lnSpc>
                <a:spcPts val="5086"/>
              </a:lnSpc>
            </a:pPr>
            <a:r>
              <a:rPr lang="en-US" sz="3633">
                <a:solidFill>
                  <a:srgbClr val="FFFFFF"/>
                </a:solidFill>
                <a:latin typeface="Canva Sans"/>
                <a:ea typeface="Canva Sans"/>
                <a:cs typeface="Canva Sans"/>
                <a:sym typeface="Canva Sans"/>
              </a:rPr>
              <a:t>→ Sự đánh đổi giữa các thuộc tính khác nhau (Tradeoffs among different attributes)</a:t>
            </a:r>
          </a:p>
          <a:p>
            <a:pPr algn="just">
              <a:lnSpc>
                <a:spcPts val="5086"/>
              </a:lnSpc>
            </a:pPr>
          </a:p>
        </p:txBody>
      </p:sp>
    </p:spTree>
  </p:cSld>
  <p:clrMapOvr>
    <a:masterClrMapping/>
  </p:clrMapOvr>
</p:sld>
</file>

<file path=ppt/slides/slide41.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2768852" y="537527"/>
            <a:ext cx="11479530"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Các Thành Phần Của Tính Khả Dụng</a:t>
            </a:r>
          </a:p>
        </p:txBody>
      </p:sp>
      <p:sp>
        <p:nvSpPr>
          <p:cNvPr name="TextBox 3" id="3"/>
          <p:cNvSpPr txBox="true"/>
          <p:nvPr/>
        </p:nvSpPr>
        <p:spPr>
          <a:xfrm rot="0">
            <a:off x="2231760" y="2237847"/>
            <a:ext cx="13824481" cy="5744630"/>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Các thành phần của tính khả dụng</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Tính hiệu quả (Effectiveness)</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Tính hiệu suất (Efficiency)</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Tính an toàn (Safety)</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Tính dễ học (Learnability)</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Tính dễ nhớ (Memorability)</a:t>
            </a:r>
          </a:p>
          <a:p>
            <a:pPr algn="just" marL="1568927" indent="-522976" lvl="2">
              <a:lnSpc>
                <a:spcPts val="5086"/>
              </a:lnSpc>
              <a:buFont typeface="Arial"/>
              <a:buChar char="⚬"/>
            </a:pPr>
            <a:r>
              <a:rPr lang="en-US" sz="3633">
                <a:solidFill>
                  <a:srgbClr val="FFFFFF"/>
                </a:solidFill>
                <a:latin typeface="Canva Sans"/>
                <a:ea typeface="Canva Sans"/>
                <a:cs typeface="Canva Sans"/>
                <a:sym typeface="Canva Sans"/>
              </a:rPr>
              <a:t>Sự hài lòng - Mục tiêu trải nghiệm người dùng (Satisfaction - User experience goals)</a:t>
            </a:r>
          </a:p>
          <a:p>
            <a:pPr algn="just">
              <a:lnSpc>
                <a:spcPts val="5086"/>
              </a:lnSpc>
            </a:pPr>
          </a:p>
        </p:txBody>
      </p:sp>
    </p:spTree>
  </p:cSld>
  <p:clrMapOvr>
    <a:masterClrMapping/>
  </p:clrMapOvr>
</p:sld>
</file>

<file path=ppt/slides/slide42.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82876" y="417501"/>
            <a:ext cx="18122248" cy="1749425"/>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Usability goals - Effectiveness </a:t>
            </a:r>
          </a:p>
          <a:p>
            <a:pPr algn="ctr">
              <a:lnSpc>
                <a:spcPts val="7000"/>
              </a:lnSpc>
            </a:pPr>
            <a:r>
              <a:rPr lang="en-US" sz="5000" b="true">
                <a:solidFill>
                  <a:srgbClr val="FFFFFF"/>
                </a:solidFill>
                <a:latin typeface="Canva Sans Bold"/>
                <a:ea typeface="Canva Sans Bold"/>
                <a:cs typeface="Canva Sans Bold"/>
                <a:sym typeface="Canva Sans Bold"/>
              </a:rPr>
              <a:t>(Mục tiêu tính khả dụng - Tính hiệu quả)</a:t>
            </a:r>
          </a:p>
        </p:txBody>
      </p:sp>
      <p:sp>
        <p:nvSpPr>
          <p:cNvPr name="TextBox 3" id="3"/>
          <p:cNvSpPr txBox="true"/>
          <p:nvPr/>
        </p:nvSpPr>
        <p:spPr>
          <a:xfrm rot="0">
            <a:off x="2231760" y="2900857"/>
            <a:ext cx="13824481" cy="3176690"/>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Cung cấp đầy đủ các chức năng cho người dùng hoàn thành các công việc của họ</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Người dùng có thể hoàn thành nhiệm vụ chính xác và đầy đủ như thế nào.</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Liên kết trực tiếp với nhu cầu của người dùng</a:t>
            </a:r>
          </a:p>
        </p:txBody>
      </p:sp>
    </p:spTree>
  </p:cSld>
  <p:clrMapOvr>
    <a:masterClrMapping/>
  </p:clrMapOvr>
</p:sld>
</file>

<file path=ppt/slides/slide43.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82876" y="417501"/>
            <a:ext cx="18122248" cy="1749425"/>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Usability goals - Efficiency </a:t>
            </a:r>
          </a:p>
          <a:p>
            <a:pPr algn="ctr">
              <a:lnSpc>
                <a:spcPts val="7000"/>
              </a:lnSpc>
            </a:pPr>
            <a:r>
              <a:rPr lang="en-US" sz="5000" b="true">
                <a:solidFill>
                  <a:srgbClr val="FFFFFF"/>
                </a:solidFill>
                <a:latin typeface="Canva Sans Bold"/>
                <a:ea typeface="Canva Sans Bold"/>
                <a:cs typeface="Canva Sans Bold"/>
                <a:sym typeface="Canva Sans Bold"/>
              </a:rPr>
              <a:t>(Mục tiêu tính khả dụng - Tính hiệu suất)</a:t>
            </a:r>
          </a:p>
        </p:txBody>
      </p:sp>
      <p:sp>
        <p:nvSpPr>
          <p:cNvPr name="TextBox 3" id="3"/>
          <p:cNvSpPr txBox="true"/>
          <p:nvPr/>
        </p:nvSpPr>
        <p:spPr>
          <a:xfrm rot="0">
            <a:off x="2231760" y="2900857"/>
            <a:ext cx="13824481" cy="3180500"/>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Người dùng hoàn thành công việc nhanh như thế nào</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Nếu người dùng đã học cách sử dụng hệ thống, họ sẽ đạt được năng suất cao.</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Các bước tối thiểu.</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Giới hạn thời gian</a:t>
            </a:r>
          </a:p>
        </p:txBody>
      </p:sp>
    </p:spTree>
  </p:cSld>
  <p:clrMapOvr>
    <a:masterClrMapping/>
  </p:clrMapOvr>
</p:sld>
</file>

<file path=ppt/slides/slide44.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82876" y="417501"/>
            <a:ext cx="18122248" cy="1749425"/>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Usability goals - Safe </a:t>
            </a:r>
          </a:p>
          <a:p>
            <a:pPr algn="ctr">
              <a:lnSpc>
                <a:spcPts val="7000"/>
              </a:lnSpc>
            </a:pPr>
            <a:r>
              <a:rPr lang="en-US" sz="5000" b="true">
                <a:solidFill>
                  <a:srgbClr val="FFFFFF"/>
                </a:solidFill>
                <a:latin typeface="Canva Sans Bold"/>
                <a:ea typeface="Canva Sans Bold"/>
                <a:cs typeface="Canva Sans Bold"/>
                <a:sym typeface="Canva Sans Bold"/>
              </a:rPr>
              <a:t>(Mục tiêu tính khả dụng - Tính an toàn)</a:t>
            </a:r>
          </a:p>
        </p:txBody>
      </p:sp>
      <p:sp>
        <p:nvSpPr>
          <p:cNvPr name="TextBox 3" id="3"/>
          <p:cNvSpPr txBox="true"/>
          <p:nvPr/>
        </p:nvSpPr>
        <p:spPr>
          <a:xfrm rot="0">
            <a:off x="2231760" y="2900857"/>
            <a:ext cx="13824481" cy="1900340"/>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Ngăn người dùng mắc lỗi</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Cơ chế hoàn tác</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Bảo mật dữ liệu</a:t>
            </a:r>
          </a:p>
        </p:txBody>
      </p:sp>
    </p:spTree>
  </p:cSld>
  <p:clrMapOvr>
    <a:masterClrMapping/>
  </p:clrMapOvr>
</p:sld>
</file>

<file path=ppt/slides/slide45.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82876" y="417501"/>
            <a:ext cx="18122248" cy="1749425"/>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Usability goals - Learnability </a:t>
            </a:r>
          </a:p>
          <a:p>
            <a:pPr algn="ctr">
              <a:lnSpc>
                <a:spcPts val="7000"/>
              </a:lnSpc>
            </a:pPr>
            <a:r>
              <a:rPr lang="en-US" sz="5000" b="true">
                <a:solidFill>
                  <a:srgbClr val="FFFFFF"/>
                </a:solidFill>
                <a:latin typeface="Canva Sans Bold"/>
                <a:ea typeface="Canva Sans Bold"/>
                <a:cs typeface="Canva Sans Bold"/>
                <a:sym typeface="Canva Sans Bold"/>
              </a:rPr>
              <a:t>(Mục tiêu tính khả dụng - Tính dễ học)</a:t>
            </a:r>
          </a:p>
        </p:txBody>
      </p:sp>
      <p:sp>
        <p:nvSpPr>
          <p:cNvPr name="TextBox 3" id="3"/>
          <p:cNvSpPr txBox="true"/>
          <p:nvPr/>
        </p:nvSpPr>
        <p:spPr>
          <a:xfrm rot="0">
            <a:off x="2231760" y="2900857"/>
            <a:ext cx="13824481" cy="1900340"/>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Hướng dẫn sử dụng và hướng dẫn đầy đủ</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Dễ dàng và nhanh chóng học</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Quy tắc mười phút </a:t>
            </a:r>
          </a:p>
        </p:txBody>
      </p:sp>
    </p:spTree>
  </p:cSld>
  <p:clrMapOvr>
    <a:masterClrMapping/>
  </p:clrMapOvr>
</p:sld>
</file>

<file path=ppt/slides/slide46.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82876" y="417501"/>
            <a:ext cx="18122248" cy="1749425"/>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Usability goals - Memorability</a:t>
            </a:r>
          </a:p>
          <a:p>
            <a:pPr algn="ctr">
              <a:lnSpc>
                <a:spcPts val="7000"/>
              </a:lnSpc>
            </a:pPr>
            <a:r>
              <a:rPr lang="en-US" sz="5000" b="true">
                <a:solidFill>
                  <a:srgbClr val="FFFFFF"/>
                </a:solidFill>
                <a:latin typeface="Canva Sans Bold"/>
                <a:ea typeface="Canva Sans Bold"/>
                <a:cs typeface="Canva Sans Bold"/>
                <a:sym typeface="Canva Sans Bold"/>
              </a:rPr>
              <a:t>(Mục tiêu tính khả dụng - Tính dễ nhớ)</a:t>
            </a:r>
          </a:p>
        </p:txBody>
      </p:sp>
      <p:sp>
        <p:nvSpPr>
          <p:cNvPr name="TextBox 3" id="3"/>
          <p:cNvSpPr txBox="true"/>
          <p:nvPr/>
        </p:nvSpPr>
        <p:spPr>
          <a:xfrm rot="0">
            <a:off x="2231760" y="2900857"/>
            <a:ext cx="13824481" cy="1900340"/>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Mức độ dễ dàng để nhớ các quy trình của hệ thống</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Nên tuân thủ các quy ước</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Gợi ý cho các chức năng ít được sử dụng</a:t>
            </a:r>
          </a:p>
        </p:txBody>
      </p:sp>
    </p:spTree>
  </p:cSld>
  <p:clrMapOvr>
    <a:masterClrMapping/>
  </p:clrMapOvr>
</p:sld>
</file>

<file path=ppt/slides/slide47.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82876" y="417501"/>
            <a:ext cx="18122248" cy="263525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Usability goals - Satisfaction - User experience goals</a:t>
            </a:r>
          </a:p>
          <a:p>
            <a:pPr algn="ctr">
              <a:lnSpc>
                <a:spcPts val="7000"/>
              </a:lnSpc>
            </a:pPr>
            <a:r>
              <a:rPr lang="en-US" sz="5000" b="true">
                <a:solidFill>
                  <a:srgbClr val="FFFFFF"/>
                </a:solidFill>
                <a:latin typeface="Canva Sans Bold"/>
                <a:ea typeface="Canva Sans Bold"/>
                <a:cs typeface="Canva Sans Bold"/>
                <a:sym typeface="Canva Sans Bold"/>
              </a:rPr>
              <a:t> (Mục tiêu tính khả dụng - Sự hài lòng - Mục tiêu trải nghiệm người dùng)</a:t>
            </a:r>
          </a:p>
        </p:txBody>
      </p:sp>
      <p:sp>
        <p:nvSpPr>
          <p:cNvPr name="TextBox 3" id="3"/>
          <p:cNvSpPr txBox="true"/>
          <p:nvPr/>
        </p:nvSpPr>
        <p:spPr>
          <a:xfrm rot="0">
            <a:off x="2231760" y="3518007"/>
            <a:ext cx="13824481" cy="3184310"/>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Thiết kế ảnh hưởng đến cảm xúc của người dùng</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Ít được định nghĩa rõ ràng → khó đánh giá</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Ví dụ:Vui vẻ; Thú vị; Hài lòng; Tạo động lực; Sáng tạo</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Buồn tẻ; Khó chịu; Bực bội</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Có thể trở thành lợi thế chính trong thiết kế</a:t>
            </a:r>
          </a:p>
        </p:txBody>
      </p:sp>
    </p:spTree>
  </p:cSld>
  <p:clrMapOvr>
    <a:masterClrMapping/>
  </p:clrMapOvr>
</p:sld>
</file>

<file path=ppt/slides/slide48.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Donald A. Norman: Principles of Design</a:t>
            </a:r>
          </a:p>
        </p:txBody>
      </p:sp>
      <p:sp>
        <p:nvSpPr>
          <p:cNvPr name="TextBox 3" id="3"/>
          <p:cNvSpPr txBox="true"/>
          <p:nvPr/>
        </p:nvSpPr>
        <p:spPr>
          <a:xfrm rot="0">
            <a:off x="2231760" y="3197015"/>
            <a:ext cx="13824481" cy="3826295"/>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Tính hiển thị (Visibility)</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Khả năng gợi ý hành động (Affordance)</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Ràng buộc (Constraint)</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Ánh xạ (Mapping)</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Phản hồi (Feedback)</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Tính nhất quán (Consistency)</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1876189" y="2636033"/>
            <a:ext cx="14784513" cy="6560627"/>
          </a:xfrm>
          <a:custGeom>
            <a:avLst/>
            <a:gdLst/>
            <a:ahLst/>
            <a:cxnLst/>
            <a:rect r="r" b="b" t="t" l="l"/>
            <a:pathLst>
              <a:path h="6560627" w="14784513">
                <a:moveTo>
                  <a:pt x="0" y="0"/>
                </a:moveTo>
                <a:lnTo>
                  <a:pt x="14784513" y="0"/>
                </a:lnTo>
                <a:lnTo>
                  <a:pt x="14784513" y="6560628"/>
                </a:lnTo>
                <a:lnTo>
                  <a:pt x="0" y="6560628"/>
                </a:lnTo>
                <a:lnTo>
                  <a:pt x="0" y="0"/>
                </a:lnTo>
                <a:close/>
              </a:path>
            </a:pathLst>
          </a:custGeom>
          <a:blipFill>
            <a:blip r:embed="rId2"/>
            <a:stretch>
              <a:fillRect l="0" t="0" r="0" b="0"/>
            </a:stretch>
          </a:blipFill>
        </p:spPr>
      </p:sp>
      <p:sp>
        <p:nvSpPr>
          <p:cNvPr name="TextBox 3" id="3"/>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Donald A. Norman: Principles of Design</a:t>
            </a:r>
          </a:p>
        </p:txBody>
      </p:sp>
      <p:sp>
        <p:nvSpPr>
          <p:cNvPr name="TextBox 4" id="4"/>
          <p:cNvSpPr txBox="true"/>
          <p:nvPr/>
        </p:nvSpPr>
        <p:spPr>
          <a:xfrm rot="0">
            <a:off x="1028700" y="1669677"/>
            <a:ext cx="13824481" cy="612560"/>
          </a:xfrm>
          <a:prstGeom prst="rect">
            <a:avLst/>
          </a:prstGeom>
        </p:spPr>
        <p:txBody>
          <a:bodyPr anchor="t" rtlCol="false" tIns="0" lIns="0" bIns="0" rIns="0">
            <a:spAutoFit/>
          </a:bodyPr>
          <a:lstStyle/>
          <a:p>
            <a:pPr algn="just" marL="784463" indent="-392232" lvl="1">
              <a:lnSpc>
                <a:spcPts val="5086"/>
              </a:lnSpc>
              <a:buAutoNum type="arabicPeriod" startAt="1"/>
            </a:pPr>
            <a:r>
              <a:rPr lang="en-US" sz="3633">
                <a:solidFill>
                  <a:srgbClr val="FFFFFF"/>
                </a:solidFill>
                <a:latin typeface="Canva Sans"/>
                <a:ea typeface="Canva Sans"/>
                <a:cs typeface="Canva Sans"/>
                <a:sym typeface="Canva Sans"/>
              </a:rPr>
              <a:t>Visibility: VD tốt</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3583583" y="2929484"/>
            <a:ext cx="11120833" cy="5560417"/>
          </a:xfrm>
          <a:custGeom>
            <a:avLst/>
            <a:gdLst/>
            <a:ahLst/>
            <a:cxnLst/>
            <a:rect r="r" b="b" t="t" l="l"/>
            <a:pathLst>
              <a:path h="5560417" w="11120833">
                <a:moveTo>
                  <a:pt x="0" y="0"/>
                </a:moveTo>
                <a:lnTo>
                  <a:pt x="11120834" y="0"/>
                </a:lnTo>
                <a:lnTo>
                  <a:pt x="11120834" y="5560416"/>
                </a:lnTo>
                <a:lnTo>
                  <a:pt x="0" y="5560416"/>
                </a:lnTo>
                <a:lnTo>
                  <a:pt x="0" y="0"/>
                </a:lnTo>
                <a:close/>
              </a:path>
            </a:pathLst>
          </a:custGeom>
          <a:blipFill>
            <a:blip r:embed="rId2"/>
            <a:stretch>
              <a:fillRect l="0" t="0" r="0" b="0"/>
            </a:stretch>
          </a:blipFill>
        </p:spPr>
      </p:sp>
      <p:sp>
        <p:nvSpPr>
          <p:cNvPr name="TextBox 3" id="3"/>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Donald A. Norman: Principles of Design</a:t>
            </a:r>
          </a:p>
        </p:txBody>
      </p:sp>
      <p:sp>
        <p:nvSpPr>
          <p:cNvPr name="TextBox 4" id="4"/>
          <p:cNvSpPr txBox="true"/>
          <p:nvPr/>
        </p:nvSpPr>
        <p:spPr>
          <a:xfrm rot="0">
            <a:off x="1028700" y="1669677"/>
            <a:ext cx="13824481" cy="612560"/>
          </a:xfrm>
          <a:prstGeom prst="rect">
            <a:avLst/>
          </a:prstGeom>
        </p:spPr>
        <p:txBody>
          <a:bodyPr anchor="t" rtlCol="false" tIns="0" lIns="0" bIns="0" rIns="0">
            <a:spAutoFit/>
          </a:bodyPr>
          <a:lstStyle/>
          <a:p>
            <a:pPr algn="just" marL="784463" indent="-392232" lvl="1">
              <a:lnSpc>
                <a:spcPts val="5086"/>
              </a:lnSpc>
              <a:buAutoNum type="arabicPeriod" startAt="1"/>
            </a:pPr>
            <a:r>
              <a:rPr lang="en-US" sz="3633">
                <a:solidFill>
                  <a:srgbClr val="FFFFFF"/>
                </a:solidFill>
                <a:latin typeface="Canva Sans"/>
                <a:ea typeface="Canva Sans"/>
                <a:cs typeface="Canva Sans"/>
                <a:sym typeface="Canva Sans"/>
              </a:rPr>
              <a:t>Affordance: VD kém </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2259175" y="3033252"/>
            <a:ext cx="13298534" cy="5387225"/>
          </a:xfrm>
          <a:custGeom>
            <a:avLst/>
            <a:gdLst/>
            <a:ahLst/>
            <a:cxnLst/>
            <a:rect r="r" b="b" t="t" l="l"/>
            <a:pathLst>
              <a:path h="5387225" w="13298534">
                <a:moveTo>
                  <a:pt x="0" y="0"/>
                </a:moveTo>
                <a:lnTo>
                  <a:pt x="13298533" y="0"/>
                </a:lnTo>
                <a:lnTo>
                  <a:pt x="13298533" y="5387225"/>
                </a:lnTo>
                <a:lnTo>
                  <a:pt x="0" y="5387225"/>
                </a:lnTo>
                <a:lnTo>
                  <a:pt x="0" y="0"/>
                </a:lnTo>
                <a:close/>
              </a:path>
            </a:pathLst>
          </a:custGeom>
          <a:blipFill>
            <a:blip r:embed="rId2"/>
            <a:stretch>
              <a:fillRect l="0" t="0" r="0" b="0"/>
            </a:stretch>
          </a:blipFill>
        </p:spPr>
      </p:sp>
      <p:sp>
        <p:nvSpPr>
          <p:cNvPr name="TextBox 3" id="3"/>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Donald A. Norman: Principles of Design</a:t>
            </a:r>
          </a:p>
        </p:txBody>
      </p:sp>
      <p:sp>
        <p:nvSpPr>
          <p:cNvPr name="TextBox 4" id="4"/>
          <p:cNvSpPr txBox="true"/>
          <p:nvPr/>
        </p:nvSpPr>
        <p:spPr>
          <a:xfrm rot="0">
            <a:off x="1028700" y="1669677"/>
            <a:ext cx="13824481" cy="612560"/>
          </a:xfrm>
          <a:prstGeom prst="rect">
            <a:avLst/>
          </a:prstGeom>
        </p:spPr>
        <p:txBody>
          <a:bodyPr anchor="t" rtlCol="false" tIns="0" lIns="0" bIns="0" rIns="0">
            <a:spAutoFit/>
          </a:bodyPr>
          <a:lstStyle/>
          <a:p>
            <a:pPr algn="just">
              <a:lnSpc>
                <a:spcPts val="5086"/>
              </a:lnSpc>
            </a:pPr>
            <a:r>
              <a:rPr lang="en-US" sz="3633">
                <a:solidFill>
                  <a:srgbClr val="FFFFFF"/>
                </a:solidFill>
                <a:latin typeface="Canva Sans"/>
                <a:ea typeface="Canva Sans"/>
                <a:cs typeface="Canva Sans"/>
                <a:sym typeface="Canva Sans"/>
              </a:rPr>
              <a:t>3. Constraint : vd tốt</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2032435" y="2606087"/>
            <a:ext cx="14223129" cy="6827102"/>
          </a:xfrm>
          <a:custGeom>
            <a:avLst/>
            <a:gdLst/>
            <a:ahLst/>
            <a:cxnLst/>
            <a:rect r="r" b="b" t="t" l="l"/>
            <a:pathLst>
              <a:path h="6827102" w="14223129">
                <a:moveTo>
                  <a:pt x="0" y="0"/>
                </a:moveTo>
                <a:lnTo>
                  <a:pt x="14223130" y="0"/>
                </a:lnTo>
                <a:lnTo>
                  <a:pt x="14223130" y="6827102"/>
                </a:lnTo>
                <a:lnTo>
                  <a:pt x="0" y="6827102"/>
                </a:lnTo>
                <a:lnTo>
                  <a:pt x="0" y="0"/>
                </a:lnTo>
                <a:close/>
              </a:path>
            </a:pathLst>
          </a:custGeom>
          <a:blipFill>
            <a:blip r:embed="rId2"/>
            <a:stretch>
              <a:fillRect l="0" t="0" r="0" b="0"/>
            </a:stretch>
          </a:blipFill>
        </p:spPr>
      </p:sp>
      <p:sp>
        <p:nvSpPr>
          <p:cNvPr name="TextBox 3" id="3"/>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Donald A. Norman: Principles of Design</a:t>
            </a:r>
          </a:p>
        </p:txBody>
      </p:sp>
      <p:sp>
        <p:nvSpPr>
          <p:cNvPr name="TextBox 4" id="4"/>
          <p:cNvSpPr txBox="true"/>
          <p:nvPr/>
        </p:nvSpPr>
        <p:spPr>
          <a:xfrm rot="0">
            <a:off x="1028700" y="1669677"/>
            <a:ext cx="13824481" cy="612560"/>
          </a:xfrm>
          <a:prstGeom prst="rect">
            <a:avLst/>
          </a:prstGeom>
        </p:spPr>
        <p:txBody>
          <a:bodyPr anchor="t" rtlCol="false" tIns="0" lIns="0" bIns="0" rIns="0">
            <a:spAutoFit/>
          </a:bodyPr>
          <a:lstStyle/>
          <a:p>
            <a:pPr algn="just">
              <a:lnSpc>
                <a:spcPts val="5086"/>
              </a:lnSpc>
            </a:pPr>
            <a:r>
              <a:rPr lang="en-US" sz="3633">
                <a:solidFill>
                  <a:srgbClr val="FFFFFF"/>
                </a:solidFill>
                <a:latin typeface="Canva Sans"/>
                <a:ea typeface="Canva Sans"/>
                <a:cs typeface="Canva Sans"/>
                <a:sym typeface="Canva Sans"/>
              </a:rPr>
              <a:t>4. Mapping: vd tốt</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2896065" y="2606087"/>
            <a:ext cx="12495869" cy="6652213"/>
          </a:xfrm>
          <a:custGeom>
            <a:avLst/>
            <a:gdLst/>
            <a:ahLst/>
            <a:cxnLst/>
            <a:rect r="r" b="b" t="t" l="l"/>
            <a:pathLst>
              <a:path h="6652213" w="12495869">
                <a:moveTo>
                  <a:pt x="0" y="0"/>
                </a:moveTo>
                <a:lnTo>
                  <a:pt x="12495870" y="0"/>
                </a:lnTo>
                <a:lnTo>
                  <a:pt x="12495870" y="6652213"/>
                </a:lnTo>
                <a:lnTo>
                  <a:pt x="0" y="6652213"/>
                </a:lnTo>
                <a:lnTo>
                  <a:pt x="0" y="0"/>
                </a:lnTo>
                <a:close/>
              </a:path>
            </a:pathLst>
          </a:custGeom>
          <a:blipFill>
            <a:blip r:embed="rId2"/>
            <a:stretch>
              <a:fillRect l="0" t="0" r="0" b="0"/>
            </a:stretch>
          </a:blipFill>
        </p:spPr>
      </p:sp>
      <p:sp>
        <p:nvSpPr>
          <p:cNvPr name="TextBox 3" id="3"/>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Donald A. Norman: Principles of Design</a:t>
            </a:r>
          </a:p>
        </p:txBody>
      </p:sp>
      <p:sp>
        <p:nvSpPr>
          <p:cNvPr name="TextBox 4" id="4"/>
          <p:cNvSpPr txBox="true"/>
          <p:nvPr/>
        </p:nvSpPr>
        <p:spPr>
          <a:xfrm rot="0">
            <a:off x="1028700" y="1669677"/>
            <a:ext cx="13824481" cy="612560"/>
          </a:xfrm>
          <a:prstGeom prst="rect">
            <a:avLst/>
          </a:prstGeom>
        </p:spPr>
        <p:txBody>
          <a:bodyPr anchor="t" rtlCol="false" tIns="0" lIns="0" bIns="0" rIns="0">
            <a:spAutoFit/>
          </a:bodyPr>
          <a:lstStyle/>
          <a:p>
            <a:pPr algn="just">
              <a:lnSpc>
                <a:spcPts val="5086"/>
              </a:lnSpc>
            </a:pPr>
            <a:r>
              <a:rPr lang="en-US" sz="3633">
                <a:solidFill>
                  <a:srgbClr val="FFFFFF"/>
                </a:solidFill>
                <a:latin typeface="Canva Sans"/>
                <a:ea typeface="Canva Sans"/>
                <a:cs typeface="Canva Sans"/>
                <a:sym typeface="Canva Sans"/>
              </a:rPr>
              <a:t>5. Feedback: vd tốt</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2881758" y="2282237"/>
            <a:ext cx="12524485" cy="7311168"/>
          </a:xfrm>
          <a:custGeom>
            <a:avLst/>
            <a:gdLst/>
            <a:ahLst/>
            <a:cxnLst/>
            <a:rect r="r" b="b" t="t" l="l"/>
            <a:pathLst>
              <a:path h="7311168" w="12524485">
                <a:moveTo>
                  <a:pt x="0" y="0"/>
                </a:moveTo>
                <a:lnTo>
                  <a:pt x="12524484" y="0"/>
                </a:lnTo>
                <a:lnTo>
                  <a:pt x="12524484" y="7311168"/>
                </a:lnTo>
                <a:lnTo>
                  <a:pt x="0" y="7311168"/>
                </a:lnTo>
                <a:lnTo>
                  <a:pt x="0" y="0"/>
                </a:lnTo>
                <a:close/>
              </a:path>
            </a:pathLst>
          </a:custGeom>
          <a:blipFill>
            <a:blip r:embed="rId2"/>
            <a:stretch>
              <a:fillRect l="0" t="0" r="0" b="0"/>
            </a:stretch>
          </a:blipFill>
        </p:spPr>
      </p:sp>
      <p:sp>
        <p:nvSpPr>
          <p:cNvPr name="TextBox 3" id="3"/>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Donald A. Norman: Principles of Design</a:t>
            </a:r>
          </a:p>
        </p:txBody>
      </p:sp>
      <p:sp>
        <p:nvSpPr>
          <p:cNvPr name="TextBox 4" id="4"/>
          <p:cNvSpPr txBox="true"/>
          <p:nvPr/>
        </p:nvSpPr>
        <p:spPr>
          <a:xfrm rot="0">
            <a:off x="1028700" y="1669677"/>
            <a:ext cx="13824481" cy="612560"/>
          </a:xfrm>
          <a:prstGeom prst="rect">
            <a:avLst/>
          </a:prstGeom>
        </p:spPr>
        <p:txBody>
          <a:bodyPr anchor="t" rtlCol="false" tIns="0" lIns="0" bIns="0" rIns="0">
            <a:spAutoFit/>
          </a:bodyPr>
          <a:lstStyle/>
          <a:p>
            <a:pPr algn="just">
              <a:lnSpc>
                <a:spcPts val="5086"/>
              </a:lnSpc>
            </a:pPr>
            <a:r>
              <a:rPr lang="en-US" sz="3633">
                <a:solidFill>
                  <a:srgbClr val="FFFFFF"/>
                </a:solidFill>
                <a:latin typeface="Canva Sans"/>
                <a:ea typeface="Canva Sans"/>
                <a:cs typeface="Canva Sans"/>
                <a:sym typeface="Canva Sans"/>
              </a:rPr>
              <a:t>6. Consitency: vd kém</a:t>
            </a:r>
          </a:p>
        </p:txBody>
      </p:sp>
    </p:spTree>
  </p:cSld>
  <p:clrMapOvr>
    <a:masterClrMapping/>
  </p:clrMapOvr>
</p:sld>
</file>

<file path=ppt/slides/slide55.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165752" y="544513"/>
            <a:ext cx="18122248"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Shneiderman: 8 Quy tắc Vàng trong Thiết kế Giao diện</a:t>
            </a:r>
          </a:p>
        </p:txBody>
      </p:sp>
      <p:sp>
        <p:nvSpPr>
          <p:cNvPr name="TextBox 3" id="3"/>
          <p:cNvSpPr txBox="true"/>
          <p:nvPr/>
        </p:nvSpPr>
        <p:spPr>
          <a:xfrm rot="0">
            <a:off x="700989" y="1781535"/>
            <a:ext cx="17051775" cy="7662965"/>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Phấn đấu cho tính nhất quán (Strive for consistency)</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Cho phép người dùng thường xuyên sử dụng các phím tắt (Enable frequent users to use shortcuts)</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Cung cấp phản hồi mang tính thông tin (Offer informative feedback)</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Thiết kế các hộp thoại để đạt được sự kết thúc (Design dialogs to yield closure)</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Đề xuất phòng ngừa lỗi và xử lý lỗi đơn giản (Offer error prevention and simple error handling)</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Cho phép dễ dàng đảo ngược các hành động (Permit easy reversal of actions)</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Hỗ trợ kiểm soát nội bộ (Support internal locus of control)</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Giảm tải bộ nhớ ngắn hạn (Reduce short-term memory load)</a:t>
            </a:r>
          </a:p>
        </p:txBody>
      </p:sp>
    </p:spTree>
  </p:cSld>
  <p:clrMapOvr>
    <a:masterClrMapping/>
  </p:clrMapOvr>
</p:sld>
</file>

<file path=ppt/slides/slide56.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165752" y="544513"/>
            <a:ext cx="18122248" cy="1749425"/>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Jakob Nielsen: 10 Nguyên tắc Heuristic </a:t>
            </a:r>
          </a:p>
          <a:p>
            <a:pPr algn="ctr">
              <a:lnSpc>
                <a:spcPts val="7000"/>
              </a:lnSpc>
            </a:pPr>
            <a:r>
              <a:rPr lang="en-US" sz="5000" b="true">
                <a:solidFill>
                  <a:srgbClr val="FFFFFF"/>
                </a:solidFill>
                <a:latin typeface="Canva Sans Bold"/>
                <a:ea typeface="Canva Sans Bold"/>
                <a:cs typeface="Canva Sans Bold"/>
                <a:sym typeface="Canva Sans Bold"/>
              </a:rPr>
              <a:t>về Tính khả dụng</a:t>
            </a:r>
          </a:p>
        </p:txBody>
      </p:sp>
      <p:sp>
        <p:nvSpPr>
          <p:cNvPr name="TextBox 3" id="3"/>
          <p:cNvSpPr txBox="true"/>
          <p:nvPr/>
        </p:nvSpPr>
        <p:spPr>
          <a:xfrm rot="0">
            <a:off x="681939" y="2425430"/>
            <a:ext cx="17051775" cy="7670585"/>
          </a:xfrm>
          <a:prstGeom prst="rect">
            <a:avLst/>
          </a:prstGeom>
        </p:spPr>
        <p:txBody>
          <a:bodyPr anchor="t" rtlCol="false" tIns="0" lIns="0" bIns="0" rIns="0">
            <a:spAutoFit/>
          </a:bodyPr>
          <a:lstStyle/>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Hiển thị trạng thái hệ thống (Visibility of system status)</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Sự phù hợp giữa hệ thống và thế giới thực (Match between system and real world)</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Kiểm soát và tự do của người dùng (User control and freedom)</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Tính nhất quán và các tiêu chuẩn (Consistency and standards)</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Phòng ngừa lỗi (Error Prevention)</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Nhận biết hơn là ghi nhớ (Recognition rather than recall)</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Tính linh hoạt và hiệu quả sử dụng (Flexibility and efficiency of use)</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Thiết kế thẩm mỹ và tối giản (Aesthetic and minimalist design)</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Giúp người dùng nhận biết, chẩn đoán và khắc phục lỗi (Help users recognize, diagnose, and recover from errors)</a:t>
            </a:r>
          </a:p>
          <a:p>
            <a:pPr algn="just" marL="784463" indent="-392232" lvl="1">
              <a:lnSpc>
                <a:spcPts val="5086"/>
              </a:lnSpc>
              <a:buFont typeface="Arial"/>
              <a:buChar char="•"/>
            </a:pPr>
            <a:r>
              <a:rPr lang="en-US" sz="3633">
                <a:solidFill>
                  <a:srgbClr val="FFFFFF"/>
                </a:solidFill>
                <a:latin typeface="Canva Sans"/>
                <a:ea typeface="Canva Sans"/>
                <a:cs typeface="Canva Sans"/>
                <a:sym typeface="Canva Sans"/>
              </a:rPr>
              <a:t>Trợ giúp và tài liệu (Help and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DAGhPCKrvz0</dc:identifier>
  <dcterms:modified xsi:type="dcterms:W3CDTF">2011-08-01T06:04:30Z</dcterms:modified>
  <cp:revision>1</cp:revision>
  <dc:title>chương 03</dc:title>
</cp:coreProperties>
</file>